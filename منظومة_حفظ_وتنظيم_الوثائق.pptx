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317" r:id="rId5"/>
    <p:sldId id="269" r:id="rId6"/>
    <p:sldId id="261" r:id="rId7"/>
    <p:sldId id="262" r:id="rId8"/>
    <p:sldId id="259" r:id="rId9"/>
    <p:sldId id="319" r:id="rId10"/>
    <p:sldId id="260" r:id="rId11"/>
    <p:sldId id="320" r:id="rId12"/>
    <p:sldId id="263" r:id="rId13"/>
    <p:sldId id="270" r:id="rId14"/>
    <p:sldId id="264" r:id="rId15"/>
    <p:sldId id="324" r:id="rId16"/>
    <p:sldId id="321" r:id="rId17"/>
    <p:sldId id="322" r:id="rId18"/>
    <p:sldId id="265" r:id="rId19"/>
    <p:sldId id="266" r:id="rId20"/>
    <p:sldId id="323" r:id="rId21"/>
    <p:sldId id="271" r:id="rId22"/>
    <p:sldId id="272" r:id="rId23"/>
    <p:sldId id="267" r:id="rId24"/>
    <p:sldId id="325" r:id="rId25"/>
    <p:sldId id="273" r:id="rId26"/>
    <p:sldId id="268" r:id="rId27"/>
    <p:sldId id="326" r:id="rId28"/>
    <p:sldId id="274" r:id="rId29"/>
    <p:sldId id="275" r:id="rId30"/>
    <p:sldId id="327" r:id="rId31"/>
    <p:sldId id="276" r:id="rId32"/>
    <p:sldId id="277" r:id="rId33"/>
    <p:sldId id="278" r:id="rId34"/>
    <p:sldId id="279" r:id="rId35"/>
    <p:sldId id="280" r:id="rId36"/>
    <p:sldId id="281" r:id="rId37"/>
    <p:sldId id="282" r:id="rId38"/>
    <p:sldId id="283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292" r:id="rId48"/>
    <p:sldId id="293" r:id="rId49"/>
    <p:sldId id="294" r:id="rId50"/>
    <p:sldId id="295" r:id="rId51"/>
    <p:sldId id="296" r:id="rId52"/>
    <p:sldId id="297" r:id="rId53"/>
    <p:sldId id="298" r:id="rId54"/>
    <p:sldId id="299" r:id="rId55"/>
    <p:sldId id="300" r:id="rId56"/>
    <p:sldId id="301" r:id="rId57"/>
    <p:sldId id="302" r:id="rId58"/>
    <p:sldId id="303" r:id="rId59"/>
    <p:sldId id="304" r:id="rId60"/>
    <p:sldId id="305" r:id="rId61"/>
    <p:sldId id="306" r:id="rId62"/>
    <p:sldId id="307" r:id="rId63"/>
    <p:sldId id="308" r:id="rId64"/>
    <p:sldId id="309" r:id="rId65"/>
    <p:sldId id="310" r:id="rId66"/>
    <p:sldId id="311" r:id="rId67"/>
    <p:sldId id="312" r:id="rId68"/>
    <p:sldId id="313" r:id="rId69"/>
    <p:sldId id="314" r:id="rId70"/>
    <p:sldId id="315" r:id="rId71"/>
    <p:sldId id="316" r:id="rId7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65D"/>
    <a:srgbClr val="0077B6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7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02920"/>
            <a:ext cx="10362895" cy="8233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lang="ar-EG" sz="4000" b="1" u="none" dirty="0">
                <a:solidFill>
                  <a:srgbClr val="002060"/>
                </a:solidFill>
                <a:latin typeface="+mj-lt"/>
                <a:cs typeface="+mj-cs"/>
              </a:rPr>
              <a:t>منظومة حفظ وتنظيم الوثائق</a:t>
            </a:r>
            <a:endParaRPr sz="4000" b="1" u="none" dirty="0">
              <a:solidFill>
                <a:srgbClr val="002060"/>
              </a:solidFill>
              <a:latin typeface="+mj-lt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362895" cy="604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lang="ar-EG" sz="2800" b="0" u="none" dirty="0">
                <a:solidFill>
                  <a:srgbClr val="212121"/>
                </a:solidFill>
              </a:rPr>
              <a:t>برنامج المسار </a:t>
            </a:r>
            <a:r>
              <a:rPr lang="ar-EG" sz="2800" b="0" u="none" dirty="0" err="1">
                <a:solidFill>
                  <a:srgbClr val="212121"/>
                </a:solidFill>
              </a:rPr>
              <a:t>الوظيفى</a:t>
            </a:r>
            <a:endParaRPr sz="2800" b="0" u="none" dirty="0">
              <a:solidFill>
                <a:srgbClr val="21212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2331720"/>
            <a:ext cx="5303520" cy="16002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41247" y="2651760"/>
            <a:ext cx="960120" cy="960120"/>
          </a:xfrm>
          <a:prstGeom prst="ellipse">
            <a:avLst/>
          </a:prstGeom>
          <a:blipFill dpi="0" rotWithShape="1">
            <a:blip r:embed="rId2"/>
            <a:srcRect/>
            <a:stretch>
              <a:fillRect l="-27000"/>
            </a:stretch>
          </a:blip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b="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20239" y="2496312"/>
            <a:ext cx="3840480" cy="8878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0000"/>
              </a:lnSpc>
              <a:defRPr sz="2200" b="0" u="none">
                <a:solidFill>
                  <a:srgbClr val="212121"/>
                </a:solidFill>
                <a:latin typeface="Arial"/>
              </a:defRPr>
            </a:lvl1pPr>
          </a:lstStyle>
          <a:p>
            <a:pPr algn="ctr"/>
            <a:r>
              <a:rPr lang="ar-EG" dirty="0"/>
              <a:t>الشركة القابضة</a:t>
            </a:r>
          </a:p>
          <a:p>
            <a:pPr algn="ctr"/>
            <a:r>
              <a:rPr lang="ar-EG" dirty="0"/>
              <a:t>لمياه الشرب والصرف الصحى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6245352" y="2331720"/>
            <a:ext cx="5303520" cy="16002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46520" y="2651760"/>
            <a:ext cx="960120" cy="960120"/>
          </a:xfrm>
          <a:prstGeom prst="ellipse">
            <a:avLst/>
          </a:prstGeom>
          <a:blipFill>
            <a:blip r:embed="rId3"/>
            <a:stretch>
              <a:fillRect/>
            </a:stretch>
          </a:blip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b="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40878" y="2496312"/>
            <a:ext cx="4325114" cy="887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lang="ar-EG" sz="2200" b="0" u="none" dirty="0">
                <a:solidFill>
                  <a:srgbClr val="212121"/>
                </a:solidFill>
                <a:latin typeface="Arial"/>
              </a:rPr>
              <a:t>شركة مياه الشرب والصرف الصحى </a:t>
            </a:r>
          </a:p>
          <a:p>
            <a:pPr algn="ctr" rtl="1">
              <a:lnSpc>
                <a:spcPct val="120000"/>
              </a:lnSpc>
            </a:pPr>
            <a:r>
              <a:rPr lang="ar-EG" sz="2200" dirty="0">
                <a:solidFill>
                  <a:srgbClr val="212121"/>
                </a:solidFill>
                <a:latin typeface="Arial"/>
              </a:rPr>
              <a:t>بشمال وجنوب سيناء</a:t>
            </a:r>
            <a:endParaRPr sz="2200" b="0" u="none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0080" y="4160520"/>
            <a:ext cx="5303520" cy="16002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41247" y="4480559"/>
            <a:ext cx="960120" cy="960120"/>
          </a:xfrm>
          <a:prstGeom prst="ellipse">
            <a:avLst/>
          </a:prstGeom>
          <a:blipFill dpi="0" rotWithShape="1">
            <a:blip r:embed="rId4"/>
            <a:srcRect/>
            <a:stretch>
              <a:fillRect l="-8000"/>
            </a:stretch>
          </a:blip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b="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20239" y="4325112"/>
            <a:ext cx="3840480" cy="8878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0000"/>
              </a:lnSpc>
              <a:defRPr sz="2200" b="0" u="none">
                <a:solidFill>
                  <a:srgbClr val="212121"/>
                </a:solidFill>
                <a:latin typeface="Arial"/>
              </a:defRPr>
            </a:lvl1pPr>
          </a:lstStyle>
          <a:p>
            <a:r>
              <a:rPr lang="ar-EG" dirty="0"/>
              <a:t>قطاع تنمية الموارد البشرية</a:t>
            </a:r>
          </a:p>
          <a:p>
            <a:r>
              <a:rPr lang="ar-EG" dirty="0"/>
              <a:t>الإدارة العامة للتدريب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245352" y="4160520"/>
            <a:ext cx="5303520" cy="1600200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46520" y="4480559"/>
            <a:ext cx="960120" cy="960120"/>
          </a:xfrm>
          <a:prstGeom prst="ellipse">
            <a:avLst/>
          </a:prstGeom>
          <a:blipFill>
            <a:blip r:embed="rId5"/>
            <a:stretch>
              <a:fillRect l="-27000"/>
            </a:stretch>
          </a:blipFill>
          <a:ln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 sz="1100" b="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25512" y="4325112"/>
            <a:ext cx="3840480" cy="8878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0000"/>
              </a:lnSpc>
              <a:defRPr sz="2200" b="0" u="none">
                <a:solidFill>
                  <a:srgbClr val="212121"/>
                </a:solidFill>
                <a:latin typeface="Arial"/>
              </a:defRPr>
            </a:lvl1pPr>
          </a:lstStyle>
          <a:p>
            <a:pPr algn="ctr"/>
            <a:r>
              <a:rPr lang="ar-EG" dirty="0"/>
              <a:t>عامر </a:t>
            </a:r>
            <a:r>
              <a:rPr lang="ar-EG" dirty="0" err="1"/>
              <a:t>هندى</a:t>
            </a:r>
            <a:endParaRPr lang="ar-EG" dirty="0"/>
          </a:p>
          <a:p>
            <a:pPr algn="ctr"/>
            <a:r>
              <a:rPr lang="ar-EG" dirty="0"/>
              <a:t>مدرب معتمد</a:t>
            </a: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23909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983491-2057-2F1C-6EA0-7A480A0956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580" y="64008"/>
            <a:ext cx="6849036" cy="68490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20242F-B8B0-3461-A929-ED2916DA4861}"/>
              </a:ext>
            </a:extLst>
          </p:cNvPr>
          <p:cNvSpPr txBox="1"/>
          <p:nvPr/>
        </p:nvSpPr>
        <p:spPr>
          <a:xfrm>
            <a:off x="4386019" y="2987648"/>
            <a:ext cx="25572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EG" sz="4000" dirty="0"/>
              <a:t>اهلا بكم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التعريف</a:t>
            </a:r>
            <a:r>
              <a:rPr dirty="0"/>
              <a:t> </a:t>
            </a:r>
            <a:r>
              <a:rPr dirty="0" err="1"/>
              <a:t>بالمدرب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1727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lang="ar-EG" sz="2000" b="0" u="none" dirty="0">
                <a:solidFill>
                  <a:srgbClr val="212121"/>
                </a:solidFill>
                <a:latin typeface="Arial"/>
              </a:rPr>
              <a:t>•  الاسم: عامر </a:t>
            </a:r>
            <a:r>
              <a:rPr lang="ar-EG" sz="2000" b="0" u="none" dirty="0" err="1">
                <a:solidFill>
                  <a:srgbClr val="212121"/>
                </a:solidFill>
                <a:latin typeface="Arial"/>
              </a:rPr>
              <a:t>هندى</a:t>
            </a:r>
            <a:endParaRPr lang="ar-EG" sz="2000" b="0" u="none" dirty="0">
              <a:solidFill>
                <a:srgbClr val="212121"/>
              </a:solidFill>
              <a:latin typeface="Arial"/>
            </a:endParaRPr>
          </a:p>
          <a:p>
            <a:pPr algn="r" rtl="1">
              <a:lnSpc>
                <a:spcPct val="135000"/>
              </a:lnSpc>
            </a:pPr>
            <a:r>
              <a:rPr lang="ar-EG" sz="2000" b="0" u="none" dirty="0">
                <a:solidFill>
                  <a:srgbClr val="212121"/>
                </a:solidFill>
                <a:latin typeface="Arial"/>
              </a:rPr>
              <a:t>•  الخبرات التدريبية: [ سنوات الخبرة والمجال ]</a:t>
            </a:r>
          </a:p>
          <a:p>
            <a:pPr algn="r" rtl="1">
              <a:lnSpc>
                <a:spcPct val="135000"/>
              </a:lnSpc>
            </a:pPr>
            <a:r>
              <a:rPr lang="ar-EG" sz="2000" b="0" u="none" dirty="0">
                <a:solidFill>
                  <a:srgbClr val="212121"/>
                </a:solidFill>
                <a:latin typeface="Arial"/>
              </a:rPr>
              <a:t>•  الشهادات المهنية: [ الشهادات والاعتمادات ]</a:t>
            </a:r>
          </a:p>
          <a:p>
            <a:pPr algn="r" rtl="1">
              <a:lnSpc>
                <a:spcPct val="135000"/>
              </a:lnSpc>
            </a:pPr>
            <a:r>
              <a:rPr lang="ar-EG" sz="2000" b="0" u="none" dirty="0">
                <a:solidFill>
                  <a:srgbClr val="212121"/>
                </a:solidFill>
                <a:latin typeface="Arial"/>
              </a:rPr>
              <a:t>•  بيانات التواصل: [ البريد الإلكتروني / الهاتف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4E026-220F-4DBA-F7DE-790D38059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60337-ACF2-8FFF-D131-F5EAFA13E2FE}"/>
              </a:ext>
            </a:extLst>
          </p:cNvPr>
          <p:cNvSpPr txBox="1"/>
          <p:nvPr/>
        </p:nvSpPr>
        <p:spPr>
          <a:xfrm>
            <a:off x="457200" y="320040"/>
            <a:ext cx="11277295" cy="640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EG" sz="3000" b="1" u="none" dirty="0">
                <a:solidFill>
                  <a:srgbClr val="002060"/>
                </a:solidFill>
                <a:latin typeface="Arial"/>
                <a:cs typeface="+mj-cs"/>
              </a:rPr>
              <a:t>قواعد العمل بالقاعة</a:t>
            </a:r>
            <a:endParaRPr sz="3000" b="1" u="none" dirty="0">
              <a:solidFill>
                <a:srgbClr val="002060"/>
              </a:solidFill>
              <a:latin typeface="Arial"/>
              <a:cs typeface="+mj-cs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C895D04-205F-C8DE-2525-2D32B08BD11D}"/>
              </a:ext>
            </a:extLst>
          </p:cNvPr>
          <p:cNvSpPr/>
          <p:nvPr/>
        </p:nvSpPr>
        <p:spPr>
          <a:xfrm>
            <a:off x="914401" y="960408"/>
            <a:ext cx="10693830" cy="5580108"/>
          </a:xfrm>
          <a:prstGeom prst="roundRect">
            <a:avLst>
              <a:gd name="adj" fmla="val 23909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9CCEC-1CB4-F603-4292-4619C7BC73EB}"/>
              </a:ext>
            </a:extLst>
          </p:cNvPr>
          <p:cNvSpPr txBox="1"/>
          <p:nvPr/>
        </p:nvSpPr>
        <p:spPr>
          <a:xfrm>
            <a:off x="3299977" y="1218562"/>
            <a:ext cx="68727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ar-EG" b="1" dirty="0"/>
              <a:t>الهاتف المحمول</a:t>
            </a:r>
          </a:p>
          <a:p>
            <a:pPr algn="just" rtl="1"/>
            <a:r>
              <a:rPr lang="ar-EG" sz="2000" dirty="0">
                <a:solidFill>
                  <a:srgbClr val="212121"/>
                </a:solidFill>
                <a:latin typeface="Arial"/>
              </a:rPr>
              <a:t>يرجى ضبط الهواتف على الوضع الصامت لضمان عدم المقاطعة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4E121B-C7A9-C26A-296F-01E031E84B95}"/>
              </a:ext>
            </a:extLst>
          </p:cNvPr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34B572-E9C5-4564-1CD4-F70A3AAADECC}"/>
              </a:ext>
            </a:extLst>
          </p:cNvPr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EE6E60-D7FF-9E16-F62F-98C02F5D8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0" y="871316"/>
            <a:ext cx="1371600" cy="1371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8441EF-5146-3F63-FB80-35470D116628}"/>
              </a:ext>
            </a:extLst>
          </p:cNvPr>
          <p:cNvSpPr txBox="1"/>
          <p:nvPr/>
        </p:nvSpPr>
        <p:spPr>
          <a:xfrm>
            <a:off x="2226560" y="5462733"/>
            <a:ext cx="733589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ar-EG" b="1" dirty="0"/>
              <a:t>تقبل الاختلاف</a:t>
            </a:r>
          </a:p>
          <a:p>
            <a:pPr algn="just" rtl="1"/>
            <a:r>
              <a:rPr lang="ar-EG" sz="2000" dirty="0">
                <a:solidFill>
                  <a:srgbClr val="212121"/>
                </a:solidFill>
                <a:latin typeface="Arial"/>
              </a:rPr>
              <a:t>التركيز على الأفكار وليس الأشخاص، والاختلاف في الرأي يثرى النقاش</a:t>
            </a:r>
            <a:endParaRPr sz="2000" b="0" u="none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BDD911-10D5-F6F8-F172-885B03FB3AA5}"/>
              </a:ext>
            </a:extLst>
          </p:cNvPr>
          <p:cNvSpPr txBox="1"/>
          <p:nvPr/>
        </p:nvSpPr>
        <p:spPr>
          <a:xfrm>
            <a:off x="1703649" y="2160045"/>
            <a:ext cx="687272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ar-EG" b="1" dirty="0"/>
              <a:t>المشاركة والتفاعل</a:t>
            </a:r>
          </a:p>
          <a:p>
            <a:pPr algn="just" rtl="1"/>
            <a:r>
              <a:rPr lang="ar-EG" sz="2000" dirty="0">
                <a:solidFill>
                  <a:srgbClr val="212121"/>
                </a:solidFill>
                <a:latin typeface="Arial"/>
              </a:rPr>
              <a:t>نرحب بجميع الآراء والأسئلة، والمشاركة الفعالة تصنع الفارق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015A33-58B7-1C00-1BA4-88DD024E2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074" y="2113903"/>
            <a:ext cx="1109115" cy="1109115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97E4E04-3261-27C1-FF95-E1FE10DB2F46}"/>
              </a:ext>
            </a:extLst>
          </p:cNvPr>
          <p:cNvSpPr txBox="1"/>
          <p:nvPr/>
        </p:nvSpPr>
        <p:spPr>
          <a:xfrm>
            <a:off x="3299976" y="3093185"/>
            <a:ext cx="6872723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ar-EG" b="1" dirty="0"/>
              <a:t>الالتزام بالوقت:</a:t>
            </a:r>
            <a:endParaRPr lang="en-US" sz="2000" dirty="0"/>
          </a:p>
          <a:p>
            <a:pPr algn="just" rtl="1"/>
            <a:r>
              <a:rPr lang="ar-EG" sz="2000" dirty="0"/>
              <a:t>يرجى الالتزام بالتوقيتات في الأنشطة والاسئلة وأوقات الراحة وبداية ونهاية الجلسات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1D219FC-887A-0AA0-9CDD-588DBCE1DA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0" y="2894606"/>
            <a:ext cx="1085222" cy="108522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FBD5526-BACD-283E-5788-B6E0BCE9E999}"/>
              </a:ext>
            </a:extLst>
          </p:cNvPr>
          <p:cNvSpPr txBox="1"/>
          <p:nvPr/>
        </p:nvSpPr>
        <p:spPr>
          <a:xfrm>
            <a:off x="2572224" y="4182696"/>
            <a:ext cx="650918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ar-EG" b="1" dirty="0"/>
              <a:t>الانصات المتبادل</a:t>
            </a:r>
          </a:p>
          <a:p>
            <a:pPr algn="just" rtl="1"/>
            <a:r>
              <a:rPr lang="ar-EG" sz="2000" b="0" u="none" dirty="0">
                <a:solidFill>
                  <a:srgbClr val="212121"/>
                </a:solidFill>
                <a:latin typeface="Arial"/>
              </a:rPr>
              <a:t>شخص واحد يتحدث كل مرة</a:t>
            </a:r>
            <a:r>
              <a:rPr lang="ar-EG" sz="2000" dirty="0">
                <a:solidFill>
                  <a:srgbClr val="212121"/>
                </a:solidFill>
                <a:latin typeface="Arial"/>
              </a:rPr>
              <a:t>، ونستمع لبعضنا البعض باحترام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05CF7AC-7AAE-B594-6F60-B33BC0197A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143" y="3713114"/>
            <a:ext cx="1419081" cy="1419081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2D29FE8-4989-5838-AE9A-4766F3988149}"/>
              </a:ext>
            </a:extLst>
          </p:cNvPr>
          <p:cNvSpPr txBox="1"/>
          <p:nvPr/>
        </p:nvSpPr>
        <p:spPr>
          <a:xfrm>
            <a:off x="4166135" y="4763793"/>
            <a:ext cx="600656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/>
            <a:r>
              <a:rPr lang="ar-EG" b="1" dirty="0"/>
              <a:t>احترام الخصوصية</a:t>
            </a:r>
          </a:p>
          <a:p>
            <a:pPr algn="just" rtl="1"/>
            <a:r>
              <a:rPr lang="ar-EG" sz="2000" dirty="0" err="1">
                <a:solidFill>
                  <a:srgbClr val="212121"/>
                </a:solidFill>
                <a:latin typeface="Arial"/>
              </a:rPr>
              <a:t>مايقال</a:t>
            </a:r>
            <a:r>
              <a:rPr lang="ar-EG" sz="2000" dirty="0">
                <a:solidFill>
                  <a:srgbClr val="212121"/>
                </a:solidFill>
                <a:latin typeface="Arial"/>
              </a:rPr>
              <a:t> في القاعة يبقى في القاعة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DD032D9-CAA2-552D-E99A-A848163CB4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12458" y="4569617"/>
            <a:ext cx="1005705" cy="100570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C99FB16-A98E-4DCD-2D27-B29E435BB0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479" y="5118879"/>
            <a:ext cx="1419081" cy="141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350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6405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lang="ar-EG" dirty="0"/>
              <a:t>نشاط </a:t>
            </a:r>
            <a:r>
              <a:rPr lang="ar-EG" dirty="0" err="1"/>
              <a:t>تدريبى</a:t>
            </a:r>
            <a:r>
              <a:rPr lang="ar-EG" dirty="0"/>
              <a:t> رقم (1): جولة تعارف وتحديد التوقعات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38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lang="ar-EG" sz="1600" b="1" u="none" dirty="0">
                <a:solidFill>
                  <a:srgbClr val="C00000"/>
                </a:solidFill>
                <a:latin typeface="Arial"/>
              </a:rPr>
              <a:t>الوقت : 10 دقائق</a:t>
            </a:r>
            <a:endParaRPr sz="1600" b="1" u="none" dirty="0">
              <a:solidFill>
                <a:srgbClr val="C00000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366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lang="ar-EG" sz="1500" b="1" u="none" dirty="0">
                <a:solidFill>
                  <a:srgbClr val="002060"/>
                </a:solidFill>
                <a:latin typeface="Arial"/>
              </a:rPr>
              <a:t>النوع: عصف </a:t>
            </a:r>
            <a:r>
              <a:rPr lang="ar-EG" sz="1500" b="1" u="none" dirty="0" err="1">
                <a:solidFill>
                  <a:srgbClr val="002060"/>
                </a:solidFill>
                <a:latin typeface="Arial"/>
              </a:rPr>
              <a:t>ذهنى</a:t>
            </a:r>
            <a:endParaRPr sz="1500" b="1" u="none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2111950"/>
            <a:ext cx="9722815" cy="375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lang="ar-EG" sz="1600" dirty="0">
                <a:solidFill>
                  <a:srgbClr val="212121"/>
                </a:solidFill>
                <a:latin typeface="Arial"/>
              </a:rPr>
              <a:t>الهدف من النشاط: كسر الجليد بين المتدربين وتحديد توقعاتهم من البرنامج</a:t>
            </a:r>
            <a:endParaRPr sz="1600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402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EG" sz="1700" b="1" u="sng" dirty="0">
                <a:solidFill>
                  <a:srgbClr val="002060"/>
                </a:solidFill>
                <a:latin typeface="Arial"/>
              </a:rPr>
              <a:t>تعليمات وإجراءات التنفيذ:</a:t>
            </a:r>
            <a:endParaRPr sz="1700" b="1" u="sng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 dirty="0">
                <a:solidFill>
                  <a:srgbClr val="212121"/>
                </a:solidFill>
                <a:latin typeface="Arial"/>
              </a:rPr>
              <a:t>• 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تقسيم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المتدربين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إلى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مجموعات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ثنائية</a:t>
            </a:r>
            <a:endParaRPr sz="1600" b="0" u="none" dirty="0">
              <a:solidFill>
                <a:srgbClr val="212121"/>
              </a:solidFill>
              <a:latin typeface="Arial"/>
            </a:endParaRPr>
          </a:p>
          <a:p>
            <a:pPr algn="r" rtl="1">
              <a:lnSpc>
                <a:spcPct val="135000"/>
              </a:lnSpc>
            </a:pPr>
            <a:r>
              <a:rPr sz="1600" b="0" u="none" dirty="0">
                <a:solidFill>
                  <a:srgbClr val="212121"/>
                </a:solidFill>
                <a:latin typeface="Arial"/>
              </a:rPr>
              <a:t>• 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تبادل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التعارف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السريع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بين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كل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زوجين</a:t>
            </a:r>
            <a:endParaRPr sz="1600" b="0" u="none" dirty="0">
              <a:solidFill>
                <a:srgbClr val="212121"/>
              </a:solidFill>
              <a:latin typeface="Arial"/>
            </a:endParaRPr>
          </a:p>
          <a:p>
            <a:pPr algn="r" rtl="1">
              <a:lnSpc>
                <a:spcPct val="135000"/>
              </a:lnSpc>
            </a:pPr>
            <a:r>
              <a:rPr sz="1600" b="0" u="none" dirty="0">
                <a:solidFill>
                  <a:srgbClr val="212121"/>
                </a:solidFill>
                <a:latin typeface="Arial"/>
              </a:rPr>
              <a:t>• 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مشاركة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كل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متدرب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بتوقع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واحد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من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البرنامج</a:t>
            </a:r>
            <a:endParaRPr sz="1600" b="0" u="none" dirty="0">
              <a:solidFill>
                <a:srgbClr val="212121"/>
              </a:solidFill>
              <a:latin typeface="Arial"/>
            </a:endParaRPr>
          </a:p>
          <a:p>
            <a:pPr algn="r" rtl="1">
              <a:lnSpc>
                <a:spcPct val="135000"/>
              </a:lnSpc>
            </a:pPr>
            <a:r>
              <a:rPr sz="1600" b="0" u="none" dirty="0">
                <a:solidFill>
                  <a:srgbClr val="212121"/>
                </a:solidFill>
                <a:latin typeface="Arial"/>
              </a:rPr>
              <a:t>• 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تدوين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المدرب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لأهم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التوقعات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على</a:t>
            </a:r>
            <a:r>
              <a:rPr sz="16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1600" b="0" u="none" dirty="0" err="1">
                <a:solidFill>
                  <a:srgbClr val="212121"/>
                </a:solidFill>
                <a:latin typeface="Arial"/>
              </a:rPr>
              <a:t>السبورة</a:t>
            </a:r>
            <a:endParaRPr sz="1600" b="0" u="none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109290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64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EG" sz="3000" b="1" u="none" dirty="0">
                <a:solidFill>
                  <a:srgbClr val="002060"/>
                </a:solidFill>
                <a:latin typeface="Cairo Black (Headings)"/>
                <a:cs typeface="+mj-cs"/>
              </a:rPr>
              <a:t>الأهداف العامة للبرنامج </a:t>
            </a:r>
            <a:r>
              <a:rPr lang="ar-EG" sz="3000" b="1" u="none" dirty="0" err="1">
                <a:solidFill>
                  <a:srgbClr val="002060"/>
                </a:solidFill>
                <a:latin typeface="Cairo Black (Headings)"/>
                <a:cs typeface="+mj-cs"/>
              </a:rPr>
              <a:t>التدريبى</a:t>
            </a:r>
            <a:endParaRPr sz="3000" b="1" u="none" dirty="0">
              <a:solidFill>
                <a:srgbClr val="002060"/>
              </a:solidFill>
              <a:latin typeface="Cairo Black (Headings)"/>
              <a:cs typeface="+mj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255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400" b="0" u="none" dirty="0">
                <a:solidFill>
                  <a:srgbClr val="002060"/>
                </a:solidFill>
                <a:latin typeface="Arial"/>
              </a:rPr>
              <a:t>إكساب المتدرب مهارات تنظيم الوثائق بكفاءة</a:t>
            </a:r>
          </a:p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002060"/>
                </a:solidFill>
                <a:latin typeface="Arial"/>
              </a:rPr>
              <a:t>فهم مفاهيم المحفوظات والتمييز بين أنواعها</a:t>
            </a:r>
          </a:p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400" b="0" u="none" dirty="0">
                <a:solidFill>
                  <a:srgbClr val="002060"/>
                </a:solidFill>
                <a:latin typeface="Arial"/>
              </a:rPr>
              <a:t>إتقان أسس وطرق التصنيف المختلفة</a:t>
            </a:r>
          </a:p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002060"/>
                </a:solidFill>
                <a:latin typeface="Arial"/>
              </a:rPr>
              <a:t>التمكن من أشكال الترقيم المتعددة</a:t>
            </a:r>
          </a:p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400" b="0" u="none" dirty="0">
                <a:solidFill>
                  <a:srgbClr val="002060"/>
                </a:solidFill>
                <a:latin typeface="Arial"/>
              </a:rPr>
              <a:t>التمكن من إعداد الفهارس بأشكالها المختلفة</a:t>
            </a:r>
            <a:endParaRPr sz="2400" b="0" u="none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6405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Cairo Black (Headings)"/>
                <a:cs typeface="+mj-cs"/>
              </a:defRPr>
            </a:lvl1pPr>
          </a:lstStyle>
          <a:p>
            <a:r>
              <a:rPr lang="ar-EG" dirty="0"/>
              <a:t>بنهاية البرنامج سيكون المتدرب قادرًا على: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2962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800" b="0" u="none" dirty="0">
                <a:solidFill>
                  <a:srgbClr val="212121"/>
                </a:solidFill>
                <a:latin typeface="Arial"/>
              </a:rPr>
              <a:t>تعريف المحفوظات وتمييز أنواعها الثلاثة</a:t>
            </a:r>
          </a:p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800" dirty="0">
                <a:solidFill>
                  <a:srgbClr val="212121"/>
                </a:solidFill>
                <a:latin typeface="Arial"/>
              </a:rPr>
              <a:t>تحديد الأساس السليم لتصنيف الوثائق</a:t>
            </a:r>
          </a:p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800" b="0" u="none" dirty="0">
                <a:solidFill>
                  <a:srgbClr val="212121"/>
                </a:solidFill>
                <a:latin typeface="Arial"/>
              </a:rPr>
              <a:t>تطبيق نظام ترقيم مناسب لطبيعة عمله</a:t>
            </a:r>
          </a:p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800" dirty="0">
                <a:solidFill>
                  <a:srgbClr val="212121"/>
                </a:solidFill>
                <a:latin typeface="Arial"/>
              </a:rPr>
              <a:t>التفريق بين أشكال الفهارس المختلفة</a:t>
            </a:r>
          </a:p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800" b="0" u="none" dirty="0">
                <a:solidFill>
                  <a:srgbClr val="212121"/>
                </a:solidFill>
                <a:latin typeface="Arial"/>
              </a:rPr>
              <a:t>إعداد بطاقة فهرسة كاملة وصحيحة البيانات</a:t>
            </a:r>
            <a:endParaRPr sz="2800" b="0" u="none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64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 u="none">
                <a:solidFill>
                  <a:srgbClr val="002060"/>
                </a:solidFill>
                <a:latin typeface="Arial"/>
                <a:cs typeface="+mj-cs"/>
              </a:rPr>
              <a:t>أجندة البرنامج - اليوم الأول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83C375-32C4-A9E5-F504-206C23672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69730"/>
              </p:ext>
            </p:extLst>
          </p:nvPr>
        </p:nvGraphicFramePr>
        <p:xfrm>
          <a:off x="286495" y="960600"/>
          <a:ext cx="11448000" cy="5544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890585706"/>
                    </a:ext>
                  </a:extLst>
                </a:gridCol>
                <a:gridCol w="5220000">
                  <a:extLst>
                    <a:ext uri="{9D8B030D-6E8A-4147-A177-3AD203B41FA5}">
                      <a16:colId xmlns:a16="http://schemas.microsoft.com/office/drawing/2014/main" val="2309528380"/>
                    </a:ext>
                  </a:extLst>
                </a:gridCol>
                <a:gridCol w="5220000">
                  <a:extLst>
                    <a:ext uri="{9D8B030D-6E8A-4147-A177-3AD203B41FA5}">
                      <a16:colId xmlns:a16="http://schemas.microsoft.com/office/drawing/2014/main" val="1186021051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رقم الجلسة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موضوع العرض والشرح (20 دقيقة)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موضوع النشاط </a:t>
                      </a:r>
                      <a:r>
                        <a:rPr lang="ar-EG" sz="1600" spc="15" dirty="0" err="1">
                          <a:effectLst/>
                        </a:rPr>
                        <a:t>التفاعلى</a:t>
                      </a:r>
                      <a:r>
                        <a:rPr lang="ar-EG" sz="1600" spc="15" dirty="0">
                          <a:effectLst/>
                        </a:rPr>
                        <a:t> (10 دقائق)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67782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افتتاح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 err="1">
                          <a:effectLst/>
                        </a:rPr>
                        <a:t>افتتاحى</a:t>
                      </a:r>
                      <a:r>
                        <a:rPr lang="ar-EG" sz="1600" spc="15" dirty="0">
                          <a:effectLst/>
                        </a:rPr>
                        <a:t>: التعارف، القواعد الحاكمة للورشة، الأهداف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التوقعات والأهداف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157540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1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مفهوم المحفوظات وأهميتها وأهدافها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التمييز بين الوثيقة العادية والمحفوظات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52898560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2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أنواع المحفوظات ودورة حياة الوثيقة الإدارية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تصنيف الوثائق حسب درجة النشاط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281507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3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أهمية وأهداف تنظيم وحفظ الوثائق والمستندات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أسباب ومخاطر فقدان المستندات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384813976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4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التنظيم الفني للمحفوظات وأدوار كاتب ومدخل البيانات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المسئولية الوظيفية لمدخل البيانات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76366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5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أسس ونظريات تصنيف الوثائق والمستندات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تحديد الأساس المناسب لتصنيف ملفات قطاعك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35058017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A714E-90D7-3D0B-6380-6A26AC671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25D62C3-F5DB-FB44-2A0D-3EA548A43A61}"/>
              </a:ext>
            </a:extLst>
          </p:cNvPr>
          <p:cNvSpPr txBox="1"/>
          <p:nvPr/>
        </p:nvSpPr>
        <p:spPr>
          <a:xfrm>
            <a:off x="457200" y="320040"/>
            <a:ext cx="11277295" cy="64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3000" b="1" u="none">
                <a:solidFill>
                  <a:srgbClr val="002060"/>
                </a:solidFill>
                <a:latin typeface="Arial"/>
                <a:cs typeface="+mj-cs"/>
              </a:rPr>
              <a:t>أجندة البرنامج - اليوم الأول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A1544B-982F-B4EB-9143-518DF79FE3EE}"/>
              </a:ext>
            </a:extLst>
          </p:cNvPr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1305B-B52B-CDB0-9749-32701C481D3B}"/>
              </a:ext>
            </a:extLst>
          </p:cNvPr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4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329028-F0CF-87D5-AD6B-CBB273A937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7670845"/>
              </p:ext>
            </p:extLst>
          </p:nvPr>
        </p:nvGraphicFramePr>
        <p:xfrm>
          <a:off x="286495" y="960600"/>
          <a:ext cx="11448000" cy="47520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3890585706"/>
                    </a:ext>
                  </a:extLst>
                </a:gridCol>
                <a:gridCol w="5220000">
                  <a:extLst>
                    <a:ext uri="{9D8B030D-6E8A-4147-A177-3AD203B41FA5}">
                      <a16:colId xmlns:a16="http://schemas.microsoft.com/office/drawing/2014/main" val="2309528380"/>
                    </a:ext>
                  </a:extLst>
                </a:gridCol>
                <a:gridCol w="5220000">
                  <a:extLst>
                    <a:ext uri="{9D8B030D-6E8A-4147-A177-3AD203B41FA5}">
                      <a16:colId xmlns:a16="http://schemas.microsoft.com/office/drawing/2014/main" val="1186021051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رقم الجلسة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موضوع العرض والشرح (20 دقيقة)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موضوع النشاط </a:t>
                      </a:r>
                      <a:r>
                        <a:rPr lang="ar-EG" sz="1600" spc="15" dirty="0" err="1">
                          <a:effectLst/>
                        </a:rPr>
                        <a:t>التفاعلى</a:t>
                      </a:r>
                      <a:r>
                        <a:rPr lang="ar-EG" sz="1600" spc="15" dirty="0">
                          <a:effectLst/>
                        </a:rPr>
                        <a:t> (10 دقائق)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67782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6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الطريقة التلقائية في التصنيف وعيوبها التطبيقية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نقد ومخاطر الاعتماد على الحفظ </a:t>
                      </a:r>
                      <a:r>
                        <a:rPr lang="ar-EG" sz="1600" spc="15" dirty="0" err="1">
                          <a:effectLst/>
                        </a:rPr>
                        <a:t>التلقائى</a:t>
                      </a:r>
                      <a:r>
                        <a:rPr lang="ar-EG" sz="1600" spc="15" dirty="0">
                          <a:effectLst/>
                        </a:rPr>
                        <a:t> </a:t>
                      </a:r>
                      <a:r>
                        <a:rPr lang="ar-EG" sz="1600" spc="15" dirty="0" err="1">
                          <a:effectLst/>
                        </a:rPr>
                        <a:t>والعشوائى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401604526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 sz="1600" spc="15" dirty="0">
                          <a:effectLst/>
                        </a:rPr>
                        <a:t>🕌 </a:t>
                      </a:r>
                      <a:r>
                        <a:rPr lang="ar-EG" sz="1600" spc="15" dirty="0">
                          <a:effectLst/>
                        </a:rPr>
                        <a:t>استراحة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استراحة صلاة وغذاء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 sz="1600" spc="15" dirty="0">
                          <a:effectLst/>
                        </a:rPr>
                        <a:t>—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772267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7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التصنيف </a:t>
                      </a:r>
                      <a:r>
                        <a:rPr lang="ar-EG" sz="1600" spc="15" dirty="0" err="1">
                          <a:effectLst/>
                        </a:rPr>
                        <a:t>التطبيقى</a:t>
                      </a:r>
                      <a:r>
                        <a:rPr lang="ar-EG" sz="1600" spc="15" dirty="0">
                          <a:effectLst/>
                        </a:rPr>
                        <a:t> للمستندات والملفات الميدانية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تجميع المستندات المتشابهة في مجموعات نوعية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256859632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8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قواعد واختيار الأساس السليم للتصنيف </a:t>
                      </a:r>
                      <a:r>
                        <a:rPr lang="ar-EG" sz="1600" spc="15" dirty="0" err="1">
                          <a:effectLst/>
                        </a:rPr>
                        <a:t>الإدارى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تصميم خطة / شجرة تصنيف موضوعية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97122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9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الإجراءات التنفيذية لفتح الملفات وتنسيقها وتأشيرها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فتح ملف جديد وترقيمه وتنسيقه عمليًا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/>
                </a:tc>
                <a:extLst>
                  <a:ext uri="{0D108BD9-81ED-4DB2-BD59-A6C34878D82A}">
                    <a16:rowId xmlns:a16="http://schemas.microsoft.com/office/drawing/2014/main" val="29723836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9547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أجندة البرنامج - اليوم الثاني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BC13609-BC2B-910D-8BE8-F72D7EDB55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151697"/>
              </p:ext>
            </p:extLst>
          </p:nvPr>
        </p:nvGraphicFramePr>
        <p:xfrm>
          <a:off x="172013" y="1246278"/>
          <a:ext cx="11448000" cy="475200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79418289"/>
                    </a:ext>
                  </a:extLst>
                </a:gridCol>
                <a:gridCol w="5220000">
                  <a:extLst>
                    <a:ext uri="{9D8B030D-6E8A-4147-A177-3AD203B41FA5}">
                      <a16:colId xmlns:a16="http://schemas.microsoft.com/office/drawing/2014/main" val="866598586"/>
                    </a:ext>
                  </a:extLst>
                </a:gridCol>
                <a:gridCol w="5220000">
                  <a:extLst>
                    <a:ext uri="{9D8B030D-6E8A-4147-A177-3AD203B41FA5}">
                      <a16:colId xmlns:a16="http://schemas.microsoft.com/office/drawing/2014/main" val="2469225465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EG" sz="1600" b="1" spc="15" dirty="0">
                          <a:solidFill>
                            <a:schemeClr val="bg1"/>
                          </a:solidFill>
                          <a:effectLst/>
                        </a:rPr>
                        <a:t>رقم الجلسة</a:t>
                      </a:r>
                      <a:endParaRPr lang="en-US" sz="1600" b="1" i="0" spc="15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EG" sz="1600" b="1" spc="15" dirty="0">
                          <a:solidFill>
                            <a:schemeClr val="bg1"/>
                          </a:solidFill>
                          <a:effectLst/>
                        </a:rPr>
                        <a:t>موضوع العرض والشرح (20 دقيقة)</a:t>
                      </a:r>
                      <a:endParaRPr lang="en-US" sz="1600" b="1" i="0" spc="15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EG" sz="1600" b="1" spc="15" dirty="0">
                          <a:solidFill>
                            <a:schemeClr val="bg1"/>
                          </a:solidFill>
                          <a:effectLst/>
                        </a:rPr>
                        <a:t>موضوع النشاط </a:t>
                      </a:r>
                      <a:r>
                        <a:rPr lang="ar-EG" sz="1600" b="1" spc="15" dirty="0" err="1">
                          <a:solidFill>
                            <a:schemeClr val="bg1"/>
                          </a:solidFill>
                          <a:effectLst/>
                        </a:rPr>
                        <a:t>التفاعلى</a:t>
                      </a:r>
                      <a:r>
                        <a:rPr lang="ar-EG" sz="1600" b="1" spc="15" dirty="0">
                          <a:solidFill>
                            <a:schemeClr val="bg1"/>
                          </a:solidFill>
                          <a:effectLst/>
                        </a:rPr>
                        <a:t> (10 دقائق)</a:t>
                      </a:r>
                      <a:endParaRPr lang="en-US" sz="1600" b="1" i="0" spc="15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74045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مراجعة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مراجعة مخرجات اليوم الأول وربط المهارات المكتسبة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التصنيف وفتح الملفات</a:t>
                      </a: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962290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10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مفهوم الفهرسة ودورها في استرجاع المستندات والمعلومات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التمييز </a:t>
                      </a:r>
                      <a:r>
                        <a:rPr lang="ar-EG" sz="1600" spc="15" dirty="0" err="1">
                          <a:effectLst/>
                        </a:rPr>
                        <a:t>العملى</a:t>
                      </a:r>
                      <a:r>
                        <a:rPr lang="ar-EG" sz="1600" spc="15" dirty="0">
                          <a:effectLst/>
                        </a:rPr>
                        <a:t> بين التصنيف والفهرسة</a:t>
                      </a:r>
                    </a:p>
                  </a:txBody>
                  <a:tcPr marL="49736" marR="49736" marT="24868" marB="24868" anchor="ctr"/>
                </a:tc>
                <a:extLst>
                  <a:ext uri="{0D108BD9-81ED-4DB2-BD59-A6C34878D82A}">
                    <a16:rowId xmlns:a16="http://schemas.microsoft.com/office/drawing/2014/main" val="3643762647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11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العنصر (1) للفهرس </a:t>
                      </a:r>
                      <a:r>
                        <a:rPr lang="ar-EG" sz="1600" spc="15" dirty="0" err="1">
                          <a:effectLst/>
                        </a:rPr>
                        <a:t>المثالى</a:t>
                      </a:r>
                      <a:r>
                        <a:rPr lang="ar-EG" sz="1600" spc="15" dirty="0">
                          <a:effectLst/>
                        </a:rPr>
                        <a:t> المرونة: قابلية الإضافة والحذف</a:t>
                      </a: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تعديل الفهارس بإضافة وحذف ملفات دون اخلال</a:t>
                      </a: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82083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12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العنصر (2) للفهرس </a:t>
                      </a:r>
                      <a:r>
                        <a:rPr lang="ar-EG" sz="1600" spc="15" dirty="0" err="1">
                          <a:effectLst/>
                        </a:rPr>
                        <a:t>المثالى</a:t>
                      </a:r>
                      <a:r>
                        <a:rPr lang="ar-EG" sz="1600" spc="15" dirty="0">
                          <a:effectLst/>
                        </a:rPr>
                        <a:t> السهولة والسرعة في الاستشارة والاسترجاع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الوصول للوثيقة المطلوبة باستخدام الفهارس</a:t>
                      </a:r>
                    </a:p>
                  </a:txBody>
                  <a:tcPr marL="49736" marR="49736" marT="24868" marB="24868" anchor="ctr"/>
                </a:tc>
                <a:extLst>
                  <a:ext uri="{0D108BD9-81ED-4DB2-BD59-A6C34878D82A}">
                    <a16:rowId xmlns:a16="http://schemas.microsoft.com/office/drawing/2014/main" val="189452400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13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العنصر (3) للفهرس </a:t>
                      </a:r>
                      <a:r>
                        <a:rPr lang="ar-EG" sz="1600" spc="15" dirty="0" err="1">
                          <a:effectLst/>
                        </a:rPr>
                        <a:t>المثالى</a:t>
                      </a:r>
                      <a:r>
                        <a:rPr lang="ar-EG" sz="1600" spc="15" dirty="0">
                          <a:effectLst/>
                        </a:rPr>
                        <a:t> الاقتصاد في الاعداد والصيانة التشغيلية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مقارنة التكاليف بين الفهارس المعتمدة والتقليدية</a:t>
                      </a: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832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1ADE9E-B31E-62BA-ABE1-0E5D354F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65042A-8228-0FD7-39B3-42E2B95DA385}"/>
              </a:ext>
            </a:extLst>
          </p:cNvPr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أجندة البرنامج - اليوم الثاني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19F1D-90D5-FA56-186B-9C857632718D}"/>
              </a:ext>
            </a:extLst>
          </p:cNvPr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B2FE5B-D51F-BA5D-2792-ACEAE673C71E}"/>
              </a:ext>
            </a:extLst>
          </p:cNvPr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31E047-E999-7223-88C7-C4A847014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7250279"/>
              </p:ext>
            </p:extLst>
          </p:nvPr>
        </p:nvGraphicFramePr>
        <p:xfrm>
          <a:off x="172013" y="929952"/>
          <a:ext cx="11448000" cy="554400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008000">
                  <a:extLst>
                    <a:ext uri="{9D8B030D-6E8A-4147-A177-3AD203B41FA5}">
                      <a16:colId xmlns:a16="http://schemas.microsoft.com/office/drawing/2014/main" val="279418289"/>
                    </a:ext>
                  </a:extLst>
                </a:gridCol>
                <a:gridCol w="5220000">
                  <a:extLst>
                    <a:ext uri="{9D8B030D-6E8A-4147-A177-3AD203B41FA5}">
                      <a16:colId xmlns:a16="http://schemas.microsoft.com/office/drawing/2014/main" val="866598586"/>
                    </a:ext>
                  </a:extLst>
                </a:gridCol>
                <a:gridCol w="5220000">
                  <a:extLst>
                    <a:ext uri="{9D8B030D-6E8A-4147-A177-3AD203B41FA5}">
                      <a16:colId xmlns:a16="http://schemas.microsoft.com/office/drawing/2014/main" val="2469225465"/>
                    </a:ext>
                  </a:extLst>
                </a:gridCol>
              </a:tblGrid>
              <a:tr h="792000"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EG" sz="1600" b="1" spc="15" dirty="0">
                          <a:solidFill>
                            <a:schemeClr val="bg1"/>
                          </a:solidFill>
                          <a:effectLst/>
                        </a:rPr>
                        <a:t>رقم الجلسة</a:t>
                      </a:r>
                      <a:endParaRPr lang="en-US" sz="1600" b="1" i="0" spc="15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EG" sz="1600" b="1" spc="15" dirty="0">
                          <a:solidFill>
                            <a:schemeClr val="bg1"/>
                          </a:solidFill>
                          <a:effectLst/>
                        </a:rPr>
                        <a:t>موضوع العرض والشرح (20 دقيقة)</a:t>
                      </a:r>
                      <a:endParaRPr lang="en-US" sz="1600" b="1" i="0" spc="15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buNone/>
                      </a:pPr>
                      <a:r>
                        <a:rPr lang="ar-EG" sz="1600" b="1" spc="15" dirty="0">
                          <a:solidFill>
                            <a:schemeClr val="bg1"/>
                          </a:solidFill>
                          <a:effectLst/>
                        </a:rPr>
                        <a:t>موضوع النشاط </a:t>
                      </a:r>
                      <a:r>
                        <a:rPr lang="ar-EG" sz="1600" b="1" spc="15" dirty="0" err="1">
                          <a:solidFill>
                            <a:schemeClr val="bg1"/>
                          </a:solidFill>
                          <a:effectLst/>
                        </a:rPr>
                        <a:t>التفاعلى</a:t>
                      </a:r>
                      <a:r>
                        <a:rPr lang="ar-EG" sz="1600" b="1" spc="15" dirty="0">
                          <a:solidFill>
                            <a:schemeClr val="bg1"/>
                          </a:solidFill>
                          <a:effectLst/>
                        </a:rPr>
                        <a:t> (10 دقائق)</a:t>
                      </a:r>
                      <a:endParaRPr lang="en-US" sz="1600" b="1" i="0" spc="15" dirty="0">
                        <a:solidFill>
                          <a:schemeClr val="bg1"/>
                        </a:solidFill>
                        <a:effectLst/>
                        <a:latin typeface="-apple-system"/>
                      </a:endParaRPr>
                    </a:p>
                  </a:txBody>
                  <a:tcPr marL="53247" marR="53247" marT="26623" marB="26623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74045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14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العنصر (4و5) سهولة انتاج نسخ متعددة وسهولة التحريك</a:t>
                      </a:r>
                    </a:p>
                  </a:txBody>
                  <a:tcPr marL="49736" marR="49736" marT="24868" marB="24868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تصميم نموذج فهرس مرن سهل التحريم والنسخ</a:t>
                      </a:r>
                    </a:p>
                  </a:txBody>
                  <a:tcPr marL="49736" marR="49736" marT="24868" marB="24868" anchor="ctr"/>
                </a:tc>
                <a:extLst>
                  <a:ext uri="{0D108BD9-81ED-4DB2-BD59-A6C34878D82A}">
                    <a16:rowId xmlns:a16="http://schemas.microsoft.com/office/drawing/2014/main" val="203859976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15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العنصر (6) صغر الحيز </a:t>
                      </a:r>
                      <a:r>
                        <a:rPr lang="ar-EG" sz="1600" spc="15" dirty="0" err="1">
                          <a:effectLst/>
                        </a:rPr>
                        <a:t>المكانى</a:t>
                      </a:r>
                      <a:r>
                        <a:rPr lang="ar-EG" sz="1600" spc="15" dirty="0">
                          <a:effectLst/>
                        </a:rPr>
                        <a:t> واستغلال مساحات الحفظ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تنظيم الفهرس لضغط الحيز </a:t>
                      </a:r>
                      <a:r>
                        <a:rPr lang="ar-EG" sz="1600" spc="15" dirty="0" err="1">
                          <a:effectLst/>
                        </a:rPr>
                        <a:t>المكانى</a:t>
                      </a:r>
                      <a:endParaRPr lang="ar-EG" sz="1600" spc="15" dirty="0">
                        <a:effectLst/>
                      </a:endParaRP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28744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 sz="1600" spc="15" dirty="0">
                          <a:effectLst/>
                        </a:rPr>
                        <a:t>🕌 </a:t>
                      </a:r>
                      <a:r>
                        <a:rPr lang="ar-EG" sz="1600" spc="15" dirty="0">
                          <a:effectLst/>
                        </a:rPr>
                        <a:t>استراحة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استراحة صلاة وغذاء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en-US" sz="1600" spc="15" dirty="0">
                          <a:effectLst/>
                        </a:rPr>
                        <a:t>—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/>
                </a:tc>
                <a:extLst>
                  <a:ext uri="{0D108BD9-81ED-4DB2-BD59-A6C34878D82A}">
                    <a16:rowId xmlns:a16="http://schemas.microsoft.com/office/drawing/2014/main" val="115642054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16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أمن وحماية الوثائق وضوابط السرية وتداول الملفات</a:t>
                      </a: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التعامل التنفيذي مع استعارة مستند سرى</a:t>
                      </a: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6445338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17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الاختبار </a:t>
                      </a:r>
                      <a:r>
                        <a:rPr lang="ar-EG" sz="1600" spc="15" dirty="0" err="1">
                          <a:effectLst/>
                        </a:rPr>
                        <a:t>التقييمى</a:t>
                      </a:r>
                      <a:r>
                        <a:rPr lang="ar-EG" sz="1600" spc="15" dirty="0">
                          <a:effectLst/>
                        </a:rPr>
                        <a:t> الشامل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/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قياس معارف ومهارات المتدربين طبقًا للمنهج</a:t>
                      </a:r>
                    </a:p>
                  </a:txBody>
                  <a:tcPr marL="49736" marR="49736" marT="24868" marB="24868" anchor="ctr"/>
                </a:tc>
                <a:extLst>
                  <a:ext uri="{0D108BD9-81ED-4DB2-BD59-A6C34878D82A}">
                    <a16:rowId xmlns:a16="http://schemas.microsoft.com/office/drawing/2014/main" val="1019018102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الجلسة 18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تصحيح الاختبار، التغذية الراجعة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>
                        <a:buNone/>
                      </a:pPr>
                      <a:r>
                        <a:rPr lang="ar-EG" sz="1600" spc="15" dirty="0">
                          <a:effectLst/>
                        </a:rPr>
                        <a:t>تقييم الدورة وتوزيع الشهادات على المتدربين</a:t>
                      </a:r>
                      <a:endParaRPr lang="en-US" sz="1600" b="0" i="0" spc="15" dirty="0">
                        <a:solidFill>
                          <a:srgbClr val="2B2B2F"/>
                        </a:solidFill>
                        <a:effectLst/>
                        <a:latin typeface="-apple-system"/>
                      </a:endParaRPr>
                    </a:p>
                  </a:txBody>
                  <a:tcPr marL="49736" marR="49736" marT="24868" marB="2486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3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172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62895" cy="604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lang="ar-EG" sz="2800" b="1" u="none" dirty="0">
                <a:solidFill>
                  <a:srgbClr val="C7D6F5"/>
                </a:solidFill>
                <a:latin typeface="Arial"/>
                <a:cs typeface="+mj-cs"/>
              </a:rPr>
              <a:t>المحور 1</a:t>
            </a:r>
            <a:endParaRPr sz="2800" b="1" u="none" dirty="0">
              <a:solidFill>
                <a:srgbClr val="C7D6F5"/>
              </a:solidFill>
              <a:latin typeface="Arial"/>
              <a:cs typeface="+mj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823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rtl="1">
              <a:lnSpc>
                <a:spcPct val="125000"/>
              </a:lnSpc>
              <a:defRPr sz="4000" b="1" u="none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ar-EG" dirty="0"/>
              <a:t>تنظيم المحفوظات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898648" y="3977639"/>
            <a:ext cx="6400800" cy="1920240"/>
          </a:xfrm>
          <a:prstGeom prst="roundRect">
            <a:avLst>
              <a:gd name="adj" fmla="val 6000"/>
            </a:avLst>
          </a:prstGeom>
          <a:solidFill>
            <a:srgbClr val="0A2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4160520"/>
            <a:ext cx="5797296" cy="150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ar-EG" sz="2400" b="0" u="none" dirty="0">
                <a:solidFill>
                  <a:srgbClr val="FFFFFF"/>
                </a:solidFill>
                <a:latin typeface="Arial"/>
              </a:rPr>
              <a:t>تعريف المحفوظات وأنواعها</a:t>
            </a:r>
          </a:p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FFFFFF"/>
                </a:solidFill>
                <a:latin typeface="Arial"/>
              </a:rPr>
              <a:t>أهمية المحفوظات وأهداف إدارتها</a:t>
            </a:r>
          </a:p>
          <a:p>
            <a:pPr algn="r" rtl="1">
              <a:lnSpc>
                <a:spcPct val="130000"/>
              </a:lnSpc>
            </a:pPr>
            <a:r>
              <a:rPr lang="ar-EG" sz="2400" b="0" u="none" dirty="0">
                <a:solidFill>
                  <a:srgbClr val="FFFFFF"/>
                </a:solidFill>
                <a:latin typeface="Arial"/>
              </a:rPr>
              <a:t>التنظيم الفني للمحفوظات</a:t>
            </a:r>
            <a:endParaRPr sz="2400" b="0" u="none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2: </a:t>
            </a:r>
            <a:r>
              <a:rPr dirty="0" err="1"/>
              <a:t>استنباط</a:t>
            </a:r>
            <a:r>
              <a:rPr dirty="0"/>
              <a:t> </a:t>
            </a:r>
            <a:r>
              <a:rPr dirty="0" err="1"/>
              <a:t>تعريف</a:t>
            </a:r>
            <a:r>
              <a:rPr dirty="0"/>
              <a:t> </a:t>
            </a:r>
            <a:r>
              <a:rPr dirty="0" err="1"/>
              <a:t>المحفوظات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عصف ذهني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الوصول لتعريف جماعي واضح لمفهوم المحفوظات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طرح سؤال: ما المقصود بالمحفوظات في رأيكم؟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تدوين إجابات المتدربين على السبورة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تجميع الأفكار المتشابهة في مجموعات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صياغة تعريف جماعي موحد بمشاركة الجميع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081883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5085" y="1284594"/>
            <a:ext cx="11277295" cy="6405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lang="ar-EG" dirty="0">
                <a:solidFill>
                  <a:srgbClr val="0077B6"/>
                </a:solidFill>
              </a:rPr>
              <a:t>تعريف المحفوظات</a:t>
            </a:r>
            <a:endParaRPr dirty="0">
              <a:solidFill>
                <a:srgbClr val="0077B6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972638" y="1979693"/>
            <a:ext cx="4442542" cy="2100019"/>
          </a:xfrm>
          <a:prstGeom prst="roundRect">
            <a:avLst>
              <a:gd name="adj" fmla="val 21218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972638" y="2254014"/>
            <a:ext cx="4031062" cy="1555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جميع الوثائق التي تحمل معلومات يمكن الرجوع إليها مستقبلا عند الحاجة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7C0B06-E1EB-6F34-3EB5-05763758B5F1}"/>
              </a:ext>
            </a:extLst>
          </p:cNvPr>
          <p:cNvSpPr txBox="1"/>
          <p:nvPr/>
        </p:nvSpPr>
        <p:spPr>
          <a:xfrm>
            <a:off x="1182797" y="3147819"/>
            <a:ext cx="5486401" cy="6405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lang="ar-EG" dirty="0">
                <a:solidFill>
                  <a:srgbClr val="0077B6"/>
                </a:solidFill>
              </a:rPr>
              <a:t>المحفوظات في المنظمة</a:t>
            </a:r>
            <a:endParaRPr dirty="0">
              <a:solidFill>
                <a:srgbClr val="0077B6"/>
              </a:solidFill>
            </a:endParaRPr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555EE9CB-DCFA-042C-F376-4A9CE26FB01F}"/>
              </a:ext>
            </a:extLst>
          </p:cNvPr>
          <p:cNvSpPr/>
          <p:nvPr/>
        </p:nvSpPr>
        <p:spPr>
          <a:xfrm>
            <a:off x="1188300" y="3833675"/>
            <a:ext cx="5458868" cy="2704285"/>
          </a:xfrm>
          <a:prstGeom prst="roundRect">
            <a:avLst>
              <a:gd name="adj" fmla="val 13322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9D0A91-1FB3-8002-F3FF-86C1CF0D40CF}"/>
              </a:ext>
            </a:extLst>
          </p:cNvPr>
          <p:cNvSpPr txBox="1"/>
          <p:nvPr/>
        </p:nvSpPr>
        <p:spPr>
          <a:xfrm>
            <a:off x="1599779" y="4107996"/>
            <a:ext cx="5025357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مجموعة من الوثائق التي تنتج عن نشاط أي منظمة أو منشأة وتنظيمها بطريقة تمكن الرجوع اليها عند الحاجة مستقبلا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B880536-B2CE-8E19-7C21-8195D1DECD4D}"/>
              </a:ext>
            </a:extLst>
          </p:cNvPr>
          <p:cNvGrpSpPr/>
          <p:nvPr/>
        </p:nvGrpSpPr>
        <p:grpSpPr>
          <a:xfrm>
            <a:off x="5639105" y="640080"/>
            <a:ext cx="6156655" cy="640080"/>
            <a:chOff x="548640" y="640080"/>
            <a:chExt cx="6156655" cy="640080"/>
          </a:xfrm>
        </p:grpSpPr>
        <p:sp>
          <p:nvSpPr>
            <p:cNvPr id="26" name="Shape 3">
              <a:extLst>
                <a:ext uri="{FF2B5EF4-FFF2-40B4-BE49-F238E27FC236}">
                  <a16:creationId xmlns:a16="http://schemas.microsoft.com/office/drawing/2014/main" id="{EDED6EE5-F515-11F9-8E3A-1CF9E7E92306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27" name="Text 4">
              <a:extLst>
                <a:ext uri="{FF2B5EF4-FFF2-40B4-BE49-F238E27FC236}">
                  <a16:creationId xmlns:a16="http://schemas.microsoft.com/office/drawing/2014/main" id="{16381C67-6FE4-6344-98B5-0BA365A93E36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cs typeface="Cairo Black" panose="00000A00000000000000" pitchFamily="2" charset="-78"/>
                </a:rPr>
                <a:t>المحفوظات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1DDD44-D240-7298-19B1-FD643C3B5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EC7407D-FCBE-74B2-3F29-DA3FD416EACC}"/>
              </a:ext>
            </a:extLst>
          </p:cNvPr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04FC1-A0E8-FF6A-15D9-2180968D728A}"/>
              </a:ext>
            </a:extLst>
          </p:cNvPr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9</a:t>
            </a:r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9C9E82EB-5B4F-6F42-0AE2-8ED57DAF6009}"/>
              </a:ext>
            </a:extLst>
          </p:cNvPr>
          <p:cNvSpPr/>
          <p:nvPr/>
        </p:nvSpPr>
        <p:spPr>
          <a:xfrm>
            <a:off x="1432865" y="1615732"/>
            <a:ext cx="10362895" cy="2797444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EBDA9C9-DA0D-D0A8-98EE-6CEF90EB6880}"/>
              </a:ext>
            </a:extLst>
          </p:cNvPr>
          <p:cNvSpPr txBox="1"/>
          <p:nvPr/>
        </p:nvSpPr>
        <p:spPr>
          <a:xfrm>
            <a:off x="1844345" y="1890052"/>
            <a:ext cx="9539935" cy="2054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أي مادة تحمل معلومات سواء كانت ورقة، شريط مسجل أو مصور، كتاب،  خريطة، إحصائية، بيان أو .....)</a:t>
            </a:r>
            <a:endParaRPr lang="en-US" sz="2400" b="0" u="none" dirty="0">
              <a:solidFill>
                <a:srgbClr val="1A365D"/>
              </a:solidFill>
              <a:latin typeface="Arial"/>
            </a:endParaRPr>
          </a:p>
          <a:p>
            <a:pPr algn="r" rtl="1">
              <a:lnSpc>
                <a:spcPct val="135000"/>
              </a:lnSpc>
            </a:pPr>
            <a:r>
              <a:rPr lang="ar-EG" sz="2400" dirty="0" err="1">
                <a:solidFill>
                  <a:srgbClr val="1A365D"/>
                </a:solidFill>
                <a:latin typeface="Arial"/>
              </a:rPr>
              <a:t>والتى</a:t>
            </a:r>
            <a:r>
              <a:rPr lang="ar-EG" sz="2400" dirty="0">
                <a:solidFill>
                  <a:srgbClr val="1A365D"/>
                </a:solidFill>
                <a:latin typeface="Arial"/>
              </a:rPr>
              <a:t> تحتاج الى عملية حفظ بطريقة تسهل الوصول اليها </a:t>
            </a:r>
            <a:r>
              <a:rPr lang="ar-EG" sz="2400" dirty="0" err="1">
                <a:solidFill>
                  <a:srgbClr val="1A365D"/>
                </a:solidFill>
                <a:latin typeface="Arial"/>
              </a:rPr>
              <a:t>للإطلاع</a:t>
            </a:r>
            <a:r>
              <a:rPr lang="ar-EG" sz="2400" dirty="0">
                <a:solidFill>
                  <a:srgbClr val="1A365D"/>
                </a:solidFill>
                <a:latin typeface="Arial"/>
              </a:rPr>
              <a:t> عليها أو استخدامها 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D86FC0D-C2C4-D5A8-A4C2-853D9B84C567}"/>
              </a:ext>
            </a:extLst>
          </p:cNvPr>
          <p:cNvGrpSpPr/>
          <p:nvPr/>
        </p:nvGrpSpPr>
        <p:grpSpPr>
          <a:xfrm>
            <a:off x="5639105" y="640080"/>
            <a:ext cx="6156655" cy="640080"/>
            <a:chOff x="548640" y="640080"/>
            <a:chExt cx="6156655" cy="640080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77567C06-FFAD-9EDB-022F-CD5C502AC5B9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11" name="Text 4">
              <a:extLst>
                <a:ext uri="{FF2B5EF4-FFF2-40B4-BE49-F238E27FC236}">
                  <a16:creationId xmlns:a16="http://schemas.microsoft.com/office/drawing/2014/main" id="{4EFB2DB0-0B33-D78C-D1D2-215AC35F0019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الوثيقة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4943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6937C-9676-4569-5CA3-09DCA7141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6414D53-DFA7-D4F9-343E-630253A4262D}"/>
              </a:ext>
            </a:extLst>
          </p:cNvPr>
          <p:cNvSpPr/>
          <p:nvPr/>
        </p:nvSpPr>
        <p:spPr>
          <a:xfrm>
            <a:off x="914400" y="1573077"/>
            <a:ext cx="10362895" cy="2797444"/>
          </a:xfrm>
          <a:prstGeom prst="roundRect">
            <a:avLst>
              <a:gd name="adj" fmla="val 50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6F3657-DB0A-568A-3481-A0C303B4FB28}"/>
              </a:ext>
            </a:extLst>
          </p:cNvPr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C4712C-CAE1-6E1C-4F54-742211DA9C2C}"/>
              </a:ext>
            </a:extLst>
          </p:cNvPr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9</a:t>
            </a:r>
          </a:p>
        </p:txBody>
      </p:sp>
      <p:sp>
        <p:nvSpPr>
          <p:cNvPr id="8" name="Shape">
            <a:extLst>
              <a:ext uri="{FF2B5EF4-FFF2-40B4-BE49-F238E27FC236}">
                <a16:creationId xmlns:a16="http://schemas.microsoft.com/office/drawing/2014/main" id="{0A6076C2-2569-B8E5-93B5-BDE8F4C24A5B}"/>
              </a:ext>
            </a:extLst>
          </p:cNvPr>
          <p:cNvSpPr/>
          <p:nvPr/>
        </p:nvSpPr>
        <p:spPr>
          <a:xfrm>
            <a:off x="-123987" y="1762214"/>
            <a:ext cx="2712867" cy="23239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29" y="10809"/>
                </a:moveTo>
                <a:cubicBezTo>
                  <a:pt x="18429" y="9245"/>
                  <a:pt x="17968" y="7716"/>
                  <a:pt x="17149" y="6482"/>
                </a:cubicBezTo>
                <a:lnTo>
                  <a:pt x="17164" y="6464"/>
                </a:lnTo>
                <a:lnTo>
                  <a:pt x="16911" y="6134"/>
                </a:lnTo>
                <a:cubicBezTo>
                  <a:pt x="16658" y="5804"/>
                  <a:pt x="16375" y="5491"/>
                  <a:pt x="16077" y="5213"/>
                </a:cubicBezTo>
                <a:cubicBezTo>
                  <a:pt x="15184" y="4396"/>
                  <a:pt x="14127" y="3892"/>
                  <a:pt x="12996" y="3754"/>
                </a:cubicBezTo>
                <a:lnTo>
                  <a:pt x="12743" y="3719"/>
                </a:lnTo>
                <a:lnTo>
                  <a:pt x="12743" y="3719"/>
                </a:lnTo>
                <a:cubicBezTo>
                  <a:pt x="12609" y="3701"/>
                  <a:pt x="12475" y="3701"/>
                  <a:pt x="12356" y="3701"/>
                </a:cubicBezTo>
                <a:lnTo>
                  <a:pt x="0" y="3701"/>
                </a:lnTo>
                <a:lnTo>
                  <a:pt x="0" y="0"/>
                </a:lnTo>
                <a:lnTo>
                  <a:pt x="12356" y="0"/>
                </a:lnTo>
                <a:cubicBezTo>
                  <a:pt x="13770" y="0"/>
                  <a:pt x="15139" y="365"/>
                  <a:pt x="16405" y="1095"/>
                </a:cubicBezTo>
                <a:cubicBezTo>
                  <a:pt x="17774" y="1877"/>
                  <a:pt x="18980" y="3076"/>
                  <a:pt x="19873" y="4535"/>
                </a:cubicBezTo>
                <a:cubicBezTo>
                  <a:pt x="21005" y="6378"/>
                  <a:pt x="21600" y="8532"/>
                  <a:pt x="21600" y="10791"/>
                </a:cubicBezTo>
                <a:cubicBezTo>
                  <a:pt x="21600" y="12946"/>
                  <a:pt x="21064" y="15014"/>
                  <a:pt x="20022" y="16804"/>
                </a:cubicBezTo>
                <a:cubicBezTo>
                  <a:pt x="19977" y="16804"/>
                  <a:pt x="19933" y="16786"/>
                  <a:pt x="19888" y="16786"/>
                </a:cubicBezTo>
                <a:cubicBezTo>
                  <a:pt x="19829" y="16769"/>
                  <a:pt x="19769" y="16769"/>
                  <a:pt x="19709" y="16752"/>
                </a:cubicBezTo>
                <a:cubicBezTo>
                  <a:pt x="19620" y="16734"/>
                  <a:pt x="19516" y="16700"/>
                  <a:pt x="19427" y="16665"/>
                </a:cubicBezTo>
                <a:cubicBezTo>
                  <a:pt x="19382" y="16647"/>
                  <a:pt x="19322" y="16630"/>
                  <a:pt x="19278" y="16613"/>
                </a:cubicBezTo>
                <a:cubicBezTo>
                  <a:pt x="19159" y="16578"/>
                  <a:pt x="19040" y="16526"/>
                  <a:pt x="18921" y="16474"/>
                </a:cubicBezTo>
                <a:cubicBezTo>
                  <a:pt x="18906" y="16456"/>
                  <a:pt x="18876" y="16456"/>
                  <a:pt x="18846" y="16439"/>
                </a:cubicBezTo>
                <a:cubicBezTo>
                  <a:pt x="18712" y="16369"/>
                  <a:pt x="18578" y="16300"/>
                  <a:pt x="18444" y="16213"/>
                </a:cubicBezTo>
                <a:cubicBezTo>
                  <a:pt x="18414" y="16196"/>
                  <a:pt x="18370" y="16161"/>
                  <a:pt x="18340" y="16144"/>
                </a:cubicBezTo>
                <a:cubicBezTo>
                  <a:pt x="18251" y="16074"/>
                  <a:pt x="18146" y="16022"/>
                  <a:pt x="18057" y="15952"/>
                </a:cubicBezTo>
                <a:cubicBezTo>
                  <a:pt x="18012" y="15918"/>
                  <a:pt x="17968" y="15883"/>
                  <a:pt x="17923" y="15848"/>
                </a:cubicBezTo>
                <a:cubicBezTo>
                  <a:pt x="17849" y="15779"/>
                  <a:pt x="17759" y="15726"/>
                  <a:pt x="17685" y="15657"/>
                </a:cubicBezTo>
                <a:cubicBezTo>
                  <a:pt x="17640" y="15622"/>
                  <a:pt x="17596" y="15570"/>
                  <a:pt x="17551" y="15535"/>
                </a:cubicBezTo>
                <a:cubicBezTo>
                  <a:pt x="17477" y="15466"/>
                  <a:pt x="17402" y="15396"/>
                  <a:pt x="17328" y="15309"/>
                </a:cubicBezTo>
                <a:cubicBezTo>
                  <a:pt x="17283" y="15275"/>
                  <a:pt x="17238" y="15222"/>
                  <a:pt x="17209" y="15170"/>
                </a:cubicBezTo>
                <a:cubicBezTo>
                  <a:pt x="17194" y="15153"/>
                  <a:pt x="17179" y="15136"/>
                  <a:pt x="17164" y="15118"/>
                </a:cubicBezTo>
                <a:cubicBezTo>
                  <a:pt x="17983" y="13884"/>
                  <a:pt x="18429" y="12373"/>
                  <a:pt x="18429" y="10809"/>
                </a:cubicBezTo>
                <a:close/>
                <a:moveTo>
                  <a:pt x="12356" y="17899"/>
                </a:moveTo>
                <a:lnTo>
                  <a:pt x="0" y="17899"/>
                </a:lnTo>
                <a:lnTo>
                  <a:pt x="0" y="21600"/>
                </a:lnTo>
                <a:lnTo>
                  <a:pt x="12356" y="21600"/>
                </a:lnTo>
                <a:cubicBezTo>
                  <a:pt x="13487" y="21600"/>
                  <a:pt x="14574" y="21374"/>
                  <a:pt x="15616" y="20905"/>
                </a:cubicBezTo>
                <a:cubicBezTo>
                  <a:pt x="15541" y="20853"/>
                  <a:pt x="15482" y="20801"/>
                  <a:pt x="15407" y="20749"/>
                </a:cubicBezTo>
                <a:cubicBezTo>
                  <a:pt x="15363" y="20714"/>
                  <a:pt x="15318" y="20679"/>
                  <a:pt x="15273" y="20644"/>
                </a:cubicBezTo>
                <a:cubicBezTo>
                  <a:pt x="15110" y="20523"/>
                  <a:pt x="14961" y="20401"/>
                  <a:pt x="14812" y="20262"/>
                </a:cubicBezTo>
                <a:cubicBezTo>
                  <a:pt x="14797" y="20262"/>
                  <a:pt x="14797" y="20245"/>
                  <a:pt x="14782" y="20245"/>
                </a:cubicBezTo>
                <a:cubicBezTo>
                  <a:pt x="14633" y="20123"/>
                  <a:pt x="14499" y="19984"/>
                  <a:pt x="14365" y="19845"/>
                </a:cubicBezTo>
                <a:cubicBezTo>
                  <a:pt x="14321" y="19810"/>
                  <a:pt x="14276" y="19758"/>
                  <a:pt x="14231" y="19723"/>
                </a:cubicBezTo>
                <a:cubicBezTo>
                  <a:pt x="14127" y="19619"/>
                  <a:pt x="14023" y="19515"/>
                  <a:pt x="13919" y="19393"/>
                </a:cubicBezTo>
                <a:cubicBezTo>
                  <a:pt x="13874" y="19341"/>
                  <a:pt x="13829" y="19306"/>
                  <a:pt x="13785" y="19254"/>
                </a:cubicBezTo>
                <a:cubicBezTo>
                  <a:pt x="13666" y="19115"/>
                  <a:pt x="13561" y="18993"/>
                  <a:pt x="13442" y="18854"/>
                </a:cubicBezTo>
                <a:cubicBezTo>
                  <a:pt x="13427" y="18837"/>
                  <a:pt x="13398" y="18802"/>
                  <a:pt x="13383" y="18785"/>
                </a:cubicBezTo>
                <a:cubicBezTo>
                  <a:pt x="13249" y="18629"/>
                  <a:pt x="13130" y="18455"/>
                  <a:pt x="13011" y="18281"/>
                </a:cubicBezTo>
                <a:cubicBezTo>
                  <a:pt x="12981" y="18229"/>
                  <a:pt x="12951" y="18194"/>
                  <a:pt x="12921" y="18142"/>
                </a:cubicBezTo>
                <a:cubicBezTo>
                  <a:pt x="12862" y="18055"/>
                  <a:pt x="12802" y="17968"/>
                  <a:pt x="12758" y="17899"/>
                </a:cubicBezTo>
                <a:cubicBezTo>
                  <a:pt x="12609" y="17899"/>
                  <a:pt x="12475" y="17899"/>
                  <a:pt x="12356" y="17899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rgbClr val="002060"/>
            </a:solidFill>
            <a:miter lim="4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txBody>
          <a:bodyPr lIns="38100" tIns="38100" rIns="38100" bIns="38100" anchor="ctr"/>
          <a:lstStyle/>
          <a:p>
            <a:endParaRPr sz="3000">
              <a:solidFill>
                <a:srgbClr val="FFFFFF"/>
              </a:solidFill>
            </a:endParaRPr>
          </a:p>
        </p:txBody>
      </p:sp>
      <p:sp>
        <p:nvSpPr>
          <p:cNvPr id="9" name="Shape">
            <a:extLst>
              <a:ext uri="{FF2B5EF4-FFF2-40B4-BE49-F238E27FC236}">
                <a16:creationId xmlns:a16="http://schemas.microsoft.com/office/drawing/2014/main" id="{44A4996A-A20B-862B-3EE9-CC3DCA551444}"/>
              </a:ext>
            </a:extLst>
          </p:cNvPr>
          <p:cNvSpPr/>
          <p:nvPr/>
        </p:nvSpPr>
        <p:spPr>
          <a:xfrm>
            <a:off x="9355146" y="1762214"/>
            <a:ext cx="2712867" cy="23239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171" y="10791"/>
                </a:moveTo>
                <a:cubicBezTo>
                  <a:pt x="3171" y="12355"/>
                  <a:pt x="3632" y="13884"/>
                  <a:pt x="4451" y="15118"/>
                </a:cubicBezTo>
                <a:lnTo>
                  <a:pt x="4436" y="15136"/>
                </a:lnTo>
                <a:lnTo>
                  <a:pt x="4689" y="15466"/>
                </a:lnTo>
                <a:cubicBezTo>
                  <a:pt x="5701" y="16804"/>
                  <a:pt x="7101" y="17655"/>
                  <a:pt x="8604" y="17846"/>
                </a:cubicBezTo>
                <a:lnTo>
                  <a:pt x="8857" y="17881"/>
                </a:lnTo>
                <a:lnTo>
                  <a:pt x="8857" y="17881"/>
                </a:lnTo>
                <a:cubicBezTo>
                  <a:pt x="8991" y="17899"/>
                  <a:pt x="9125" y="17899"/>
                  <a:pt x="9244" y="17899"/>
                </a:cubicBezTo>
                <a:lnTo>
                  <a:pt x="21600" y="17899"/>
                </a:lnTo>
                <a:lnTo>
                  <a:pt x="21600" y="21600"/>
                </a:lnTo>
                <a:lnTo>
                  <a:pt x="9244" y="21600"/>
                </a:lnTo>
                <a:cubicBezTo>
                  <a:pt x="7830" y="21600"/>
                  <a:pt x="6461" y="21235"/>
                  <a:pt x="5195" y="20505"/>
                </a:cubicBezTo>
                <a:cubicBezTo>
                  <a:pt x="3826" y="19723"/>
                  <a:pt x="2620" y="18524"/>
                  <a:pt x="1727" y="17065"/>
                </a:cubicBezTo>
                <a:cubicBezTo>
                  <a:pt x="595" y="15222"/>
                  <a:pt x="0" y="13068"/>
                  <a:pt x="0" y="10809"/>
                </a:cubicBezTo>
                <a:cubicBezTo>
                  <a:pt x="0" y="8654"/>
                  <a:pt x="536" y="6586"/>
                  <a:pt x="1578" y="4796"/>
                </a:cubicBezTo>
                <a:cubicBezTo>
                  <a:pt x="1623" y="4796"/>
                  <a:pt x="1667" y="4814"/>
                  <a:pt x="1712" y="4814"/>
                </a:cubicBezTo>
                <a:cubicBezTo>
                  <a:pt x="1771" y="4831"/>
                  <a:pt x="1831" y="4831"/>
                  <a:pt x="1891" y="4848"/>
                </a:cubicBezTo>
                <a:cubicBezTo>
                  <a:pt x="1980" y="4866"/>
                  <a:pt x="2084" y="4900"/>
                  <a:pt x="2173" y="4935"/>
                </a:cubicBezTo>
                <a:cubicBezTo>
                  <a:pt x="2218" y="4953"/>
                  <a:pt x="2278" y="4970"/>
                  <a:pt x="2322" y="4987"/>
                </a:cubicBezTo>
                <a:cubicBezTo>
                  <a:pt x="2441" y="5022"/>
                  <a:pt x="2560" y="5074"/>
                  <a:pt x="2665" y="5126"/>
                </a:cubicBezTo>
                <a:cubicBezTo>
                  <a:pt x="2694" y="5144"/>
                  <a:pt x="2709" y="5144"/>
                  <a:pt x="2739" y="5161"/>
                </a:cubicBezTo>
                <a:cubicBezTo>
                  <a:pt x="2873" y="5231"/>
                  <a:pt x="3007" y="5300"/>
                  <a:pt x="3141" y="5387"/>
                </a:cubicBezTo>
                <a:cubicBezTo>
                  <a:pt x="3186" y="5404"/>
                  <a:pt x="3215" y="5439"/>
                  <a:pt x="3260" y="5456"/>
                </a:cubicBezTo>
                <a:cubicBezTo>
                  <a:pt x="3349" y="5509"/>
                  <a:pt x="3439" y="5578"/>
                  <a:pt x="3543" y="5648"/>
                </a:cubicBezTo>
                <a:cubicBezTo>
                  <a:pt x="3588" y="5682"/>
                  <a:pt x="3632" y="5717"/>
                  <a:pt x="3677" y="5752"/>
                </a:cubicBezTo>
                <a:cubicBezTo>
                  <a:pt x="3751" y="5821"/>
                  <a:pt x="3841" y="5874"/>
                  <a:pt x="3915" y="5943"/>
                </a:cubicBezTo>
                <a:cubicBezTo>
                  <a:pt x="3960" y="5978"/>
                  <a:pt x="4004" y="6030"/>
                  <a:pt x="4049" y="6065"/>
                </a:cubicBezTo>
                <a:cubicBezTo>
                  <a:pt x="4123" y="6134"/>
                  <a:pt x="4198" y="6204"/>
                  <a:pt x="4272" y="6291"/>
                </a:cubicBezTo>
                <a:cubicBezTo>
                  <a:pt x="4317" y="6343"/>
                  <a:pt x="4362" y="6378"/>
                  <a:pt x="4391" y="6430"/>
                </a:cubicBezTo>
                <a:cubicBezTo>
                  <a:pt x="4406" y="6447"/>
                  <a:pt x="4421" y="6464"/>
                  <a:pt x="4436" y="6482"/>
                </a:cubicBezTo>
                <a:cubicBezTo>
                  <a:pt x="3617" y="7716"/>
                  <a:pt x="3171" y="9227"/>
                  <a:pt x="3171" y="10791"/>
                </a:cubicBezTo>
                <a:close/>
                <a:moveTo>
                  <a:pt x="9244" y="3701"/>
                </a:moveTo>
                <a:lnTo>
                  <a:pt x="21600" y="3701"/>
                </a:lnTo>
                <a:lnTo>
                  <a:pt x="21600" y="0"/>
                </a:lnTo>
                <a:lnTo>
                  <a:pt x="9244" y="0"/>
                </a:lnTo>
                <a:cubicBezTo>
                  <a:pt x="8113" y="0"/>
                  <a:pt x="7026" y="226"/>
                  <a:pt x="5984" y="695"/>
                </a:cubicBezTo>
                <a:cubicBezTo>
                  <a:pt x="6044" y="747"/>
                  <a:pt x="6118" y="799"/>
                  <a:pt x="6178" y="834"/>
                </a:cubicBezTo>
                <a:cubicBezTo>
                  <a:pt x="6222" y="869"/>
                  <a:pt x="6282" y="904"/>
                  <a:pt x="6327" y="956"/>
                </a:cubicBezTo>
                <a:cubicBezTo>
                  <a:pt x="6475" y="1077"/>
                  <a:pt x="6639" y="1199"/>
                  <a:pt x="6788" y="1338"/>
                </a:cubicBezTo>
                <a:cubicBezTo>
                  <a:pt x="6803" y="1355"/>
                  <a:pt x="6818" y="1355"/>
                  <a:pt x="6833" y="1373"/>
                </a:cubicBezTo>
                <a:cubicBezTo>
                  <a:pt x="6967" y="1494"/>
                  <a:pt x="7101" y="1616"/>
                  <a:pt x="7235" y="1755"/>
                </a:cubicBezTo>
                <a:cubicBezTo>
                  <a:pt x="7279" y="1807"/>
                  <a:pt x="7324" y="1842"/>
                  <a:pt x="7369" y="1894"/>
                </a:cubicBezTo>
                <a:cubicBezTo>
                  <a:pt x="7473" y="1998"/>
                  <a:pt x="7577" y="2103"/>
                  <a:pt x="7666" y="2207"/>
                </a:cubicBezTo>
                <a:cubicBezTo>
                  <a:pt x="7711" y="2259"/>
                  <a:pt x="7756" y="2311"/>
                  <a:pt x="7800" y="2346"/>
                </a:cubicBezTo>
                <a:cubicBezTo>
                  <a:pt x="7919" y="2468"/>
                  <a:pt x="8024" y="2607"/>
                  <a:pt x="8128" y="2746"/>
                </a:cubicBezTo>
                <a:cubicBezTo>
                  <a:pt x="8143" y="2780"/>
                  <a:pt x="8172" y="2798"/>
                  <a:pt x="8202" y="2833"/>
                </a:cubicBezTo>
                <a:cubicBezTo>
                  <a:pt x="8336" y="2989"/>
                  <a:pt x="8455" y="3163"/>
                  <a:pt x="8574" y="3336"/>
                </a:cubicBezTo>
                <a:cubicBezTo>
                  <a:pt x="8604" y="3389"/>
                  <a:pt x="8634" y="3423"/>
                  <a:pt x="8664" y="3475"/>
                </a:cubicBezTo>
                <a:cubicBezTo>
                  <a:pt x="8723" y="3562"/>
                  <a:pt x="8783" y="3649"/>
                  <a:pt x="8828" y="3719"/>
                </a:cubicBezTo>
                <a:cubicBezTo>
                  <a:pt x="8976" y="3701"/>
                  <a:pt x="9110" y="3701"/>
                  <a:pt x="9244" y="3701"/>
                </a:cubicBezTo>
                <a:close/>
              </a:path>
            </a:pathLst>
          </a:custGeom>
          <a:solidFill>
            <a:schemeClr val="bg1"/>
          </a:solidFill>
          <a:ln w="12700">
            <a:solidFill>
              <a:srgbClr val="002060"/>
            </a:solidFill>
            <a:miter lim="400000"/>
          </a:ln>
          <a:effectLst>
            <a:outerShdw blurRad="50800" dist="38100" dir="2700000" algn="tl" rotWithShape="0">
              <a:prstClr val="black">
                <a:alpha val="25000"/>
              </a:prstClr>
            </a:outerShdw>
          </a:effectLst>
        </p:spPr>
        <p:txBody>
          <a:bodyPr lIns="38100" tIns="38100" rIns="38100" bIns="38100" anchor="ctr"/>
          <a:lstStyle/>
          <a:p>
            <a:endParaRPr sz="3000" dirty="0">
              <a:solidFill>
                <a:srgbClr val="FFFFFF"/>
              </a:solidFill>
            </a:endParaRPr>
          </a:p>
        </p:txBody>
      </p:sp>
      <p:sp>
        <p:nvSpPr>
          <p:cNvPr id="10" name="Shape">
            <a:extLst>
              <a:ext uri="{FF2B5EF4-FFF2-40B4-BE49-F238E27FC236}">
                <a16:creationId xmlns:a16="http://schemas.microsoft.com/office/drawing/2014/main" id="{3AD4726B-7A22-8656-B47A-AC302CB4792D}"/>
              </a:ext>
            </a:extLst>
          </p:cNvPr>
          <p:cNvSpPr/>
          <p:nvPr/>
        </p:nvSpPr>
        <p:spPr>
          <a:xfrm>
            <a:off x="1334341" y="1762214"/>
            <a:ext cx="3928132" cy="232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4" y="21583"/>
                </a:moveTo>
                <a:cubicBezTo>
                  <a:pt x="5408" y="21583"/>
                  <a:pt x="4462" y="21217"/>
                  <a:pt x="3588" y="20487"/>
                </a:cubicBezTo>
                <a:cubicBezTo>
                  <a:pt x="2642" y="19704"/>
                  <a:pt x="1809" y="18504"/>
                  <a:pt x="1193" y="17043"/>
                </a:cubicBezTo>
                <a:cubicBezTo>
                  <a:pt x="411" y="15200"/>
                  <a:pt x="0" y="13043"/>
                  <a:pt x="0" y="10783"/>
                </a:cubicBezTo>
                <a:cubicBezTo>
                  <a:pt x="0" y="8626"/>
                  <a:pt x="370" y="6557"/>
                  <a:pt x="1090" y="4765"/>
                </a:cubicBezTo>
                <a:cubicBezTo>
                  <a:pt x="1121" y="4765"/>
                  <a:pt x="1151" y="4783"/>
                  <a:pt x="1182" y="4783"/>
                </a:cubicBezTo>
                <a:cubicBezTo>
                  <a:pt x="1223" y="4800"/>
                  <a:pt x="1265" y="4800"/>
                  <a:pt x="1306" y="4817"/>
                </a:cubicBezTo>
                <a:cubicBezTo>
                  <a:pt x="1367" y="4835"/>
                  <a:pt x="1439" y="4870"/>
                  <a:pt x="1501" y="4904"/>
                </a:cubicBezTo>
                <a:cubicBezTo>
                  <a:pt x="1532" y="4922"/>
                  <a:pt x="1573" y="4939"/>
                  <a:pt x="1604" y="4957"/>
                </a:cubicBezTo>
                <a:cubicBezTo>
                  <a:pt x="1686" y="4991"/>
                  <a:pt x="1758" y="5043"/>
                  <a:pt x="1840" y="5096"/>
                </a:cubicBezTo>
                <a:cubicBezTo>
                  <a:pt x="1861" y="5113"/>
                  <a:pt x="1881" y="5113"/>
                  <a:pt x="1892" y="5130"/>
                </a:cubicBezTo>
                <a:cubicBezTo>
                  <a:pt x="1984" y="5200"/>
                  <a:pt x="2077" y="5270"/>
                  <a:pt x="2169" y="5357"/>
                </a:cubicBezTo>
                <a:cubicBezTo>
                  <a:pt x="2200" y="5374"/>
                  <a:pt x="2221" y="5409"/>
                  <a:pt x="2251" y="5426"/>
                </a:cubicBezTo>
                <a:cubicBezTo>
                  <a:pt x="2313" y="5478"/>
                  <a:pt x="2375" y="5548"/>
                  <a:pt x="2437" y="5617"/>
                </a:cubicBezTo>
                <a:cubicBezTo>
                  <a:pt x="2467" y="5652"/>
                  <a:pt x="2498" y="5687"/>
                  <a:pt x="2529" y="5722"/>
                </a:cubicBezTo>
                <a:cubicBezTo>
                  <a:pt x="2580" y="5791"/>
                  <a:pt x="2642" y="5843"/>
                  <a:pt x="2694" y="5913"/>
                </a:cubicBezTo>
                <a:cubicBezTo>
                  <a:pt x="2724" y="5948"/>
                  <a:pt x="2755" y="6000"/>
                  <a:pt x="2786" y="6035"/>
                </a:cubicBezTo>
                <a:cubicBezTo>
                  <a:pt x="2837" y="6104"/>
                  <a:pt x="2889" y="6174"/>
                  <a:pt x="2940" y="6261"/>
                </a:cubicBezTo>
                <a:cubicBezTo>
                  <a:pt x="2971" y="6296"/>
                  <a:pt x="3002" y="6348"/>
                  <a:pt x="3023" y="6400"/>
                </a:cubicBezTo>
                <a:cubicBezTo>
                  <a:pt x="3033" y="6417"/>
                  <a:pt x="3043" y="6435"/>
                  <a:pt x="3053" y="6452"/>
                </a:cubicBezTo>
                <a:cubicBezTo>
                  <a:pt x="2488" y="7687"/>
                  <a:pt x="2180" y="9217"/>
                  <a:pt x="2180" y="10783"/>
                </a:cubicBezTo>
                <a:cubicBezTo>
                  <a:pt x="2180" y="12348"/>
                  <a:pt x="2498" y="13878"/>
                  <a:pt x="3064" y="15113"/>
                </a:cubicBezTo>
                <a:lnTo>
                  <a:pt x="3053" y="15130"/>
                </a:lnTo>
                <a:lnTo>
                  <a:pt x="3228" y="15461"/>
                </a:lnTo>
                <a:cubicBezTo>
                  <a:pt x="3403" y="15791"/>
                  <a:pt x="3598" y="16104"/>
                  <a:pt x="3804" y="16383"/>
                </a:cubicBezTo>
                <a:cubicBezTo>
                  <a:pt x="4421" y="17200"/>
                  <a:pt x="5151" y="17704"/>
                  <a:pt x="5932" y="17844"/>
                </a:cubicBezTo>
                <a:lnTo>
                  <a:pt x="6107" y="17878"/>
                </a:lnTo>
                <a:lnTo>
                  <a:pt x="6107" y="17878"/>
                </a:lnTo>
                <a:cubicBezTo>
                  <a:pt x="6199" y="17896"/>
                  <a:pt x="6292" y="17896"/>
                  <a:pt x="6374" y="17896"/>
                </a:cubicBezTo>
                <a:lnTo>
                  <a:pt x="15205" y="17896"/>
                </a:lnTo>
                <a:cubicBezTo>
                  <a:pt x="15298" y="17896"/>
                  <a:pt x="15380" y="17896"/>
                  <a:pt x="15473" y="17878"/>
                </a:cubicBezTo>
                <a:cubicBezTo>
                  <a:pt x="15514" y="17965"/>
                  <a:pt x="15555" y="18052"/>
                  <a:pt x="15586" y="18122"/>
                </a:cubicBezTo>
                <a:cubicBezTo>
                  <a:pt x="15606" y="18174"/>
                  <a:pt x="15627" y="18209"/>
                  <a:pt x="15647" y="18261"/>
                </a:cubicBezTo>
                <a:cubicBezTo>
                  <a:pt x="15730" y="18435"/>
                  <a:pt x="15812" y="18609"/>
                  <a:pt x="15904" y="18765"/>
                </a:cubicBezTo>
                <a:cubicBezTo>
                  <a:pt x="15915" y="18800"/>
                  <a:pt x="15935" y="18817"/>
                  <a:pt x="15956" y="18852"/>
                </a:cubicBezTo>
                <a:cubicBezTo>
                  <a:pt x="16028" y="18991"/>
                  <a:pt x="16110" y="19113"/>
                  <a:pt x="16182" y="19252"/>
                </a:cubicBezTo>
                <a:cubicBezTo>
                  <a:pt x="16213" y="19304"/>
                  <a:pt x="16244" y="19357"/>
                  <a:pt x="16275" y="19391"/>
                </a:cubicBezTo>
                <a:cubicBezTo>
                  <a:pt x="16347" y="19496"/>
                  <a:pt x="16408" y="19600"/>
                  <a:pt x="16480" y="19704"/>
                </a:cubicBezTo>
                <a:cubicBezTo>
                  <a:pt x="16511" y="19757"/>
                  <a:pt x="16542" y="19791"/>
                  <a:pt x="16573" y="19844"/>
                </a:cubicBezTo>
                <a:cubicBezTo>
                  <a:pt x="16665" y="19983"/>
                  <a:pt x="16758" y="20104"/>
                  <a:pt x="16861" y="20226"/>
                </a:cubicBezTo>
                <a:cubicBezTo>
                  <a:pt x="16871" y="20244"/>
                  <a:pt x="16871" y="20244"/>
                  <a:pt x="16881" y="20261"/>
                </a:cubicBezTo>
                <a:cubicBezTo>
                  <a:pt x="16984" y="20400"/>
                  <a:pt x="17097" y="20522"/>
                  <a:pt x="17200" y="20643"/>
                </a:cubicBezTo>
                <a:cubicBezTo>
                  <a:pt x="17231" y="20678"/>
                  <a:pt x="17262" y="20713"/>
                  <a:pt x="17292" y="20748"/>
                </a:cubicBezTo>
                <a:cubicBezTo>
                  <a:pt x="17344" y="20800"/>
                  <a:pt x="17385" y="20852"/>
                  <a:pt x="17436" y="20904"/>
                </a:cubicBezTo>
                <a:cubicBezTo>
                  <a:pt x="16717" y="21357"/>
                  <a:pt x="15966" y="21600"/>
                  <a:pt x="15185" y="21600"/>
                </a:cubicBezTo>
                <a:lnTo>
                  <a:pt x="6384" y="21600"/>
                </a:lnTo>
                <a:close/>
                <a:moveTo>
                  <a:pt x="6384" y="3687"/>
                </a:moveTo>
                <a:lnTo>
                  <a:pt x="15216" y="3687"/>
                </a:lnTo>
                <a:cubicBezTo>
                  <a:pt x="15308" y="3687"/>
                  <a:pt x="15390" y="3687"/>
                  <a:pt x="15483" y="3704"/>
                </a:cubicBezTo>
                <a:lnTo>
                  <a:pt x="15483" y="3704"/>
                </a:lnTo>
                <a:lnTo>
                  <a:pt x="15658" y="3739"/>
                </a:lnTo>
                <a:cubicBezTo>
                  <a:pt x="16439" y="3878"/>
                  <a:pt x="17179" y="4383"/>
                  <a:pt x="17786" y="5200"/>
                </a:cubicBezTo>
                <a:cubicBezTo>
                  <a:pt x="17991" y="5478"/>
                  <a:pt x="18187" y="5774"/>
                  <a:pt x="18362" y="6122"/>
                </a:cubicBezTo>
                <a:lnTo>
                  <a:pt x="18536" y="6452"/>
                </a:lnTo>
                <a:lnTo>
                  <a:pt x="18526" y="6470"/>
                </a:lnTo>
                <a:cubicBezTo>
                  <a:pt x="19092" y="7722"/>
                  <a:pt x="19410" y="9235"/>
                  <a:pt x="19410" y="10800"/>
                </a:cubicBezTo>
                <a:cubicBezTo>
                  <a:pt x="19410" y="12365"/>
                  <a:pt x="19102" y="13878"/>
                  <a:pt x="18536" y="15130"/>
                </a:cubicBezTo>
                <a:cubicBezTo>
                  <a:pt x="18547" y="15148"/>
                  <a:pt x="18557" y="15165"/>
                  <a:pt x="18567" y="15183"/>
                </a:cubicBezTo>
                <a:cubicBezTo>
                  <a:pt x="18598" y="15235"/>
                  <a:pt x="18619" y="15270"/>
                  <a:pt x="18649" y="15304"/>
                </a:cubicBezTo>
                <a:cubicBezTo>
                  <a:pt x="18701" y="15374"/>
                  <a:pt x="18752" y="15461"/>
                  <a:pt x="18804" y="15530"/>
                </a:cubicBezTo>
                <a:cubicBezTo>
                  <a:pt x="18835" y="15565"/>
                  <a:pt x="18865" y="15617"/>
                  <a:pt x="18896" y="15652"/>
                </a:cubicBezTo>
                <a:cubicBezTo>
                  <a:pt x="18948" y="15722"/>
                  <a:pt x="19009" y="15791"/>
                  <a:pt x="19061" y="15861"/>
                </a:cubicBezTo>
                <a:cubicBezTo>
                  <a:pt x="19092" y="15896"/>
                  <a:pt x="19122" y="15930"/>
                  <a:pt x="19153" y="15965"/>
                </a:cubicBezTo>
                <a:cubicBezTo>
                  <a:pt x="19215" y="16035"/>
                  <a:pt x="19287" y="16104"/>
                  <a:pt x="19349" y="16157"/>
                </a:cubicBezTo>
                <a:cubicBezTo>
                  <a:pt x="19369" y="16174"/>
                  <a:pt x="19400" y="16209"/>
                  <a:pt x="19420" y="16226"/>
                </a:cubicBezTo>
                <a:cubicBezTo>
                  <a:pt x="19513" y="16313"/>
                  <a:pt x="19606" y="16383"/>
                  <a:pt x="19698" y="16452"/>
                </a:cubicBezTo>
                <a:cubicBezTo>
                  <a:pt x="19708" y="16470"/>
                  <a:pt x="19729" y="16470"/>
                  <a:pt x="19749" y="16487"/>
                </a:cubicBezTo>
                <a:cubicBezTo>
                  <a:pt x="19832" y="16539"/>
                  <a:pt x="19914" y="16591"/>
                  <a:pt x="19996" y="16626"/>
                </a:cubicBezTo>
                <a:cubicBezTo>
                  <a:pt x="20027" y="16644"/>
                  <a:pt x="20068" y="16661"/>
                  <a:pt x="20099" y="16678"/>
                </a:cubicBezTo>
                <a:cubicBezTo>
                  <a:pt x="20161" y="16713"/>
                  <a:pt x="20233" y="16730"/>
                  <a:pt x="20294" y="16765"/>
                </a:cubicBezTo>
                <a:cubicBezTo>
                  <a:pt x="20335" y="16783"/>
                  <a:pt x="20377" y="16800"/>
                  <a:pt x="20418" y="16800"/>
                </a:cubicBezTo>
                <a:cubicBezTo>
                  <a:pt x="20449" y="16817"/>
                  <a:pt x="20479" y="16817"/>
                  <a:pt x="20510" y="16817"/>
                </a:cubicBezTo>
                <a:cubicBezTo>
                  <a:pt x="21220" y="15026"/>
                  <a:pt x="21600" y="12957"/>
                  <a:pt x="21600" y="10800"/>
                </a:cubicBezTo>
                <a:cubicBezTo>
                  <a:pt x="21600" y="8539"/>
                  <a:pt x="21189" y="6383"/>
                  <a:pt x="20407" y="4539"/>
                </a:cubicBezTo>
                <a:cubicBezTo>
                  <a:pt x="19791" y="3078"/>
                  <a:pt x="18958" y="1878"/>
                  <a:pt x="18012" y="1096"/>
                </a:cubicBezTo>
                <a:cubicBezTo>
                  <a:pt x="17138" y="365"/>
                  <a:pt x="16192" y="0"/>
                  <a:pt x="15216" y="0"/>
                </a:cubicBezTo>
                <a:lnTo>
                  <a:pt x="6384" y="0"/>
                </a:lnTo>
                <a:cubicBezTo>
                  <a:pt x="5603" y="0"/>
                  <a:pt x="4853" y="226"/>
                  <a:pt x="4133" y="696"/>
                </a:cubicBezTo>
                <a:cubicBezTo>
                  <a:pt x="4174" y="748"/>
                  <a:pt x="4225" y="800"/>
                  <a:pt x="4267" y="835"/>
                </a:cubicBezTo>
                <a:cubicBezTo>
                  <a:pt x="4297" y="870"/>
                  <a:pt x="4338" y="904"/>
                  <a:pt x="4369" y="957"/>
                </a:cubicBezTo>
                <a:cubicBezTo>
                  <a:pt x="4472" y="1078"/>
                  <a:pt x="4585" y="1200"/>
                  <a:pt x="4688" y="1339"/>
                </a:cubicBezTo>
                <a:cubicBezTo>
                  <a:pt x="4698" y="1357"/>
                  <a:pt x="4709" y="1357"/>
                  <a:pt x="4719" y="1374"/>
                </a:cubicBezTo>
                <a:cubicBezTo>
                  <a:pt x="4811" y="1496"/>
                  <a:pt x="4904" y="1617"/>
                  <a:pt x="4996" y="1756"/>
                </a:cubicBezTo>
                <a:cubicBezTo>
                  <a:pt x="5027" y="1809"/>
                  <a:pt x="5058" y="1843"/>
                  <a:pt x="5089" y="1896"/>
                </a:cubicBezTo>
                <a:cubicBezTo>
                  <a:pt x="5161" y="2000"/>
                  <a:pt x="5233" y="2104"/>
                  <a:pt x="5295" y="2209"/>
                </a:cubicBezTo>
                <a:cubicBezTo>
                  <a:pt x="5325" y="2261"/>
                  <a:pt x="5356" y="2313"/>
                  <a:pt x="5387" y="2348"/>
                </a:cubicBezTo>
                <a:cubicBezTo>
                  <a:pt x="5469" y="2470"/>
                  <a:pt x="5541" y="2609"/>
                  <a:pt x="5613" y="2748"/>
                </a:cubicBezTo>
                <a:cubicBezTo>
                  <a:pt x="5624" y="2783"/>
                  <a:pt x="5644" y="2800"/>
                  <a:pt x="5665" y="2835"/>
                </a:cubicBezTo>
                <a:cubicBezTo>
                  <a:pt x="5757" y="2991"/>
                  <a:pt x="5839" y="3165"/>
                  <a:pt x="5922" y="3339"/>
                </a:cubicBezTo>
                <a:cubicBezTo>
                  <a:pt x="5942" y="3391"/>
                  <a:pt x="5963" y="3426"/>
                  <a:pt x="5983" y="3478"/>
                </a:cubicBezTo>
                <a:cubicBezTo>
                  <a:pt x="6025" y="3565"/>
                  <a:pt x="6066" y="3652"/>
                  <a:pt x="6097" y="3722"/>
                </a:cubicBezTo>
                <a:cubicBezTo>
                  <a:pt x="6210" y="3687"/>
                  <a:pt x="6302" y="3687"/>
                  <a:pt x="6384" y="368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Shape">
            <a:extLst>
              <a:ext uri="{FF2B5EF4-FFF2-40B4-BE49-F238E27FC236}">
                <a16:creationId xmlns:a16="http://schemas.microsoft.com/office/drawing/2014/main" id="{09AEC404-206C-A091-5AFB-AB29FFB1203D}"/>
              </a:ext>
            </a:extLst>
          </p:cNvPr>
          <p:cNvSpPr/>
          <p:nvPr/>
        </p:nvSpPr>
        <p:spPr>
          <a:xfrm>
            <a:off x="6681543" y="1762217"/>
            <a:ext cx="3926289" cy="23221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490" y="17878"/>
                </a:moveTo>
                <a:cubicBezTo>
                  <a:pt x="15531" y="17965"/>
                  <a:pt x="15573" y="18052"/>
                  <a:pt x="15603" y="18122"/>
                </a:cubicBezTo>
                <a:cubicBezTo>
                  <a:pt x="15624" y="18174"/>
                  <a:pt x="15645" y="18209"/>
                  <a:pt x="15665" y="18261"/>
                </a:cubicBezTo>
                <a:cubicBezTo>
                  <a:pt x="15747" y="18435"/>
                  <a:pt x="15840" y="18609"/>
                  <a:pt x="15922" y="18765"/>
                </a:cubicBezTo>
                <a:cubicBezTo>
                  <a:pt x="15933" y="18783"/>
                  <a:pt x="15953" y="18817"/>
                  <a:pt x="15963" y="18835"/>
                </a:cubicBezTo>
                <a:cubicBezTo>
                  <a:pt x="16035" y="18974"/>
                  <a:pt x="16118" y="19113"/>
                  <a:pt x="16200" y="19235"/>
                </a:cubicBezTo>
                <a:cubicBezTo>
                  <a:pt x="16231" y="19287"/>
                  <a:pt x="16262" y="19322"/>
                  <a:pt x="16293" y="19374"/>
                </a:cubicBezTo>
                <a:cubicBezTo>
                  <a:pt x="16365" y="19478"/>
                  <a:pt x="16437" y="19600"/>
                  <a:pt x="16509" y="19704"/>
                </a:cubicBezTo>
                <a:cubicBezTo>
                  <a:pt x="16539" y="19757"/>
                  <a:pt x="16570" y="19791"/>
                  <a:pt x="16601" y="19844"/>
                </a:cubicBezTo>
                <a:cubicBezTo>
                  <a:pt x="16694" y="19983"/>
                  <a:pt x="16786" y="20104"/>
                  <a:pt x="16889" y="20226"/>
                </a:cubicBezTo>
                <a:cubicBezTo>
                  <a:pt x="16899" y="20244"/>
                  <a:pt x="16899" y="20244"/>
                  <a:pt x="16910" y="20261"/>
                </a:cubicBezTo>
                <a:cubicBezTo>
                  <a:pt x="17013" y="20400"/>
                  <a:pt x="17126" y="20522"/>
                  <a:pt x="17229" y="20643"/>
                </a:cubicBezTo>
                <a:cubicBezTo>
                  <a:pt x="17259" y="20678"/>
                  <a:pt x="17301" y="20713"/>
                  <a:pt x="17331" y="20748"/>
                </a:cubicBezTo>
                <a:cubicBezTo>
                  <a:pt x="17373" y="20800"/>
                  <a:pt x="17424" y="20852"/>
                  <a:pt x="17465" y="20904"/>
                </a:cubicBezTo>
                <a:cubicBezTo>
                  <a:pt x="16745" y="21357"/>
                  <a:pt x="15994" y="21600"/>
                  <a:pt x="15213" y="21600"/>
                </a:cubicBezTo>
                <a:lnTo>
                  <a:pt x="6387" y="21600"/>
                </a:lnTo>
                <a:cubicBezTo>
                  <a:pt x="5410" y="21600"/>
                  <a:pt x="4464" y="21235"/>
                  <a:pt x="3590" y="20504"/>
                </a:cubicBezTo>
                <a:cubicBezTo>
                  <a:pt x="3353" y="20313"/>
                  <a:pt x="3117" y="20087"/>
                  <a:pt x="2901" y="19843"/>
                </a:cubicBezTo>
                <a:cubicBezTo>
                  <a:pt x="2232" y="19113"/>
                  <a:pt x="1656" y="18157"/>
                  <a:pt x="1193" y="17061"/>
                </a:cubicBezTo>
                <a:cubicBezTo>
                  <a:pt x="411" y="15217"/>
                  <a:pt x="0" y="13061"/>
                  <a:pt x="0" y="10800"/>
                </a:cubicBezTo>
                <a:cubicBezTo>
                  <a:pt x="0" y="8643"/>
                  <a:pt x="370" y="6574"/>
                  <a:pt x="1090" y="4783"/>
                </a:cubicBezTo>
                <a:cubicBezTo>
                  <a:pt x="1121" y="4783"/>
                  <a:pt x="1152" y="4800"/>
                  <a:pt x="1183" y="4800"/>
                </a:cubicBezTo>
                <a:cubicBezTo>
                  <a:pt x="1224" y="4817"/>
                  <a:pt x="1265" y="4817"/>
                  <a:pt x="1306" y="4835"/>
                </a:cubicBezTo>
                <a:cubicBezTo>
                  <a:pt x="1368" y="4852"/>
                  <a:pt x="1440" y="4887"/>
                  <a:pt x="1502" y="4922"/>
                </a:cubicBezTo>
                <a:cubicBezTo>
                  <a:pt x="1533" y="4939"/>
                  <a:pt x="1574" y="4956"/>
                  <a:pt x="1605" y="4974"/>
                </a:cubicBezTo>
                <a:cubicBezTo>
                  <a:pt x="1687" y="5009"/>
                  <a:pt x="1769" y="5061"/>
                  <a:pt x="1841" y="5113"/>
                </a:cubicBezTo>
                <a:cubicBezTo>
                  <a:pt x="1862" y="5130"/>
                  <a:pt x="1872" y="5130"/>
                  <a:pt x="1893" y="5148"/>
                </a:cubicBezTo>
                <a:cubicBezTo>
                  <a:pt x="1985" y="5217"/>
                  <a:pt x="2078" y="5287"/>
                  <a:pt x="2170" y="5374"/>
                </a:cubicBezTo>
                <a:cubicBezTo>
                  <a:pt x="2201" y="5391"/>
                  <a:pt x="2222" y="5426"/>
                  <a:pt x="2253" y="5443"/>
                </a:cubicBezTo>
                <a:cubicBezTo>
                  <a:pt x="2314" y="5496"/>
                  <a:pt x="2376" y="5565"/>
                  <a:pt x="2448" y="5635"/>
                </a:cubicBezTo>
                <a:cubicBezTo>
                  <a:pt x="2479" y="5670"/>
                  <a:pt x="2510" y="5704"/>
                  <a:pt x="2541" y="5739"/>
                </a:cubicBezTo>
                <a:cubicBezTo>
                  <a:pt x="2592" y="5809"/>
                  <a:pt x="2654" y="5861"/>
                  <a:pt x="2705" y="5930"/>
                </a:cubicBezTo>
                <a:cubicBezTo>
                  <a:pt x="2736" y="5965"/>
                  <a:pt x="2767" y="6017"/>
                  <a:pt x="2798" y="6052"/>
                </a:cubicBezTo>
                <a:cubicBezTo>
                  <a:pt x="2849" y="6122"/>
                  <a:pt x="2901" y="6191"/>
                  <a:pt x="2952" y="6278"/>
                </a:cubicBezTo>
                <a:cubicBezTo>
                  <a:pt x="2983" y="6313"/>
                  <a:pt x="3014" y="6365"/>
                  <a:pt x="3034" y="6417"/>
                </a:cubicBezTo>
                <a:cubicBezTo>
                  <a:pt x="3045" y="6435"/>
                  <a:pt x="3055" y="6452"/>
                  <a:pt x="3065" y="6470"/>
                </a:cubicBezTo>
                <a:cubicBezTo>
                  <a:pt x="2499" y="7704"/>
                  <a:pt x="2191" y="9235"/>
                  <a:pt x="2191" y="10800"/>
                </a:cubicBezTo>
                <a:cubicBezTo>
                  <a:pt x="2191" y="12365"/>
                  <a:pt x="2510" y="13896"/>
                  <a:pt x="3075" y="15130"/>
                </a:cubicBezTo>
                <a:lnTo>
                  <a:pt x="3065" y="15148"/>
                </a:lnTo>
                <a:lnTo>
                  <a:pt x="3240" y="15478"/>
                </a:lnTo>
                <a:cubicBezTo>
                  <a:pt x="3415" y="15809"/>
                  <a:pt x="3610" y="16122"/>
                  <a:pt x="3816" y="16400"/>
                </a:cubicBezTo>
                <a:cubicBezTo>
                  <a:pt x="4433" y="17217"/>
                  <a:pt x="5163" y="17722"/>
                  <a:pt x="5945" y="17861"/>
                </a:cubicBezTo>
                <a:lnTo>
                  <a:pt x="6120" y="17896"/>
                </a:lnTo>
                <a:lnTo>
                  <a:pt x="6120" y="17896"/>
                </a:lnTo>
                <a:cubicBezTo>
                  <a:pt x="6213" y="17913"/>
                  <a:pt x="6305" y="17913"/>
                  <a:pt x="6387" y="17913"/>
                </a:cubicBezTo>
                <a:lnTo>
                  <a:pt x="15223" y="17913"/>
                </a:lnTo>
                <a:cubicBezTo>
                  <a:pt x="15315" y="17896"/>
                  <a:pt x="15398" y="17896"/>
                  <a:pt x="15490" y="17878"/>
                </a:cubicBezTo>
                <a:close/>
                <a:moveTo>
                  <a:pt x="6387" y="3704"/>
                </a:moveTo>
                <a:lnTo>
                  <a:pt x="15223" y="3704"/>
                </a:lnTo>
                <a:cubicBezTo>
                  <a:pt x="15305" y="3704"/>
                  <a:pt x="15398" y="3704"/>
                  <a:pt x="15490" y="3722"/>
                </a:cubicBezTo>
                <a:lnTo>
                  <a:pt x="15490" y="3722"/>
                </a:lnTo>
                <a:lnTo>
                  <a:pt x="15665" y="3757"/>
                </a:lnTo>
                <a:cubicBezTo>
                  <a:pt x="16447" y="3896"/>
                  <a:pt x="17187" y="4400"/>
                  <a:pt x="17794" y="5217"/>
                </a:cubicBezTo>
                <a:cubicBezTo>
                  <a:pt x="18000" y="5496"/>
                  <a:pt x="18195" y="5791"/>
                  <a:pt x="18370" y="6139"/>
                </a:cubicBezTo>
                <a:lnTo>
                  <a:pt x="18545" y="6470"/>
                </a:lnTo>
                <a:lnTo>
                  <a:pt x="18535" y="6487"/>
                </a:lnTo>
                <a:cubicBezTo>
                  <a:pt x="19101" y="7739"/>
                  <a:pt x="19419" y="9252"/>
                  <a:pt x="19419" y="10817"/>
                </a:cubicBezTo>
                <a:cubicBezTo>
                  <a:pt x="19419" y="12383"/>
                  <a:pt x="19111" y="13896"/>
                  <a:pt x="18545" y="15148"/>
                </a:cubicBezTo>
                <a:cubicBezTo>
                  <a:pt x="18555" y="15165"/>
                  <a:pt x="18566" y="15183"/>
                  <a:pt x="18576" y="15200"/>
                </a:cubicBezTo>
                <a:cubicBezTo>
                  <a:pt x="18607" y="15252"/>
                  <a:pt x="18627" y="15287"/>
                  <a:pt x="18658" y="15322"/>
                </a:cubicBezTo>
                <a:cubicBezTo>
                  <a:pt x="18710" y="15391"/>
                  <a:pt x="18761" y="15478"/>
                  <a:pt x="18813" y="15548"/>
                </a:cubicBezTo>
                <a:cubicBezTo>
                  <a:pt x="18843" y="15583"/>
                  <a:pt x="18874" y="15635"/>
                  <a:pt x="18905" y="15670"/>
                </a:cubicBezTo>
                <a:cubicBezTo>
                  <a:pt x="18957" y="15739"/>
                  <a:pt x="19018" y="15809"/>
                  <a:pt x="19070" y="15861"/>
                </a:cubicBezTo>
                <a:cubicBezTo>
                  <a:pt x="19101" y="15896"/>
                  <a:pt x="19131" y="15930"/>
                  <a:pt x="19162" y="15965"/>
                </a:cubicBezTo>
                <a:cubicBezTo>
                  <a:pt x="19224" y="16035"/>
                  <a:pt x="19296" y="16104"/>
                  <a:pt x="19358" y="16157"/>
                </a:cubicBezTo>
                <a:cubicBezTo>
                  <a:pt x="19378" y="16174"/>
                  <a:pt x="19409" y="16209"/>
                  <a:pt x="19430" y="16226"/>
                </a:cubicBezTo>
                <a:cubicBezTo>
                  <a:pt x="19522" y="16313"/>
                  <a:pt x="19615" y="16383"/>
                  <a:pt x="19707" y="16452"/>
                </a:cubicBezTo>
                <a:cubicBezTo>
                  <a:pt x="19728" y="16470"/>
                  <a:pt x="19738" y="16470"/>
                  <a:pt x="19759" y="16487"/>
                </a:cubicBezTo>
                <a:cubicBezTo>
                  <a:pt x="19841" y="16539"/>
                  <a:pt x="19923" y="16591"/>
                  <a:pt x="19995" y="16626"/>
                </a:cubicBezTo>
                <a:cubicBezTo>
                  <a:pt x="20026" y="16644"/>
                  <a:pt x="20067" y="16661"/>
                  <a:pt x="20098" y="16678"/>
                </a:cubicBezTo>
                <a:cubicBezTo>
                  <a:pt x="20160" y="16713"/>
                  <a:pt x="20232" y="16731"/>
                  <a:pt x="20294" y="16765"/>
                </a:cubicBezTo>
                <a:cubicBezTo>
                  <a:pt x="20335" y="16783"/>
                  <a:pt x="20376" y="16800"/>
                  <a:pt x="20417" y="16800"/>
                </a:cubicBezTo>
                <a:cubicBezTo>
                  <a:pt x="20448" y="16817"/>
                  <a:pt x="20479" y="16817"/>
                  <a:pt x="20510" y="16817"/>
                </a:cubicBezTo>
                <a:cubicBezTo>
                  <a:pt x="21219" y="15026"/>
                  <a:pt x="21600" y="12957"/>
                  <a:pt x="21600" y="10800"/>
                </a:cubicBezTo>
                <a:cubicBezTo>
                  <a:pt x="21600" y="8539"/>
                  <a:pt x="21189" y="6383"/>
                  <a:pt x="20407" y="4539"/>
                </a:cubicBezTo>
                <a:cubicBezTo>
                  <a:pt x="19790" y="3078"/>
                  <a:pt x="18957" y="1878"/>
                  <a:pt x="18010" y="1096"/>
                </a:cubicBezTo>
                <a:cubicBezTo>
                  <a:pt x="17136" y="365"/>
                  <a:pt x="16190" y="0"/>
                  <a:pt x="15213" y="0"/>
                </a:cubicBezTo>
                <a:lnTo>
                  <a:pt x="6387" y="0"/>
                </a:lnTo>
                <a:cubicBezTo>
                  <a:pt x="5606" y="0"/>
                  <a:pt x="4855" y="226"/>
                  <a:pt x="4135" y="696"/>
                </a:cubicBezTo>
                <a:cubicBezTo>
                  <a:pt x="4186" y="748"/>
                  <a:pt x="4227" y="800"/>
                  <a:pt x="4279" y="852"/>
                </a:cubicBezTo>
                <a:cubicBezTo>
                  <a:pt x="4310" y="887"/>
                  <a:pt x="4341" y="922"/>
                  <a:pt x="4371" y="957"/>
                </a:cubicBezTo>
                <a:cubicBezTo>
                  <a:pt x="4485" y="1078"/>
                  <a:pt x="4587" y="1200"/>
                  <a:pt x="4690" y="1339"/>
                </a:cubicBezTo>
                <a:cubicBezTo>
                  <a:pt x="4701" y="1357"/>
                  <a:pt x="4701" y="1357"/>
                  <a:pt x="4711" y="1374"/>
                </a:cubicBezTo>
                <a:cubicBezTo>
                  <a:pt x="4803" y="1496"/>
                  <a:pt x="4906" y="1635"/>
                  <a:pt x="4999" y="1757"/>
                </a:cubicBezTo>
                <a:cubicBezTo>
                  <a:pt x="5030" y="1809"/>
                  <a:pt x="5061" y="1843"/>
                  <a:pt x="5091" y="1896"/>
                </a:cubicBezTo>
                <a:cubicBezTo>
                  <a:pt x="5163" y="2000"/>
                  <a:pt x="5235" y="2104"/>
                  <a:pt x="5297" y="2209"/>
                </a:cubicBezTo>
                <a:cubicBezTo>
                  <a:pt x="5328" y="2261"/>
                  <a:pt x="5359" y="2313"/>
                  <a:pt x="5390" y="2348"/>
                </a:cubicBezTo>
                <a:cubicBezTo>
                  <a:pt x="5472" y="2470"/>
                  <a:pt x="5544" y="2609"/>
                  <a:pt x="5616" y="2748"/>
                </a:cubicBezTo>
                <a:cubicBezTo>
                  <a:pt x="5626" y="2783"/>
                  <a:pt x="5647" y="2800"/>
                  <a:pt x="5657" y="2835"/>
                </a:cubicBezTo>
                <a:cubicBezTo>
                  <a:pt x="5750" y="2991"/>
                  <a:pt x="5832" y="3165"/>
                  <a:pt x="5914" y="3339"/>
                </a:cubicBezTo>
                <a:cubicBezTo>
                  <a:pt x="5935" y="3391"/>
                  <a:pt x="5955" y="3426"/>
                  <a:pt x="5976" y="3478"/>
                </a:cubicBezTo>
                <a:cubicBezTo>
                  <a:pt x="6017" y="3565"/>
                  <a:pt x="6058" y="3652"/>
                  <a:pt x="6099" y="3739"/>
                </a:cubicBezTo>
                <a:cubicBezTo>
                  <a:pt x="6202" y="3704"/>
                  <a:pt x="6295" y="3704"/>
                  <a:pt x="6387" y="3704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Shape">
            <a:extLst>
              <a:ext uri="{FF2B5EF4-FFF2-40B4-BE49-F238E27FC236}">
                <a16:creationId xmlns:a16="http://schemas.microsoft.com/office/drawing/2014/main" id="{E9422ADF-77B7-B94D-5C26-38F511E3A88E}"/>
              </a:ext>
            </a:extLst>
          </p:cNvPr>
          <p:cNvSpPr/>
          <p:nvPr/>
        </p:nvSpPr>
        <p:spPr>
          <a:xfrm>
            <a:off x="4007943" y="1762214"/>
            <a:ext cx="3928127" cy="232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107" y="3722"/>
                </a:moveTo>
                <a:cubicBezTo>
                  <a:pt x="6066" y="3635"/>
                  <a:pt x="6025" y="3548"/>
                  <a:pt x="5994" y="3478"/>
                </a:cubicBezTo>
                <a:cubicBezTo>
                  <a:pt x="5973" y="3426"/>
                  <a:pt x="5953" y="3374"/>
                  <a:pt x="5932" y="3339"/>
                </a:cubicBezTo>
                <a:cubicBezTo>
                  <a:pt x="5850" y="3165"/>
                  <a:pt x="5767" y="2991"/>
                  <a:pt x="5675" y="2835"/>
                </a:cubicBezTo>
                <a:cubicBezTo>
                  <a:pt x="5665" y="2800"/>
                  <a:pt x="5644" y="2783"/>
                  <a:pt x="5624" y="2748"/>
                </a:cubicBezTo>
                <a:cubicBezTo>
                  <a:pt x="5552" y="2609"/>
                  <a:pt x="5469" y="2487"/>
                  <a:pt x="5397" y="2348"/>
                </a:cubicBezTo>
                <a:cubicBezTo>
                  <a:pt x="5367" y="2296"/>
                  <a:pt x="5336" y="2243"/>
                  <a:pt x="5305" y="2209"/>
                </a:cubicBezTo>
                <a:cubicBezTo>
                  <a:pt x="5233" y="2104"/>
                  <a:pt x="5171" y="2000"/>
                  <a:pt x="5099" y="1896"/>
                </a:cubicBezTo>
                <a:cubicBezTo>
                  <a:pt x="5068" y="1843"/>
                  <a:pt x="5038" y="1809"/>
                  <a:pt x="5007" y="1756"/>
                </a:cubicBezTo>
                <a:cubicBezTo>
                  <a:pt x="4914" y="1617"/>
                  <a:pt x="4822" y="1496"/>
                  <a:pt x="4719" y="1374"/>
                </a:cubicBezTo>
                <a:cubicBezTo>
                  <a:pt x="4709" y="1357"/>
                  <a:pt x="4709" y="1357"/>
                  <a:pt x="4698" y="1339"/>
                </a:cubicBezTo>
                <a:cubicBezTo>
                  <a:pt x="4596" y="1200"/>
                  <a:pt x="4482" y="1078"/>
                  <a:pt x="4380" y="957"/>
                </a:cubicBezTo>
                <a:cubicBezTo>
                  <a:pt x="4349" y="922"/>
                  <a:pt x="4318" y="887"/>
                  <a:pt x="4277" y="852"/>
                </a:cubicBezTo>
                <a:cubicBezTo>
                  <a:pt x="4225" y="800"/>
                  <a:pt x="4184" y="748"/>
                  <a:pt x="4133" y="696"/>
                </a:cubicBezTo>
                <a:cubicBezTo>
                  <a:pt x="4853" y="243"/>
                  <a:pt x="5603" y="0"/>
                  <a:pt x="6384" y="0"/>
                </a:cubicBezTo>
                <a:lnTo>
                  <a:pt x="15216" y="0"/>
                </a:lnTo>
                <a:cubicBezTo>
                  <a:pt x="16192" y="0"/>
                  <a:pt x="17138" y="365"/>
                  <a:pt x="18012" y="1096"/>
                </a:cubicBezTo>
                <a:cubicBezTo>
                  <a:pt x="18135" y="1200"/>
                  <a:pt x="18248" y="1304"/>
                  <a:pt x="18362" y="1409"/>
                </a:cubicBezTo>
                <a:cubicBezTo>
                  <a:pt x="19163" y="2191"/>
                  <a:pt x="19873" y="3252"/>
                  <a:pt x="20407" y="4539"/>
                </a:cubicBezTo>
                <a:cubicBezTo>
                  <a:pt x="21189" y="6383"/>
                  <a:pt x="21600" y="8539"/>
                  <a:pt x="21600" y="10800"/>
                </a:cubicBezTo>
                <a:cubicBezTo>
                  <a:pt x="21600" y="12957"/>
                  <a:pt x="21230" y="15026"/>
                  <a:pt x="20510" y="16817"/>
                </a:cubicBezTo>
                <a:cubicBezTo>
                  <a:pt x="20479" y="16817"/>
                  <a:pt x="20449" y="16800"/>
                  <a:pt x="20418" y="16800"/>
                </a:cubicBezTo>
                <a:cubicBezTo>
                  <a:pt x="20377" y="16783"/>
                  <a:pt x="20335" y="16783"/>
                  <a:pt x="20294" y="16765"/>
                </a:cubicBezTo>
                <a:cubicBezTo>
                  <a:pt x="20233" y="16748"/>
                  <a:pt x="20161" y="16713"/>
                  <a:pt x="20099" y="16678"/>
                </a:cubicBezTo>
                <a:cubicBezTo>
                  <a:pt x="20068" y="16661"/>
                  <a:pt x="20027" y="16644"/>
                  <a:pt x="19996" y="16626"/>
                </a:cubicBezTo>
                <a:cubicBezTo>
                  <a:pt x="19914" y="16591"/>
                  <a:pt x="19832" y="16539"/>
                  <a:pt x="19749" y="16487"/>
                </a:cubicBezTo>
                <a:cubicBezTo>
                  <a:pt x="19739" y="16470"/>
                  <a:pt x="19719" y="16470"/>
                  <a:pt x="19698" y="16452"/>
                </a:cubicBezTo>
                <a:cubicBezTo>
                  <a:pt x="19606" y="16383"/>
                  <a:pt x="19513" y="16313"/>
                  <a:pt x="19420" y="16226"/>
                </a:cubicBezTo>
                <a:cubicBezTo>
                  <a:pt x="19400" y="16209"/>
                  <a:pt x="19369" y="16174"/>
                  <a:pt x="19348" y="16157"/>
                </a:cubicBezTo>
                <a:cubicBezTo>
                  <a:pt x="19287" y="16087"/>
                  <a:pt x="19215" y="16035"/>
                  <a:pt x="19153" y="15965"/>
                </a:cubicBezTo>
                <a:cubicBezTo>
                  <a:pt x="19122" y="15930"/>
                  <a:pt x="19091" y="15896"/>
                  <a:pt x="19061" y="15861"/>
                </a:cubicBezTo>
                <a:cubicBezTo>
                  <a:pt x="19009" y="15791"/>
                  <a:pt x="18948" y="15739"/>
                  <a:pt x="18896" y="15670"/>
                </a:cubicBezTo>
                <a:cubicBezTo>
                  <a:pt x="18865" y="15635"/>
                  <a:pt x="18834" y="15583"/>
                  <a:pt x="18804" y="15548"/>
                </a:cubicBezTo>
                <a:cubicBezTo>
                  <a:pt x="18752" y="15478"/>
                  <a:pt x="18701" y="15409"/>
                  <a:pt x="18649" y="15322"/>
                </a:cubicBezTo>
                <a:cubicBezTo>
                  <a:pt x="18619" y="15287"/>
                  <a:pt x="18588" y="15235"/>
                  <a:pt x="18567" y="15183"/>
                </a:cubicBezTo>
                <a:cubicBezTo>
                  <a:pt x="18557" y="15165"/>
                  <a:pt x="18547" y="15148"/>
                  <a:pt x="18536" y="15130"/>
                </a:cubicBezTo>
                <a:cubicBezTo>
                  <a:pt x="19102" y="13896"/>
                  <a:pt x="19410" y="12365"/>
                  <a:pt x="19410" y="10800"/>
                </a:cubicBezTo>
                <a:cubicBezTo>
                  <a:pt x="19410" y="9235"/>
                  <a:pt x="19091" y="7704"/>
                  <a:pt x="18526" y="6470"/>
                </a:cubicBezTo>
                <a:lnTo>
                  <a:pt x="18536" y="6452"/>
                </a:lnTo>
                <a:lnTo>
                  <a:pt x="18362" y="6122"/>
                </a:lnTo>
                <a:cubicBezTo>
                  <a:pt x="18187" y="5791"/>
                  <a:pt x="17991" y="5478"/>
                  <a:pt x="17786" y="5200"/>
                </a:cubicBezTo>
                <a:cubicBezTo>
                  <a:pt x="17169" y="4383"/>
                  <a:pt x="16439" y="3878"/>
                  <a:pt x="15658" y="3739"/>
                </a:cubicBezTo>
                <a:lnTo>
                  <a:pt x="15483" y="3704"/>
                </a:lnTo>
                <a:lnTo>
                  <a:pt x="15483" y="3704"/>
                </a:lnTo>
                <a:cubicBezTo>
                  <a:pt x="15390" y="3687"/>
                  <a:pt x="15298" y="3687"/>
                  <a:pt x="15216" y="3687"/>
                </a:cubicBezTo>
                <a:lnTo>
                  <a:pt x="6384" y="3687"/>
                </a:lnTo>
                <a:cubicBezTo>
                  <a:pt x="6292" y="3722"/>
                  <a:pt x="6199" y="3722"/>
                  <a:pt x="6107" y="3722"/>
                </a:cubicBezTo>
                <a:close/>
                <a:moveTo>
                  <a:pt x="15216" y="17913"/>
                </a:moveTo>
                <a:lnTo>
                  <a:pt x="6384" y="17913"/>
                </a:lnTo>
                <a:cubicBezTo>
                  <a:pt x="6292" y="17913"/>
                  <a:pt x="6210" y="17913"/>
                  <a:pt x="6117" y="17896"/>
                </a:cubicBezTo>
                <a:lnTo>
                  <a:pt x="6117" y="17896"/>
                </a:lnTo>
                <a:lnTo>
                  <a:pt x="5942" y="17861"/>
                </a:lnTo>
                <a:cubicBezTo>
                  <a:pt x="5161" y="17722"/>
                  <a:pt x="4421" y="17217"/>
                  <a:pt x="3814" y="16400"/>
                </a:cubicBezTo>
                <a:cubicBezTo>
                  <a:pt x="3609" y="16122"/>
                  <a:pt x="3413" y="15826"/>
                  <a:pt x="3238" y="15478"/>
                </a:cubicBezTo>
                <a:lnTo>
                  <a:pt x="3064" y="15148"/>
                </a:lnTo>
                <a:lnTo>
                  <a:pt x="3074" y="15130"/>
                </a:lnTo>
                <a:cubicBezTo>
                  <a:pt x="2509" y="13896"/>
                  <a:pt x="2190" y="12365"/>
                  <a:pt x="2190" y="10800"/>
                </a:cubicBezTo>
                <a:cubicBezTo>
                  <a:pt x="2190" y="9235"/>
                  <a:pt x="2498" y="7722"/>
                  <a:pt x="3064" y="6470"/>
                </a:cubicBezTo>
                <a:cubicBezTo>
                  <a:pt x="3053" y="6452"/>
                  <a:pt x="3043" y="6435"/>
                  <a:pt x="3033" y="6417"/>
                </a:cubicBezTo>
                <a:cubicBezTo>
                  <a:pt x="3002" y="6365"/>
                  <a:pt x="2981" y="6330"/>
                  <a:pt x="2951" y="6278"/>
                </a:cubicBezTo>
                <a:cubicBezTo>
                  <a:pt x="2899" y="6209"/>
                  <a:pt x="2848" y="6122"/>
                  <a:pt x="2796" y="6052"/>
                </a:cubicBezTo>
                <a:cubicBezTo>
                  <a:pt x="2766" y="6017"/>
                  <a:pt x="2735" y="5965"/>
                  <a:pt x="2704" y="5930"/>
                </a:cubicBezTo>
                <a:cubicBezTo>
                  <a:pt x="2652" y="5861"/>
                  <a:pt x="2601" y="5791"/>
                  <a:pt x="2539" y="5739"/>
                </a:cubicBezTo>
                <a:cubicBezTo>
                  <a:pt x="2508" y="5704"/>
                  <a:pt x="2478" y="5670"/>
                  <a:pt x="2447" y="5635"/>
                </a:cubicBezTo>
                <a:cubicBezTo>
                  <a:pt x="2385" y="5565"/>
                  <a:pt x="2323" y="5513"/>
                  <a:pt x="2251" y="5443"/>
                </a:cubicBezTo>
                <a:cubicBezTo>
                  <a:pt x="2221" y="5426"/>
                  <a:pt x="2200" y="5391"/>
                  <a:pt x="2169" y="5374"/>
                </a:cubicBezTo>
                <a:cubicBezTo>
                  <a:pt x="2077" y="5287"/>
                  <a:pt x="1984" y="5217"/>
                  <a:pt x="1892" y="5148"/>
                </a:cubicBezTo>
                <a:cubicBezTo>
                  <a:pt x="1871" y="5130"/>
                  <a:pt x="1861" y="5130"/>
                  <a:pt x="1840" y="5113"/>
                </a:cubicBezTo>
                <a:cubicBezTo>
                  <a:pt x="1758" y="5061"/>
                  <a:pt x="1686" y="5009"/>
                  <a:pt x="1604" y="4974"/>
                </a:cubicBezTo>
                <a:cubicBezTo>
                  <a:pt x="1573" y="4956"/>
                  <a:pt x="1532" y="4939"/>
                  <a:pt x="1501" y="4922"/>
                </a:cubicBezTo>
                <a:cubicBezTo>
                  <a:pt x="1439" y="4887"/>
                  <a:pt x="1367" y="4870"/>
                  <a:pt x="1306" y="4835"/>
                </a:cubicBezTo>
                <a:cubicBezTo>
                  <a:pt x="1265" y="4817"/>
                  <a:pt x="1223" y="4800"/>
                  <a:pt x="1182" y="4800"/>
                </a:cubicBezTo>
                <a:cubicBezTo>
                  <a:pt x="1151" y="4783"/>
                  <a:pt x="1121" y="4783"/>
                  <a:pt x="1090" y="4783"/>
                </a:cubicBezTo>
                <a:cubicBezTo>
                  <a:pt x="380" y="6574"/>
                  <a:pt x="0" y="8643"/>
                  <a:pt x="0" y="10800"/>
                </a:cubicBezTo>
                <a:cubicBezTo>
                  <a:pt x="0" y="13061"/>
                  <a:pt x="411" y="15217"/>
                  <a:pt x="1193" y="17061"/>
                </a:cubicBezTo>
                <a:cubicBezTo>
                  <a:pt x="1809" y="18522"/>
                  <a:pt x="2642" y="19722"/>
                  <a:pt x="3588" y="20504"/>
                </a:cubicBezTo>
                <a:cubicBezTo>
                  <a:pt x="4462" y="21235"/>
                  <a:pt x="5408" y="21600"/>
                  <a:pt x="6384" y="21600"/>
                </a:cubicBezTo>
                <a:lnTo>
                  <a:pt x="15216" y="21600"/>
                </a:lnTo>
                <a:cubicBezTo>
                  <a:pt x="15997" y="21600"/>
                  <a:pt x="16748" y="21374"/>
                  <a:pt x="17467" y="20904"/>
                </a:cubicBezTo>
                <a:cubicBezTo>
                  <a:pt x="17416" y="20852"/>
                  <a:pt x="17375" y="20800"/>
                  <a:pt x="17323" y="20748"/>
                </a:cubicBezTo>
                <a:cubicBezTo>
                  <a:pt x="17292" y="20713"/>
                  <a:pt x="17262" y="20678"/>
                  <a:pt x="17220" y="20643"/>
                </a:cubicBezTo>
                <a:cubicBezTo>
                  <a:pt x="17107" y="20522"/>
                  <a:pt x="17005" y="20400"/>
                  <a:pt x="16902" y="20261"/>
                </a:cubicBezTo>
                <a:cubicBezTo>
                  <a:pt x="16891" y="20243"/>
                  <a:pt x="16891" y="20243"/>
                  <a:pt x="16881" y="20226"/>
                </a:cubicBezTo>
                <a:cubicBezTo>
                  <a:pt x="16789" y="20104"/>
                  <a:pt x="16686" y="19983"/>
                  <a:pt x="16593" y="19844"/>
                </a:cubicBezTo>
                <a:cubicBezTo>
                  <a:pt x="16562" y="19809"/>
                  <a:pt x="16532" y="19757"/>
                  <a:pt x="16501" y="19704"/>
                </a:cubicBezTo>
                <a:cubicBezTo>
                  <a:pt x="16429" y="19600"/>
                  <a:pt x="16357" y="19496"/>
                  <a:pt x="16285" y="19374"/>
                </a:cubicBezTo>
                <a:cubicBezTo>
                  <a:pt x="16254" y="19322"/>
                  <a:pt x="16223" y="19287"/>
                  <a:pt x="16192" y="19235"/>
                </a:cubicBezTo>
                <a:cubicBezTo>
                  <a:pt x="16110" y="19096"/>
                  <a:pt x="16028" y="18974"/>
                  <a:pt x="15956" y="18835"/>
                </a:cubicBezTo>
                <a:cubicBezTo>
                  <a:pt x="15946" y="18817"/>
                  <a:pt x="15925" y="18783"/>
                  <a:pt x="15915" y="18765"/>
                </a:cubicBezTo>
                <a:cubicBezTo>
                  <a:pt x="15822" y="18609"/>
                  <a:pt x="15740" y="18435"/>
                  <a:pt x="15658" y="18261"/>
                </a:cubicBezTo>
                <a:cubicBezTo>
                  <a:pt x="15637" y="18226"/>
                  <a:pt x="15617" y="18174"/>
                  <a:pt x="15596" y="18139"/>
                </a:cubicBezTo>
                <a:cubicBezTo>
                  <a:pt x="15555" y="18052"/>
                  <a:pt x="15514" y="17965"/>
                  <a:pt x="15473" y="17878"/>
                </a:cubicBezTo>
                <a:cubicBezTo>
                  <a:pt x="15390" y="17913"/>
                  <a:pt x="15298" y="17913"/>
                  <a:pt x="15216" y="17913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0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269831-04D6-3F88-E678-3EB9CD153A27}"/>
              </a:ext>
            </a:extLst>
          </p:cNvPr>
          <p:cNvSpPr txBox="1"/>
          <p:nvPr/>
        </p:nvSpPr>
        <p:spPr>
          <a:xfrm>
            <a:off x="2764451" y="2539639"/>
            <a:ext cx="933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📂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4E44B5-F7A1-A12A-78A4-684DF554DB4E}"/>
              </a:ext>
            </a:extLst>
          </p:cNvPr>
          <p:cNvSpPr txBox="1"/>
          <p:nvPr/>
        </p:nvSpPr>
        <p:spPr>
          <a:xfrm>
            <a:off x="5438044" y="2692039"/>
            <a:ext cx="933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🗄️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CDE69F-B18A-D9C5-F168-EBA01F1CAFF7}"/>
              </a:ext>
            </a:extLst>
          </p:cNvPr>
          <p:cNvSpPr txBox="1"/>
          <p:nvPr/>
        </p:nvSpPr>
        <p:spPr>
          <a:xfrm>
            <a:off x="2916851" y="2692039"/>
            <a:ext cx="933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📂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050D39-9BE0-258E-6D7D-463DA32294EE}"/>
              </a:ext>
            </a:extLst>
          </p:cNvPr>
          <p:cNvSpPr txBox="1"/>
          <p:nvPr/>
        </p:nvSpPr>
        <p:spPr>
          <a:xfrm>
            <a:off x="8266621" y="2692039"/>
            <a:ext cx="9335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📦</a:t>
            </a:r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C572BF6E-E67D-E5A9-017A-15BB62AFAB70}"/>
              </a:ext>
            </a:extLst>
          </p:cNvPr>
          <p:cNvSpPr/>
          <p:nvPr/>
        </p:nvSpPr>
        <p:spPr>
          <a:xfrm>
            <a:off x="1906292" y="4486823"/>
            <a:ext cx="2557243" cy="935413"/>
          </a:xfrm>
          <a:prstGeom prst="roundRect">
            <a:avLst>
              <a:gd name="adj" fmla="val 21218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3688B1-5278-EAAB-C929-2FA2222988FD}"/>
              </a:ext>
            </a:extLst>
          </p:cNvPr>
          <p:cNvSpPr txBox="1"/>
          <p:nvPr/>
        </p:nvSpPr>
        <p:spPr>
          <a:xfrm>
            <a:off x="1766806" y="4668155"/>
            <a:ext cx="2696729" cy="55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نشيطة</a:t>
            </a:r>
            <a:endParaRPr lang="ar-EG" sz="2400" b="0" u="none" dirty="0">
              <a:solidFill>
                <a:srgbClr val="1A365D"/>
              </a:solidFill>
              <a:latin typeface="Arial"/>
            </a:endParaRPr>
          </a:p>
        </p:txBody>
      </p:sp>
      <p:sp>
        <p:nvSpPr>
          <p:cNvPr id="29" name="Rounded Rectangle 2">
            <a:extLst>
              <a:ext uri="{FF2B5EF4-FFF2-40B4-BE49-F238E27FC236}">
                <a16:creationId xmlns:a16="http://schemas.microsoft.com/office/drawing/2014/main" id="{C1D36F36-7C4E-D0A7-AA60-51569BFD42C5}"/>
              </a:ext>
            </a:extLst>
          </p:cNvPr>
          <p:cNvSpPr/>
          <p:nvPr/>
        </p:nvSpPr>
        <p:spPr>
          <a:xfrm>
            <a:off x="4615935" y="4515291"/>
            <a:ext cx="2557243" cy="935413"/>
          </a:xfrm>
          <a:prstGeom prst="roundRect">
            <a:avLst>
              <a:gd name="adj" fmla="val 21218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420726-0803-DE7B-A34A-2BB970A8036A}"/>
              </a:ext>
            </a:extLst>
          </p:cNvPr>
          <p:cNvSpPr txBox="1"/>
          <p:nvPr/>
        </p:nvSpPr>
        <p:spPr>
          <a:xfrm>
            <a:off x="4476449" y="4696623"/>
            <a:ext cx="2696729" cy="55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متوسطة النشاط</a:t>
            </a:r>
            <a:endParaRPr lang="ar-EG" sz="2400" b="0" u="none" dirty="0">
              <a:solidFill>
                <a:srgbClr val="1A365D"/>
              </a:solidFill>
              <a:latin typeface="Arial"/>
            </a:endParaRPr>
          </a:p>
        </p:txBody>
      </p:sp>
      <p:sp>
        <p:nvSpPr>
          <p:cNvPr id="33" name="Rounded Rectangle 2">
            <a:extLst>
              <a:ext uri="{FF2B5EF4-FFF2-40B4-BE49-F238E27FC236}">
                <a16:creationId xmlns:a16="http://schemas.microsoft.com/office/drawing/2014/main" id="{C855DD96-B077-84B2-06FC-25176BDFC6EA}"/>
              </a:ext>
            </a:extLst>
          </p:cNvPr>
          <p:cNvSpPr/>
          <p:nvPr/>
        </p:nvSpPr>
        <p:spPr>
          <a:xfrm>
            <a:off x="7350457" y="4443628"/>
            <a:ext cx="2557243" cy="935413"/>
          </a:xfrm>
          <a:prstGeom prst="roundRect">
            <a:avLst>
              <a:gd name="adj" fmla="val 21218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C23EAD-7DA6-BE08-4B39-A07E5EC825FD}"/>
              </a:ext>
            </a:extLst>
          </p:cNvPr>
          <p:cNvSpPr txBox="1"/>
          <p:nvPr/>
        </p:nvSpPr>
        <p:spPr>
          <a:xfrm>
            <a:off x="7210971" y="4624960"/>
            <a:ext cx="2696729" cy="558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35000"/>
              </a:lnSpc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غير نشيطة</a:t>
            </a:r>
            <a:endParaRPr lang="ar-EG" sz="2400" b="0" u="none" dirty="0">
              <a:solidFill>
                <a:srgbClr val="1A365D"/>
              </a:solidFill>
              <a:latin typeface="Arial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CE19E96B-2156-3A58-B324-5921B3EA46BF}"/>
              </a:ext>
            </a:extLst>
          </p:cNvPr>
          <p:cNvGrpSpPr/>
          <p:nvPr/>
        </p:nvGrpSpPr>
        <p:grpSpPr>
          <a:xfrm>
            <a:off x="5438044" y="640080"/>
            <a:ext cx="6156655" cy="640080"/>
            <a:chOff x="548640" y="640080"/>
            <a:chExt cx="6156655" cy="640080"/>
          </a:xfrm>
        </p:grpSpPr>
        <p:sp>
          <p:nvSpPr>
            <p:cNvPr id="37" name="Shape 3">
              <a:extLst>
                <a:ext uri="{FF2B5EF4-FFF2-40B4-BE49-F238E27FC236}">
                  <a16:creationId xmlns:a16="http://schemas.microsoft.com/office/drawing/2014/main" id="{1CF1BE13-A936-EF76-50DA-8C715A08EF87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38" name="Text 4">
              <a:extLst>
                <a:ext uri="{FF2B5EF4-FFF2-40B4-BE49-F238E27FC236}">
                  <a16:creationId xmlns:a16="http://schemas.microsoft.com/office/drawing/2014/main" id="{4B82E677-69BA-AA3F-1CC9-2E2EEE888E1C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أنواع المحفوظات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774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72B85D-4CC0-4F9A-0C24-ACC84B613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BE8539F-63E8-A06C-E75B-F1C4B4A88616}"/>
              </a:ext>
            </a:extLst>
          </p:cNvPr>
          <p:cNvSpPr/>
          <p:nvPr/>
        </p:nvSpPr>
        <p:spPr>
          <a:xfrm>
            <a:off x="457200" y="1417320"/>
            <a:ext cx="10835640" cy="2891209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0AE660-4A3F-3A33-2599-096A40325718}"/>
              </a:ext>
            </a:extLst>
          </p:cNvPr>
          <p:cNvSpPr txBox="1"/>
          <p:nvPr/>
        </p:nvSpPr>
        <p:spPr>
          <a:xfrm>
            <a:off x="6446520" y="1645920"/>
            <a:ext cx="4572000" cy="603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EG" sz="2800" b="1" dirty="0">
                <a:solidFill>
                  <a:srgbClr val="0077B6"/>
                </a:solidFill>
                <a:latin typeface="Arial"/>
              </a:rPr>
              <a:t>المحفوظات النشيطة</a:t>
            </a:r>
            <a:endParaRPr sz="2800" b="1" dirty="0">
              <a:solidFill>
                <a:srgbClr val="0077B6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6BE1BE-64A6-E3AF-E3C9-32B6A93EBD00}"/>
              </a:ext>
            </a:extLst>
          </p:cNvPr>
          <p:cNvSpPr txBox="1"/>
          <p:nvPr/>
        </p:nvSpPr>
        <p:spPr>
          <a:xfrm>
            <a:off x="1173480" y="2148840"/>
            <a:ext cx="9845040" cy="19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الوثائق الحية المتداولة حاليًا </a:t>
            </a:r>
            <a:r>
              <a:rPr lang="ar-EG" sz="2400" b="0" u="none" dirty="0" err="1">
                <a:solidFill>
                  <a:srgbClr val="1A365D"/>
                </a:solidFill>
                <a:latin typeface="Arial"/>
              </a:rPr>
              <a:t>بالادارات</a:t>
            </a:r>
            <a:endParaRPr lang="ar-EG" sz="2400" b="0" u="none" dirty="0">
              <a:solidFill>
                <a:srgbClr val="1A365D"/>
              </a:solidFill>
              <a:latin typeface="Arial"/>
            </a:endParaRP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ترجع اليها الإدارة لإنجاز أعمال مستمرة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ت</a:t>
            </a:r>
            <a:r>
              <a:rPr lang="ar-EG" sz="2400" dirty="0">
                <a:solidFill>
                  <a:srgbClr val="1A365D"/>
                </a:solidFill>
                <a:latin typeface="Arial"/>
              </a:rPr>
              <a:t>ُحفظ داخل وحدات الحفظ بكل إدارة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تحفظ تحت يد الموظفين المختصين مباشرة</a:t>
            </a:r>
            <a:endParaRPr sz="2400" b="0" u="none" dirty="0">
              <a:solidFill>
                <a:srgbClr val="1A365D"/>
              </a:solidFill>
              <a:latin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F22C49-452C-1722-0170-55B4A57DE5AE}"/>
              </a:ext>
            </a:extLst>
          </p:cNvPr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6D5C2E-A65D-61DC-0160-81CAAEA93852}"/>
              </a:ext>
            </a:extLst>
          </p:cNvPr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10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A939290-0E15-8209-3450-90B43F2D2FAE}"/>
              </a:ext>
            </a:extLst>
          </p:cNvPr>
          <p:cNvGrpSpPr/>
          <p:nvPr/>
        </p:nvGrpSpPr>
        <p:grpSpPr>
          <a:xfrm>
            <a:off x="718659" y="1518195"/>
            <a:ext cx="1900555" cy="2340883"/>
            <a:chOff x="718659" y="1518195"/>
            <a:chExt cx="2733201" cy="3399795"/>
          </a:xfrm>
        </p:grpSpPr>
        <p:sp>
          <p:nvSpPr>
            <p:cNvPr id="11" name="Shape">
              <a:extLst>
                <a:ext uri="{FF2B5EF4-FFF2-40B4-BE49-F238E27FC236}">
                  <a16:creationId xmlns:a16="http://schemas.microsoft.com/office/drawing/2014/main" id="{74C47007-31AE-6D57-5F45-BF293427C67A}"/>
                </a:ext>
              </a:extLst>
            </p:cNvPr>
            <p:cNvSpPr/>
            <p:nvPr/>
          </p:nvSpPr>
          <p:spPr>
            <a:xfrm>
              <a:off x="718659" y="1518195"/>
              <a:ext cx="2733201" cy="3399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9" h="21460" extrusionOk="0">
                  <a:moveTo>
                    <a:pt x="21314" y="8535"/>
                  </a:moveTo>
                  <a:cubicBezTo>
                    <a:pt x="21184" y="7550"/>
                    <a:pt x="20923" y="6564"/>
                    <a:pt x="20507" y="5662"/>
                  </a:cubicBezTo>
                  <a:cubicBezTo>
                    <a:pt x="19674" y="3796"/>
                    <a:pt x="18113" y="2202"/>
                    <a:pt x="15979" y="1174"/>
                  </a:cubicBezTo>
                  <a:cubicBezTo>
                    <a:pt x="14600" y="524"/>
                    <a:pt x="13038" y="105"/>
                    <a:pt x="11451" y="21"/>
                  </a:cubicBezTo>
                  <a:cubicBezTo>
                    <a:pt x="11164" y="0"/>
                    <a:pt x="10904" y="0"/>
                    <a:pt x="10618" y="0"/>
                  </a:cubicBezTo>
                  <a:cubicBezTo>
                    <a:pt x="4762" y="0"/>
                    <a:pt x="0" y="3838"/>
                    <a:pt x="0" y="8556"/>
                  </a:cubicBezTo>
                  <a:cubicBezTo>
                    <a:pt x="0" y="11765"/>
                    <a:pt x="2186" y="14554"/>
                    <a:pt x="5439" y="16022"/>
                  </a:cubicBezTo>
                  <a:cubicBezTo>
                    <a:pt x="5439" y="16022"/>
                    <a:pt x="5439" y="16022"/>
                    <a:pt x="5465" y="16022"/>
                  </a:cubicBezTo>
                  <a:cubicBezTo>
                    <a:pt x="5491" y="16043"/>
                    <a:pt x="5517" y="16043"/>
                    <a:pt x="5569" y="16064"/>
                  </a:cubicBezTo>
                  <a:cubicBezTo>
                    <a:pt x="5569" y="16064"/>
                    <a:pt x="5569" y="16064"/>
                    <a:pt x="5569" y="16064"/>
                  </a:cubicBezTo>
                  <a:cubicBezTo>
                    <a:pt x="6584" y="16504"/>
                    <a:pt x="7651" y="16861"/>
                    <a:pt x="8770" y="17112"/>
                  </a:cubicBezTo>
                  <a:cubicBezTo>
                    <a:pt x="9863" y="17364"/>
                    <a:pt x="11060" y="17469"/>
                    <a:pt x="12101" y="17825"/>
                  </a:cubicBezTo>
                  <a:cubicBezTo>
                    <a:pt x="13767" y="18412"/>
                    <a:pt x="13845" y="19713"/>
                    <a:pt x="13038" y="20845"/>
                  </a:cubicBezTo>
                  <a:cubicBezTo>
                    <a:pt x="12778" y="21202"/>
                    <a:pt x="13272" y="21600"/>
                    <a:pt x="13715" y="21411"/>
                  </a:cubicBezTo>
                  <a:cubicBezTo>
                    <a:pt x="16812" y="20048"/>
                    <a:pt x="19128" y="17657"/>
                    <a:pt x="20325" y="14973"/>
                  </a:cubicBezTo>
                  <a:cubicBezTo>
                    <a:pt x="21236" y="12918"/>
                    <a:pt x="21600" y="10695"/>
                    <a:pt x="21314" y="8535"/>
                  </a:cubicBezTo>
                  <a:close/>
                </a:path>
              </a:pathLst>
            </a:custGeom>
            <a:solidFill>
              <a:srgbClr val="FFC00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578AE1E-3F30-6749-4796-B71CB172C2BB}"/>
                </a:ext>
              </a:extLst>
            </p:cNvPr>
            <p:cNvGrpSpPr/>
            <p:nvPr/>
          </p:nvGrpSpPr>
          <p:grpSpPr>
            <a:xfrm>
              <a:off x="858359" y="1671614"/>
              <a:ext cx="2412015" cy="2412015"/>
              <a:chOff x="7785949" y="1513832"/>
              <a:chExt cx="2412015" cy="2412015"/>
            </a:xfrm>
          </p:grpSpPr>
          <p:sp>
            <p:nvSpPr>
              <p:cNvPr id="17" name="Circle">
                <a:extLst>
                  <a:ext uri="{FF2B5EF4-FFF2-40B4-BE49-F238E27FC236}">
                    <a16:creationId xmlns:a16="http://schemas.microsoft.com/office/drawing/2014/main" id="{D06554F2-1B32-BED0-BAFC-0C1BA6F49CAB}"/>
                  </a:ext>
                </a:extLst>
              </p:cNvPr>
              <p:cNvSpPr/>
              <p:nvPr/>
            </p:nvSpPr>
            <p:spPr>
              <a:xfrm>
                <a:off x="7785949" y="1513832"/>
                <a:ext cx="2412015" cy="2412015"/>
              </a:xfrm>
              <a:prstGeom prst="ellipse">
                <a:avLst/>
              </a:prstGeom>
              <a:solidFill>
                <a:srgbClr val="FFFF00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8" name="Circle">
                <a:extLst>
                  <a:ext uri="{FF2B5EF4-FFF2-40B4-BE49-F238E27FC236}">
                    <a16:creationId xmlns:a16="http://schemas.microsoft.com/office/drawing/2014/main" id="{D107524D-9C37-DAFE-C4B7-03DC85A528CB}"/>
                  </a:ext>
                </a:extLst>
              </p:cNvPr>
              <p:cNvSpPr/>
              <p:nvPr/>
            </p:nvSpPr>
            <p:spPr>
              <a:xfrm>
                <a:off x="7865685" y="1593568"/>
                <a:ext cx="2252543" cy="2252543"/>
              </a:xfrm>
              <a:prstGeom prst="ellipse">
                <a:avLst/>
              </a:prstGeom>
              <a:solidFill>
                <a:schemeClr val="bg1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E1E680-7993-690D-7A6B-11EBC709EBDF}"/>
                  </a:ext>
                </a:extLst>
              </p:cNvPr>
              <p:cNvSpPr txBox="1"/>
              <p:nvPr/>
            </p:nvSpPr>
            <p:spPr>
              <a:xfrm>
                <a:off x="7990848" y="1833488"/>
                <a:ext cx="2044002" cy="1743305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ar-EG" sz="2400" b="1" noProof="1">
                    <a:solidFill>
                      <a:srgbClr val="1A365D"/>
                    </a:solidFill>
                  </a:rPr>
                  <a:t>كشف الحضور والانصراف</a:t>
                </a:r>
                <a:endParaRPr lang="en-US" sz="2400" b="1" noProof="1">
                  <a:solidFill>
                    <a:srgbClr val="1A365D"/>
                  </a:solidFill>
                </a:endParaRPr>
              </a:p>
            </p:txBody>
          </p:sp>
        </p:grp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776F68B-F5DA-ED6F-AF20-B4FFE4963493}"/>
              </a:ext>
            </a:extLst>
          </p:cNvPr>
          <p:cNvGrpSpPr/>
          <p:nvPr/>
        </p:nvGrpSpPr>
        <p:grpSpPr>
          <a:xfrm>
            <a:off x="616966" y="3923402"/>
            <a:ext cx="1900555" cy="2340883"/>
            <a:chOff x="718659" y="1518195"/>
            <a:chExt cx="2733201" cy="3399795"/>
          </a:xfrm>
        </p:grpSpPr>
        <p:sp>
          <p:nvSpPr>
            <p:cNvPr id="23" name="Shape">
              <a:extLst>
                <a:ext uri="{FF2B5EF4-FFF2-40B4-BE49-F238E27FC236}">
                  <a16:creationId xmlns:a16="http://schemas.microsoft.com/office/drawing/2014/main" id="{B459DD0C-3A6D-4BFB-2FCD-518A403D3B4A}"/>
                </a:ext>
              </a:extLst>
            </p:cNvPr>
            <p:cNvSpPr/>
            <p:nvPr/>
          </p:nvSpPr>
          <p:spPr>
            <a:xfrm>
              <a:off x="718659" y="1518195"/>
              <a:ext cx="2733201" cy="3399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9" h="21460" extrusionOk="0">
                  <a:moveTo>
                    <a:pt x="21314" y="8535"/>
                  </a:moveTo>
                  <a:cubicBezTo>
                    <a:pt x="21184" y="7550"/>
                    <a:pt x="20923" y="6564"/>
                    <a:pt x="20507" y="5662"/>
                  </a:cubicBezTo>
                  <a:cubicBezTo>
                    <a:pt x="19674" y="3796"/>
                    <a:pt x="18113" y="2202"/>
                    <a:pt x="15979" y="1174"/>
                  </a:cubicBezTo>
                  <a:cubicBezTo>
                    <a:pt x="14600" y="524"/>
                    <a:pt x="13038" y="105"/>
                    <a:pt x="11451" y="21"/>
                  </a:cubicBezTo>
                  <a:cubicBezTo>
                    <a:pt x="11164" y="0"/>
                    <a:pt x="10904" y="0"/>
                    <a:pt x="10618" y="0"/>
                  </a:cubicBezTo>
                  <a:cubicBezTo>
                    <a:pt x="4762" y="0"/>
                    <a:pt x="0" y="3838"/>
                    <a:pt x="0" y="8556"/>
                  </a:cubicBezTo>
                  <a:cubicBezTo>
                    <a:pt x="0" y="11765"/>
                    <a:pt x="2186" y="14554"/>
                    <a:pt x="5439" y="16022"/>
                  </a:cubicBezTo>
                  <a:cubicBezTo>
                    <a:pt x="5439" y="16022"/>
                    <a:pt x="5439" y="16022"/>
                    <a:pt x="5465" y="16022"/>
                  </a:cubicBezTo>
                  <a:cubicBezTo>
                    <a:pt x="5491" y="16043"/>
                    <a:pt x="5517" y="16043"/>
                    <a:pt x="5569" y="16064"/>
                  </a:cubicBezTo>
                  <a:cubicBezTo>
                    <a:pt x="5569" y="16064"/>
                    <a:pt x="5569" y="16064"/>
                    <a:pt x="5569" y="16064"/>
                  </a:cubicBezTo>
                  <a:cubicBezTo>
                    <a:pt x="6584" y="16504"/>
                    <a:pt x="7651" y="16861"/>
                    <a:pt x="8770" y="17112"/>
                  </a:cubicBezTo>
                  <a:cubicBezTo>
                    <a:pt x="9863" y="17364"/>
                    <a:pt x="11060" y="17469"/>
                    <a:pt x="12101" y="17825"/>
                  </a:cubicBezTo>
                  <a:cubicBezTo>
                    <a:pt x="13767" y="18412"/>
                    <a:pt x="13845" y="19713"/>
                    <a:pt x="13038" y="20845"/>
                  </a:cubicBezTo>
                  <a:cubicBezTo>
                    <a:pt x="12778" y="21202"/>
                    <a:pt x="13272" y="21600"/>
                    <a:pt x="13715" y="21411"/>
                  </a:cubicBezTo>
                  <a:cubicBezTo>
                    <a:pt x="16812" y="20048"/>
                    <a:pt x="19128" y="17657"/>
                    <a:pt x="20325" y="14973"/>
                  </a:cubicBezTo>
                  <a:cubicBezTo>
                    <a:pt x="21236" y="12918"/>
                    <a:pt x="21600" y="10695"/>
                    <a:pt x="21314" y="8535"/>
                  </a:cubicBezTo>
                  <a:close/>
                </a:path>
              </a:pathLst>
            </a:custGeom>
            <a:solidFill>
              <a:srgbClr val="00B05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B5E934F-4125-44D7-0C82-EC4417A7F5C7}"/>
                </a:ext>
              </a:extLst>
            </p:cNvPr>
            <p:cNvGrpSpPr/>
            <p:nvPr/>
          </p:nvGrpSpPr>
          <p:grpSpPr>
            <a:xfrm>
              <a:off x="858359" y="1671614"/>
              <a:ext cx="2412015" cy="2412015"/>
              <a:chOff x="7785949" y="1513832"/>
              <a:chExt cx="2412015" cy="2412015"/>
            </a:xfrm>
          </p:grpSpPr>
          <p:sp>
            <p:nvSpPr>
              <p:cNvPr id="25" name="Circle">
                <a:extLst>
                  <a:ext uri="{FF2B5EF4-FFF2-40B4-BE49-F238E27FC236}">
                    <a16:creationId xmlns:a16="http://schemas.microsoft.com/office/drawing/2014/main" id="{6CCF8F78-7272-F802-0C80-6440B101A5BA}"/>
                  </a:ext>
                </a:extLst>
              </p:cNvPr>
              <p:cNvSpPr/>
              <p:nvPr/>
            </p:nvSpPr>
            <p:spPr>
              <a:xfrm>
                <a:off x="7785949" y="1513832"/>
                <a:ext cx="2412015" cy="2412015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6" name="Circle">
                <a:extLst>
                  <a:ext uri="{FF2B5EF4-FFF2-40B4-BE49-F238E27FC236}">
                    <a16:creationId xmlns:a16="http://schemas.microsoft.com/office/drawing/2014/main" id="{5FDCABFF-475E-E4CB-FF6D-F143EADBA744}"/>
                  </a:ext>
                </a:extLst>
              </p:cNvPr>
              <p:cNvSpPr/>
              <p:nvPr/>
            </p:nvSpPr>
            <p:spPr>
              <a:xfrm>
                <a:off x="7865685" y="1593568"/>
                <a:ext cx="2252543" cy="2252543"/>
              </a:xfrm>
              <a:prstGeom prst="ellipse">
                <a:avLst/>
              </a:prstGeom>
              <a:solidFill>
                <a:schemeClr val="bg1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84B1794-E8F6-F843-BE41-0178615855AA}"/>
                  </a:ext>
                </a:extLst>
              </p:cNvPr>
              <p:cNvSpPr txBox="1"/>
              <p:nvPr/>
            </p:nvSpPr>
            <p:spPr>
              <a:xfrm>
                <a:off x="7990848" y="1833488"/>
                <a:ext cx="2044002" cy="1743305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ar-EG" sz="2400" b="1" noProof="1">
                    <a:solidFill>
                      <a:srgbClr val="1A365D"/>
                    </a:solidFill>
                  </a:rPr>
                  <a:t>حافظة رسم معاينة</a:t>
                </a:r>
                <a:endParaRPr lang="en-US" sz="2400" b="1" noProof="1">
                  <a:solidFill>
                    <a:srgbClr val="1A365D"/>
                  </a:solidFill>
                </a:endParaRPr>
              </a:p>
            </p:txBody>
          </p:sp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E2A8BF2-D396-A98E-46D7-9AEC67B2B5C1}"/>
              </a:ext>
            </a:extLst>
          </p:cNvPr>
          <p:cNvGrpSpPr/>
          <p:nvPr/>
        </p:nvGrpSpPr>
        <p:grpSpPr>
          <a:xfrm>
            <a:off x="4867465" y="4133871"/>
            <a:ext cx="1900555" cy="2340883"/>
            <a:chOff x="718659" y="1518195"/>
            <a:chExt cx="2733201" cy="3399795"/>
          </a:xfrm>
        </p:grpSpPr>
        <p:sp>
          <p:nvSpPr>
            <p:cNvPr id="29" name="Shape">
              <a:extLst>
                <a:ext uri="{FF2B5EF4-FFF2-40B4-BE49-F238E27FC236}">
                  <a16:creationId xmlns:a16="http://schemas.microsoft.com/office/drawing/2014/main" id="{0E8CD60D-003A-3A53-9BA1-F912ABE89D25}"/>
                </a:ext>
              </a:extLst>
            </p:cNvPr>
            <p:cNvSpPr/>
            <p:nvPr/>
          </p:nvSpPr>
          <p:spPr>
            <a:xfrm>
              <a:off x="718659" y="1518195"/>
              <a:ext cx="2733201" cy="3399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9" h="21460" extrusionOk="0">
                  <a:moveTo>
                    <a:pt x="21314" y="8535"/>
                  </a:moveTo>
                  <a:cubicBezTo>
                    <a:pt x="21184" y="7550"/>
                    <a:pt x="20923" y="6564"/>
                    <a:pt x="20507" y="5662"/>
                  </a:cubicBezTo>
                  <a:cubicBezTo>
                    <a:pt x="19674" y="3796"/>
                    <a:pt x="18113" y="2202"/>
                    <a:pt x="15979" y="1174"/>
                  </a:cubicBezTo>
                  <a:cubicBezTo>
                    <a:pt x="14600" y="524"/>
                    <a:pt x="13038" y="105"/>
                    <a:pt x="11451" y="21"/>
                  </a:cubicBezTo>
                  <a:cubicBezTo>
                    <a:pt x="11164" y="0"/>
                    <a:pt x="10904" y="0"/>
                    <a:pt x="10618" y="0"/>
                  </a:cubicBezTo>
                  <a:cubicBezTo>
                    <a:pt x="4762" y="0"/>
                    <a:pt x="0" y="3838"/>
                    <a:pt x="0" y="8556"/>
                  </a:cubicBezTo>
                  <a:cubicBezTo>
                    <a:pt x="0" y="11765"/>
                    <a:pt x="2186" y="14554"/>
                    <a:pt x="5439" y="16022"/>
                  </a:cubicBezTo>
                  <a:cubicBezTo>
                    <a:pt x="5439" y="16022"/>
                    <a:pt x="5439" y="16022"/>
                    <a:pt x="5465" y="16022"/>
                  </a:cubicBezTo>
                  <a:cubicBezTo>
                    <a:pt x="5491" y="16043"/>
                    <a:pt x="5517" y="16043"/>
                    <a:pt x="5569" y="16064"/>
                  </a:cubicBezTo>
                  <a:cubicBezTo>
                    <a:pt x="5569" y="16064"/>
                    <a:pt x="5569" y="16064"/>
                    <a:pt x="5569" y="16064"/>
                  </a:cubicBezTo>
                  <a:cubicBezTo>
                    <a:pt x="6584" y="16504"/>
                    <a:pt x="7651" y="16861"/>
                    <a:pt x="8770" y="17112"/>
                  </a:cubicBezTo>
                  <a:cubicBezTo>
                    <a:pt x="9863" y="17364"/>
                    <a:pt x="11060" y="17469"/>
                    <a:pt x="12101" y="17825"/>
                  </a:cubicBezTo>
                  <a:cubicBezTo>
                    <a:pt x="13767" y="18412"/>
                    <a:pt x="13845" y="19713"/>
                    <a:pt x="13038" y="20845"/>
                  </a:cubicBezTo>
                  <a:cubicBezTo>
                    <a:pt x="12778" y="21202"/>
                    <a:pt x="13272" y="21600"/>
                    <a:pt x="13715" y="21411"/>
                  </a:cubicBezTo>
                  <a:cubicBezTo>
                    <a:pt x="16812" y="20048"/>
                    <a:pt x="19128" y="17657"/>
                    <a:pt x="20325" y="14973"/>
                  </a:cubicBezTo>
                  <a:cubicBezTo>
                    <a:pt x="21236" y="12918"/>
                    <a:pt x="21600" y="10695"/>
                    <a:pt x="21314" y="8535"/>
                  </a:cubicBezTo>
                  <a:close/>
                </a:path>
              </a:pathLst>
            </a:custGeom>
            <a:solidFill>
              <a:srgbClr val="0070C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D4B7671-46F2-6C65-BA3A-11B141F9B31E}"/>
                </a:ext>
              </a:extLst>
            </p:cNvPr>
            <p:cNvGrpSpPr/>
            <p:nvPr/>
          </p:nvGrpSpPr>
          <p:grpSpPr>
            <a:xfrm>
              <a:off x="858359" y="1671614"/>
              <a:ext cx="2412015" cy="2412015"/>
              <a:chOff x="7785949" y="1513832"/>
              <a:chExt cx="2412015" cy="2412015"/>
            </a:xfrm>
          </p:grpSpPr>
          <p:sp>
            <p:nvSpPr>
              <p:cNvPr id="31" name="Circle">
                <a:extLst>
                  <a:ext uri="{FF2B5EF4-FFF2-40B4-BE49-F238E27FC236}">
                    <a16:creationId xmlns:a16="http://schemas.microsoft.com/office/drawing/2014/main" id="{30510867-B1F6-705F-94B9-B247D2D2F1B3}"/>
                  </a:ext>
                </a:extLst>
              </p:cNvPr>
              <p:cNvSpPr/>
              <p:nvPr/>
            </p:nvSpPr>
            <p:spPr>
              <a:xfrm>
                <a:off x="7785949" y="1513832"/>
                <a:ext cx="2412015" cy="2412015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2" name="Circle">
                <a:extLst>
                  <a:ext uri="{FF2B5EF4-FFF2-40B4-BE49-F238E27FC236}">
                    <a16:creationId xmlns:a16="http://schemas.microsoft.com/office/drawing/2014/main" id="{FF232B7C-3AA6-4398-405D-4BD97269C9C5}"/>
                  </a:ext>
                </a:extLst>
              </p:cNvPr>
              <p:cNvSpPr/>
              <p:nvPr/>
            </p:nvSpPr>
            <p:spPr>
              <a:xfrm>
                <a:off x="7865685" y="1593568"/>
                <a:ext cx="2252543" cy="2252543"/>
              </a:xfrm>
              <a:prstGeom prst="ellipse">
                <a:avLst/>
              </a:prstGeom>
              <a:solidFill>
                <a:schemeClr val="bg1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638F9939-35DC-DFDC-D032-8FE71A16A8B6}"/>
                  </a:ext>
                </a:extLst>
              </p:cNvPr>
              <p:cNvSpPr txBox="1"/>
              <p:nvPr/>
            </p:nvSpPr>
            <p:spPr>
              <a:xfrm>
                <a:off x="7990848" y="2101689"/>
                <a:ext cx="2044002" cy="1206904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ar-EG" sz="2400" b="1" noProof="1">
                    <a:solidFill>
                      <a:srgbClr val="1A365D"/>
                    </a:solidFill>
                  </a:rPr>
                  <a:t>إذن صرف ورق تصوير</a:t>
                </a:r>
                <a:endParaRPr lang="en-US" sz="2400" b="1" noProof="1">
                  <a:solidFill>
                    <a:srgbClr val="1A365D"/>
                  </a:solidFill>
                </a:endParaRPr>
              </a:p>
            </p:txBody>
          </p:sp>
        </p:grp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F0EB8E1-6C23-5138-487A-02BEAFEEEC12}"/>
              </a:ext>
            </a:extLst>
          </p:cNvPr>
          <p:cNvGrpSpPr/>
          <p:nvPr/>
        </p:nvGrpSpPr>
        <p:grpSpPr>
          <a:xfrm>
            <a:off x="9117964" y="4117322"/>
            <a:ext cx="1900555" cy="2340883"/>
            <a:chOff x="718659" y="1518195"/>
            <a:chExt cx="2733201" cy="3399795"/>
          </a:xfrm>
        </p:grpSpPr>
        <p:sp>
          <p:nvSpPr>
            <p:cNvPr id="35" name="Shape">
              <a:extLst>
                <a:ext uri="{FF2B5EF4-FFF2-40B4-BE49-F238E27FC236}">
                  <a16:creationId xmlns:a16="http://schemas.microsoft.com/office/drawing/2014/main" id="{38A79DE5-D95A-DCB0-05FF-C73229F6C33C}"/>
                </a:ext>
              </a:extLst>
            </p:cNvPr>
            <p:cNvSpPr/>
            <p:nvPr/>
          </p:nvSpPr>
          <p:spPr>
            <a:xfrm>
              <a:off x="718659" y="1518195"/>
              <a:ext cx="2733201" cy="3399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9" h="21460" extrusionOk="0">
                  <a:moveTo>
                    <a:pt x="21314" y="8535"/>
                  </a:moveTo>
                  <a:cubicBezTo>
                    <a:pt x="21184" y="7550"/>
                    <a:pt x="20923" y="6564"/>
                    <a:pt x="20507" y="5662"/>
                  </a:cubicBezTo>
                  <a:cubicBezTo>
                    <a:pt x="19674" y="3796"/>
                    <a:pt x="18113" y="2202"/>
                    <a:pt x="15979" y="1174"/>
                  </a:cubicBezTo>
                  <a:cubicBezTo>
                    <a:pt x="14600" y="524"/>
                    <a:pt x="13038" y="105"/>
                    <a:pt x="11451" y="21"/>
                  </a:cubicBezTo>
                  <a:cubicBezTo>
                    <a:pt x="11164" y="0"/>
                    <a:pt x="10904" y="0"/>
                    <a:pt x="10618" y="0"/>
                  </a:cubicBezTo>
                  <a:cubicBezTo>
                    <a:pt x="4762" y="0"/>
                    <a:pt x="0" y="3838"/>
                    <a:pt x="0" y="8556"/>
                  </a:cubicBezTo>
                  <a:cubicBezTo>
                    <a:pt x="0" y="11765"/>
                    <a:pt x="2186" y="14554"/>
                    <a:pt x="5439" y="16022"/>
                  </a:cubicBezTo>
                  <a:cubicBezTo>
                    <a:pt x="5439" y="16022"/>
                    <a:pt x="5439" y="16022"/>
                    <a:pt x="5465" y="16022"/>
                  </a:cubicBezTo>
                  <a:cubicBezTo>
                    <a:pt x="5491" y="16043"/>
                    <a:pt x="5517" y="16043"/>
                    <a:pt x="5569" y="16064"/>
                  </a:cubicBezTo>
                  <a:cubicBezTo>
                    <a:pt x="5569" y="16064"/>
                    <a:pt x="5569" y="16064"/>
                    <a:pt x="5569" y="16064"/>
                  </a:cubicBezTo>
                  <a:cubicBezTo>
                    <a:pt x="6584" y="16504"/>
                    <a:pt x="7651" y="16861"/>
                    <a:pt x="8770" y="17112"/>
                  </a:cubicBezTo>
                  <a:cubicBezTo>
                    <a:pt x="9863" y="17364"/>
                    <a:pt x="11060" y="17469"/>
                    <a:pt x="12101" y="17825"/>
                  </a:cubicBezTo>
                  <a:cubicBezTo>
                    <a:pt x="13767" y="18412"/>
                    <a:pt x="13845" y="19713"/>
                    <a:pt x="13038" y="20845"/>
                  </a:cubicBezTo>
                  <a:cubicBezTo>
                    <a:pt x="12778" y="21202"/>
                    <a:pt x="13272" y="21600"/>
                    <a:pt x="13715" y="21411"/>
                  </a:cubicBezTo>
                  <a:cubicBezTo>
                    <a:pt x="16812" y="20048"/>
                    <a:pt x="19128" y="17657"/>
                    <a:pt x="20325" y="14973"/>
                  </a:cubicBezTo>
                  <a:cubicBezTo>
                    <a:pt x="21236" y="12918"/>
                    <a:pt x="21600" y="10695"/>
                    <a:pt x="21314" y="8535"/>
                  </a:cubicBezTo>
                  <a:close/>
                </a:path>
              </a:pathLst>
            </a:custGeom>
            <a:solidFill>
              <a:srgbClr val="00206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EE1ADAC-BA87-EB41-95F9-52C1B06C84B6}"/>
                </a:ext>
              </a:extLst>
            </p:cNvPr>
            <p:cNvGrpSpPr/>
            <p:nvPr/>
          </p:nvGrpSpPr>
          <p:grpSpPr>
            <a:xfrm>
              <a:off x="858359" y="1671614"/>
              <a:ext cx="2412015" cy="2412015"/>
              <a:chOff x="7785949" y="1513832"/>
              <a:chExt cx="2412015" cy="2412015"/>
            </a:xfrm>
          </p:grpSpPr>
          <p:sp>
            <p:nvSpPr>
              <p:cNvPr id="37" name="Circle">
                <a:extLst>
                  <a:ext uri="{FF2B5EF4-FFF2-40B4-BE49-F238E27FC236}">
                    <a16:creationId xmlns:a16="http://schemas.microsoft.com/office/drawing/2014/main" id="{409A45FB-A137-6670-3C65-C1BB2326AFD6}"/>
                  </a:ext>
                </a:extLst>
              </p:cNvPr>
              <p:cNvSpPr/>
              <p:nvPr/>
            </p:nvSpPr>
            <p:spPr>
              <a:xfrm>
                <a:off x="7785949" y="1513832"/>
                <a:ext cx="2412015" cy="2412015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8" name="Circle">
                <a:extLst>
                  <a:ext uri="{FF2B5EF4-FFF2-40B4-BE49-F238E27FC236}">
                    <a16:creationId xmlns:a16="http://schemas.microsoft.com/office/drawing/2014/main" id="{E3D9ABC2-4217-4B96-9696-26EDBCAC9944}"/>
                  </a:ext>
                </a:extLst>
              </p:cNvPr>
              <p:cNvSpPr/>
              <p:nvPr/>
            </p:nvSpPr>
            <p:spPr>
              <a:xfrm>
                <a:off x="7865685" y="1593568"/>
                <a:ext cx="2252543" cy="2252543"/>
              </a:xfrm>
              <a:prstGeom prst="ellipse">
                <a:avLst/>
              </a:prstGeom>
              <a:solidFill>
                <a:schemeClr val="bg1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392F29E-633F-8712-0B44-691B114F4095}"/>
                  </a:ext>
                </a:extLst>
              </p:cNvPr>
              <p:cNvSpPr txBox="1"/>
              <p:nvPr/>
            </p:nvSpPr>
            <p:spPr>
              <a:xfrm>
                <a:off x="7990848" y="1565289"/>
                <a:ext cx="2044002" cy="2279705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ar-EG" sz="2400" b="1" noProof="1">
                    <a:solidFill>
                      <a:srgbClr val="1A365D"/>
                    </a:solidFill>
                  </a:rPr>
                  <a:t>شكاوى عملاء انقطاع مياه</a:t>
                </a:r>
                <a:endParaRPr lang="en-US" sz="2400" b="1" noProof="1">
                  <a:solidFill>
                    <a:srgbClr val="1A365D"/>
                  </a:solidFill>
                </a:endParaRPr>
              </a:p>
            </p:txBody>
          </p: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E5D5D693-2898-DF3B-517C-8C8A4453EA2A}"/>
              </a:ext>
            </a:extLst>
          </p:cNvPr>
          <p:cNvGrpSpPr/>
          <p:nvPr/>
        </p:nvGrpSpPr>
        <p:grpSpPr>
          <a:xfrm>
            <a:off x="5181905" y="640080"/>
            <a:ext cx="6156655" cy="640080"/>
            <a:chOff x="548640" y="640080"/>
            <a:chExt cx="6156655" cy="640080"/>
          </a:xfrm>
        </p:grpSpPr>
        <p:sp>
          <p:nvSpPr>
            <p:cNvPr id="41" name="Shape 3">
              <a:extLst>
                <a:ext uri="{FF2B5EF4-FFF2-40B4-BE49-F238E27FC236}">
                  <a16:creationId xmlns:a16="http://schemas.microsoft.com/office/drawing/2014/main" id="{E1B98568-8CCF-2651-51EB-38DAB134D33C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42" name="Text 4">
              <a:extLst>
                <a:ext uri="{FF2B5EF4-FFF2-40B4-BE49-F238E27FC236}">
                  <a16:creationId xmlns:a16="http://schemas.microsoft.com/office/drawing/2014/main" id="{D5F6B57A-7F99-EFBE-0FE7-04EF8C268965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cs typeface="Cairo Black" panose="00000A00000000000000" pitchFamily="2" charset="-78"/>
                </a:rPr>
                <a:t>أنواع المحفوظات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451169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35431" y="1417320"/>
            <a:ext cx="10657409" cy="2716551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73480" y="1645920"/>
            <a:ext cx="9845040" cy="603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EG" sz="2800" b="1" dirty="0">
                <a:solidFill>
                  <a:srgbClr val="0077B6"/>
                </a:solidFill>
                <a:latin typeface="Arial"/>
              </a:rPr>
              <a:t>المحفوظات متوسطة النشاط</a:t>
            </a:r>
            <a:endParaRPr sz="2800" b="1" dirty="0">
              <a:solidFill>
                <a:srgbClr val="0077B6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5431" y="2148840"/>
            <a:ext cx="10383089" cy="19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سجلات ومستندات </a:t>
            </a:r>
            <a:r>
              <a:rPr lang="ar-EG" sz="2400" b="1" u="sng" dirty="0">
                <a:solidFill>
                  <a:srgbClr val="1A365D"/>
                </a:solidFill>
                <a:latin typeface="Arial"/>
              </a:rPr>
              <a:t>مؤقتة</a:t>
            </a: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 قليلة التداول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تدعو الحاجة للرجوع إليها على فترات متباعدة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تُحفظ بوحدات الحفظ اللامركزية بالإدارات او تُرسل لمركز الحفظ </a:t>
            </a:r>
            <a:r>
              <a:rPr lang="ar-EG" sz="2400" b="0" u="none" dirty="0" err="1">
                <a:solidFill>
                  <a:srgbClr val="1A365D"/>
                </a:solidFill>
                <a:latin typeface="Arial"/>
              </a:rPr>
              <a:t>المركزى</a:t>
            </a: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 بمركز الاتصالات والمحفوظات، وفقًا </a:t>
            </a:r>
            <a:r>
              <a:rPr lang="ar-EG" sz="2400" b="0" u="none" dirty="0" err="1">
                <a:solidFill>
                  <a:srgbClr val="1A365D"/>
                </a:solidFill>
                <a:latin typeface="Arial"/>
              </a:rPr>
              <a:t>لتتنظيم</a:t>
            </a: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 </a:t>
            </a:r>
            <a:r>
              <a:rPr lang="ar-EG" sz="2400" b="0" u="none" dirty="0" err="1">
                <a:solidFill>
                  <a:srgbClr val="1A365D"/>
                </a:solidFill>
                <a:latin typeface="Arial"/>
              </a:rPr>
              <a:t>الادارى</a:t>
            </a: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 المتبع بكل منظمة</a:t>
            </a:r>
            <a:endParaRPr sz="2400" b="0" u="none" dirty="0">
              <a:solidFill>
                <a:srgbClr val="1A365D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10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10FDAB4-1844-70D9-8980-764C228A4364}"/>
              </a:ext>
            </a:extLst>
          </p:cNvPr>
          <p:cNvGrpSpPr/>
          <p:nvPr/>
        </p:nvGrpSpPr>
        <p:grpSpPr>
          <a:xfrm>
            <a:off x="3915855" y="4133871"/>
            <a:ext cx="1900555" cy="2340883"/>
            <a:chOff x="718659" y="1518195"/>
            <a:chExt cx="2733201" cy="3399795"/>
          </a:xfrm>
        </p:grpSpPr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4ECF504C-1B21-FE3D-6501-28503303664E}"/>
                </a:ext>
              </a:extLst>
            </p:cNvPr>
            <p:cNvSpPr/>
            <p:nvPr/>
          </p:nvSpPr>
          <p:spPr>
            <a:xfrm>
              <a:off x="718659" y="1518195"/>
              <a:ext cx="2733201" cy="3399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9" h="21460" extrusionOk="0">
                  <a:moveTo>
                    <a:pt x="21314" y="8535"/>
                  </a:moveTo>
                  <a:cubicBezTo>
                    <a:pt x="21184" y="7550"/>
                    <a:pt x="20923" y="6564"/>
                    <a:pt x="20507" y="5662"/>
                  </a:cubicBezTo>
                  <a:cubicBezTo>
                    <a:pt x="19674" y="3796"/>
                    <a:pt x="18113" y="2202"/>
                    <a:pt x="15979" y="1174"/>
                  </a:cubicBezTo>
                  <a:cubicBezTo>
                    <a:pt x="14600" y="524"/>
                    <a:pt x="13038" y="105"/>
                    <a:pt x="11451" y="21"/>
                  </a:cubicBezTo>
                  <a:cubicBezTo>
                    <a:pt x="11164" y="0"/>
                    <a:pt x="10904" y="0"/>
                    <a:pt x="10618" y="0"/>
                  </a:cubicBezTo>
                  <a:cubicBezTo>
                    <a:pt x="4762" y="0"/>
                    <a:pt x="0" y="3838"/>
                    <a:pt x="0" y="8556"/>
                  </a:cubicBezTo>
                  <a:cubicBezTo>
                    <a:pt x="0" y="11765"/>
                    <a:pt x="2186" y="14554"/>
                    <a:pt x="5439" y="16022"/>
                  </a:cubicBezTo>
                  <a:cubicBezTo>
                    <a:pt x="5439" y="16022"/>
                    <a:pt x="5439" y="16022"/>
                    <a:pt x="5465" y="16022"/>
                  </a:cubicBezTo>
                  <a:cubicBezTo>
                    <a:pt x="5491" y="16043"/>
                    <a:pt x="5517" y="16043"/>
                    <a:pt x="5569" y="16064"/>
                  </a:cubicBezTo>
                  <a:cubicBezTo>
                    <a:pt x="5569" y="16064"/>
                    <a:pt x="5569" y="16064"/>
                    <a:pt x="5569" y="16064"/>
                  </a:cubicBezTo>
                  <a:cubicBezTo>
                    <a:pt x="6584" y="16504"/>
                    <a:pt x="7651" y="16861"/>
                    <a:pt x="8770" y="17112"/>
                  </a:cubicBezTo>
                  <a:cubicBezTo>
                    <a:pt x="9863" y="17364"/>
                    <a:pt x="11060" y="17469"/>
                    <a:pt x="12101" y="17825"/>
                  </a:cubicBezTo>
                  <a:cubicBezTo>
                    <a:pt x="13767" y="18412"/>
                    <a:pt x="13845" y="19713"/>
                    <a:pt x="13038" y="20845"/>
                  </a:cubicBezTo>
                  <a:cubicBezTo>
                    <a:pt x="12778" y="21202"/>
                    <a:pt x="13272" y="21600"/>
                    <a:pt x="13715" y="21411"/>
                  </a:cubicBezTo>
                  <a:cubicBezTo>
                    <a:pt x="16812" y="20048"/>
                    <a:pt x="19128" y="17657"/>
                    <a:pt x="20325" y="14973"/>
                  </a:cubicBezTo>
                  <a:cubicBezTo>
                    <a:pt x="21236" y="12918"/>
                    <a:pt x="21600" y="10695"/>
                    <a:pt x="21314" y="8535"/>
                  </a:cubicBezTo>
                  <a:close/>
                </a:path>
              </a:pathLst>
            </a:custGeom>
            <a:solidFill>
              <a:srgbClr val="00B05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DECD1D9-5FD5-EB7B-D5A0-D6AE76A6EA91}"/>
                </a:ext>
              </a:extLst>
            </p:cNvPr>
            <p:cNvGrpSpPr/>
            <p:nvPr/>
          </p:nvGrpSpPr>
          <p:grpSpPr>
            <a:xfrm>
              <a:off x="858359" y="1671614"/>
              <a:ext cx="2412015" cy="2412015"/>
              <a:chOff x="7785949" y="1513832"/>
              <a:chExt cx="2412015" cy="2412015"/>
            </a:xfrm>
          </p:grpSpPr>
          <p:sp>
            <p:nvSpPr>
              <p:cNvPr id="14" name="Circle">
                <a:extLst>
                  <a:ext uri="{FF2B5EF4-FFF2-40B4-BE49-F238E27FC236}">
                    <a16:creationId xmlns:a16="http://schemas.microsoft.com/office/drawing/2014/main" id="{711A7229-B85A-95A6-081C-4B684FE2CF35}"/>
                  </a:ext>
                </a:extLst>
              </p:cNvPr>
              <p:cNvSpPr/>
              <p:nvPr/>
            </p:nvSpPr>
            <p:spPr>
              <a:xfrm>
                <a:off x="7785949" y="1513832"/>
                <a:ext cx="2412015" cy="2412015"/>
              </a:xfrm>
              <a:prstGeom prst="ellipse">
                <a:avLst/>
              </a:prstGeom>
              <a:solidFill>
                <a:schemeClr val="accent3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5" name="Circle">
                <a:extLst>
                  <a:ext uri="{FF2B5EF4-FFF2-40B4-BE49-F238E27FC236}">
                    <a16:creationId xmlns:a16="http://schemas.microsoft.com/office/drawing/2014/main" id="{86F3281D-5747-2C07-EEC8-6DB2414A9D5A}"/>
                  </a:ext>
                </a:extLst>
              </p:cNvPr>
              <p:cNvSpPr/>
              <p:nvPr/>
            </p:nvSpPr>
            <p:spPr>
              <a:xfrm>
                <a:off x="7865685" y="1593568"/>
                <a:ext cx="2252543" cy="2252543"/>
              </a:xfrm>
              <a:prstGeom prst="ellipse">
                <a:avLst/>
              </a:prstGeom>
              <a:solidFill>
                <a:schemeClr val="bg1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4F93A1E-FADA-847F-83F6-0A393A09909B}"/>
                  </a:ext>
                </a:extLst>
              </p:cNvPr>
              <p:cNvSpPr txBox="1"/>
              <p:nvPr/>
            </p:nvSpPr>
            <p:spPr>
              <a:xfrm>
                <a:off x="7990848" y="1565289"/>
                <a:ext cx="2044002" cy="2279705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ar-EG" sz="2400" b="1" noProof="1">
                    <a:solidFill>
                      <a:srgbClr val="1A365D"/>
                    </a:solidFill>
                  </a:rPr>
                  <a:t>تقرير الدورات التدريبية للموظف</a:t>
                </a:r>
                <a:endParaRPr lang="en-US" sz="2400" b="1" noProof="1">
                  <a:solidFill>
                    <a:srgbClr val="1A365D"/>
                  </a:solidFill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C888D3-3E9F-73B7-5976-DD8C88F2A984}"/>
              </a:ext>
            </a:extLst>
          </p:cNvPr>
          <p:cNvGrpSpPr/>
          <p:nvPr/>
        </p:nvGrpSpPr>
        <p:grpSpPr>
          <a:xfrm>
            <a:off x="6641823" y="4197077"/>
            <a:ext cx="1900555" cy="2340883"/>
            <a:chOff x="718659" y="1518195"/>
            <a:chExt cx="2733201" cy="3399795"/>
          </a:xfrm>
        </p:grpSpPr>
        <p:sp>
          <p:nvSpPr>
            <p:cNvPr id="18" name="Shape">
              <a:extLst>
                <a:ext uri="{FF2B5EF4-FFF2-40B4-BE49-F238E27FC236}">
                  <a16:creationId xmlns:a16="http://schemas.microsoft.com/office/drawing/2014/main" id="{8FD9624B-78B8-DA42-E5A3-F43683E20A39}"/>
                </a:ext>
              </a:extLst>
            </p:cNvPr>
            <p:cNvSpPr/>
            <p:nvPr/>
          </p:nvSpPr>
          <p:spPr>
            <a:xfrm>
              <a:off x="718659" y="1518195"/>
              <a:ext cx="2733201" cy="3399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9" h="21460" extrusionOk="0">
                  <a:moveTo>
                    <a:pt x="21314" y="8535"/>
                  </a:moveTo>
                  <a:cubicBezTo>
                    <a:pt x="21184" y="7550"/>
                    <a:pt x="20923" y="6564"/>
                    <a:pt x="20507" y="5662"/>
                  </a:cubicBezTo>
                  <a:cubicBezTo>
                    <a:pt x="19674" y="3796"/>
                    <a:pt x="18113" y="2202"/>
                    <a:pt x="15979" y="1174"/>
                  </a:cubicBezTo>
                  <a:cubicBezTo>
                    <a:pt x="14600" y="524"/>
                    <a:pt x="13038" y="105"/>
                    <a:pt x="11451" y="21"/>
                  </a:cubicBezTo>
                  <a:cubicBezTo>
                    <a:pt x="11164" y="0"/>
                    <a:pt x="10904" y="0"/>
                    <a:pt x="10618" y="0"/>
                  </a:cubicBezTo>
                  <a:cubicBezTo>
                    <a:pt x="4762" y="0"/>
                    <a:pt x="0" y="3838"/>
                    <a:pt x="0" y="8556"/>
                  </a:cubicBezTo>
                  <a:cubicBezTo>
                    <a:pt x="0" y="11765"/>
                    <a:pt x="2186" y="14554"/>
                    <a:pt x="5439" y="16022"/>
                  </a:cubicBezTo>
                  <a:cubicBezTo>
                    <a:pt x="5439" y="16022"/>
                    <a:pt x="5439" y="16022"/>
                    <a:pt x="5465" y="16022"/>
                  </a:cubicBezTo>
                  <a:cubicBezTo>
                    <a:pt x="5491" y="16043"/>
                    <a:pt x="5517" y="16043"/>
                    <a:pt x="5569" y="16064"/>
                  </a:cubicBezTo>
                  <a:cubicBezTo>
                    <a:pt x="5569" y="16064"/>
                    <a:pt x="5569" y="16064"/>
                    <a:pt x="5569" y="16064"/>
                  </a:cubicBezTo>
                  <a:cubicBezTo>
                    <a:pt x="6584" y="16504"/>
                    <a:pt x="7651" y="16861"/>
                    <a:pt x="8770" y="17112"/>
                  </a:cubicBezTo>
                  <a:cubicBezTo>
                    <a:pt x="9863" y="17364"/>
                    <a:pt x="11060" y="17469"/>
                    <a:pt x="12101" y="17825"/>
                  </a:cubicBezTo>
                  <a:cubicBezTo>
                    <a:pt x="13767" y="18412"/>
                    <a:pt x="13845" y="19713"/>
                    <a:pt x="13038" y="20845"/>
                  </a:cubicBezTo>
                  <a:cubicBezTo>
                    <a:pt x="12778" y="21202"/>
                    <a:pt x="13272" y="21600"/>
                    <a:pt x="13715" y="21411"/>
                  </a:cubicBezTo>
                  <a:cubicBezTo>
                    <a:pt x="16812" y="20048"/>
                    <a:pt x="19128" y="17657"/>
                    <a:pt x="20325" y="14973"/>
                  </a:cubicBezTo>
                  <a:cubicBezTo>
                    <a:pt x="21236" y="12918"/>
                    <a:pt x="21600" y="10695"/>
                    <a:pt x="21314" y="8535"/>
                  </a:cubicBezTo>
                  <a:close/>
                </a:path>
              </a:pathLst>
            </a:custGeom>
            <a:solidFill>
              <a:srgbClr val="0070C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55D1A9B-47FD-11C3-7665-C0F6BD34D0A3}"/>
                </a:ext>
              </a:extLst>
            </p:cNvPr>
            <p:cNvGrpSpPr/>
            <p:nvPr/>
          </p:nvGrpSpPr>
          <p:grpSpPr>
            <a:xfrm>
              <a:off x="858359" y="1671614"/>
              <a:ext cx="2412015" cy="2412015"/>
              <a:chOff x="7785949" y="1513832"/>
              <a:chExt cx="2412015" cy="2412015"/>
            </a:xfrm>
          </p:grpSpPr>
          <p:sp>
            <p:nvSpPr>
              <p:cNvPr id="20" name="Circle">
                <a:extLst>
                  <a:ext uri="{FF2B5EF4-FFF2-40B4-BE49-F238E27FC236}">
                    <a16:creationId xmlns:a16="http://schemas.microsoft.com/office/drawing/2014/main" id="{BB4BA79D-0BB4-B3C9-0451-F8966D218A80}"/>
                  </a:ext>
                </a:extLst>
              </p:cNvPr>
              <p:cNvSpPr/>
              <p:nvPr/>
            </p:nvSpPr>
            <p:spPr>
              <a:xfrm>
                <a:off x="7785949" y="1513832"/>
                <a:ext cx="2412015" cy="2412015"/>
              </a:xfrm>
              <a:prstGeom prst="ellipse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1" name="Circle">
                <a:extLst>
                  <a:ext uri="{FF2B5EF4-FFF2-40B4-BE49-F238E27FC236}">
                    <a16:creationId xmlns:a16="http://schemas.microsoft.com/office/drawing/2014/main" id="{53F59BD4-A6F9-5F58-7DCC-994F3F430852}"/>
                  </a:ext>
                </a:extLst>
              </p:cNvPr>
              <p:cNvSpPr/>
              <p:nvPr/>
            </p:nvSpPr>
            <p:spPr>
              <a:xfrm>
                <a:off x="7865685" y="1593568"/>
                <a:ext cx="2252543" cy="2252543"/>
              </a:xfrm>
              <a:prstGeom prst="ellipse">
                <a:avLst/>
              </a:prstGeom>
              <a:solidFill>
                <a:schemeClr val="bg1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1B8F6E30-34F5-D67E-D9A9-1BC5D21947D9}"/>
                  </a:ext>
                </a:extLst>
              </p:cNvPr>
              <p:cNvSpPr txBox="1"/>
              <p:nvPr/>
            </p:nvSpPr>
            <p:spPr>
              <a:xfrm>
                <a:off x="7990848" y="1833488"/>
                <a:ext cx="2044002" cy="1743305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ar-EG" sz="2400" b="1" noProof="1">
                    <a:solidFill>
                      <a:srgbClr val="1A365D"/>
                    </a:solidFill>
                  </a:rPr>
                  <a:t>سجل العهدة الشخصية</a:t>
                </a:r>
                <a:endParaRPr lang="en-US" sz="2400" b="1" noProof="1">
                  <a:solidFill>
                    <a:srgbClr val="1A365D"/>
                  </a:solidFill>
                </a:endParaRPr>
              </a:p>
            </p:txBody>
          </p:sp>
        </p:grp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4DE33C-4D7B-1258-04AE-699182FA2923}"/>
              </a:ext>
            </a:extLst>
          </p:cNvPr>
          <p:cNvGrpSpPr/>
          <p:nvPr/>
        </p:nvGrpSpPr>
        <p:grpSpPr>
          <a:xfrm>
            <a:off x="9117964" y="4117322"/>
            <a:ext cx="1900555" cy="2340883"/>
            <a:chOff x="718659" y="1518195"/>
            <a:chExt cx="2733201" cy="3399795"/>
          </a:xfrm>
        </p:grpSpPr>
        <p:sp>
          <p:nvSpPr>
            <p:cNvPr id="24" name="Shape">
              <a:extLst>
                <a:ext uri="{FF2B5EF4-FFF2-40B4-BE49-F238E27FC236}">
                  <a16:creationId xmlns:a16="http://schemas.microsoft.com/office/drawing/2014/main" id="{51CDE1D6-9458-3E1B-B0BB-C19E18A9A62D}"/>
                </a:ext>
              </a:extLst>
            </p:cNvPr>
            <p:cNvSpPr/>
            <p:nvPr/>
          </p:nvSpPr>
          <p:spPr>
            <a:xfrm>
              <a:off x="718659" y="1518195"/>
              <a:ext cx="2733201" cy="3399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9" h="21460" extrusionOk="0">
                  <a:moveTo>
                    <a:pt x="21314" y="8535"/>
                  </a:moveTo>
                  <a:cubicBezTo>
                    <a:pt x="21184" y="7550"/>
                    <a:pt x="20923" y="6564"/>
                    <a:pt x="20507" y="5662"/>
                  </a:cubicBezTo>
                  <a:cubicBezTo>
                    <a:pt x="19674" y="3796"/>
                    <a:pt x="18113" y="2202"/>
                    <a:pt x="15979" y="1174"/>
                  </a:cubicBezTo>
                  <a:cubicBezTo>
                    <a:pt x="14600" y="524"/>
                    <a:pt x="13038" y="105"/>
                    <a:pt x="11451" y="21"/>
                  </a:cubicBezTo>
                  <a:cubicBezTo>
                    <a:pt x="11164" y="0"/>
                    <a:pt x="10904" y="0"/>
                    <a:pt x="10618" y="0"/>
                  </a:cubicBezTo>
                  <a:cubicBezTo>
                    <a:pt x="4762" y="0"/>
                    <a:pt x="0" y="3838"/>
                    <a:pt x="0" y="8556"/>
                  </a:cubicBezTo>
                  <a:cubicBezTo>
                    <a:pt x="0" y="11765"/>
                    <a:pt x="2186" y="14554"/>
                    <a:pt x="5439" y="16022"/>
                  </a:cubicBezTo>
                  <a:cubicBezTo>
                    <a:pt x="5439" y="16022"/>
                    <a:pt x="5439" y="16022"/>
                    <a:pt x="5465" y="16022"/>
                  </a:cubicBezTo>
                  <a:cubicBezTo>
                    <a:pt x="5491" y="16043"/>
                    <a:pt x="5517" y="16043"/>
                    <a:pt x="5569" y="16064"/>
                  </a:cubicBezTo>
                  <a:cubicBezTo>
                    <a:pt x="5569" y="16064"/>
                    <a:pt x="5569" y="16064"/>
                    <a:pt x="5569" y="16064"/>
                  </a:cubicBezTo>
                  <a:cubicBezTo>
                    <a:pt x="6584" y="16504"/>
                    <a:pt x="7651" y="16861"/>
                    <a:pt x="8770" y="17112"/>
                  </a:cubicBezTo>
                  <a:cubicBezTo>
                    <a:pt x="9863" y="17364"/>
                    <a:pt x="11060" y="17469"/>
                    <a:pt x="12101" y="17825"/>
                  </a:cubicBezTo>
                  <a:cubicBezTo>
                    <a:pt x="13767" y="18412"/>
                    <a:pt x="13845" y="19713"/>
                    <a:pt x="13038" y="20845"/>
                  </a:cubicBezTo>
                  <a:cubicBezTo>
                    <a:pt x="12778" y="21202"/>
                    <a:pt x="13272" y="21600"/>
                    <a:pt x="13715" y="21411"/>
                  </a:cubicBezTo>
                  <a:cubicBezTo>
                    <a:pt x="16812" y="20048"/>
                    <a:pt x="19128" y="17657"/>
                    <a:pt x="20325" y="14973"/>
                  </a:cubicBezTo>
                  <a:cubicBezTo>
                    <a:pt x="21236" y="12918"/>
                    <a:pt x="21600" y="10695"/>
                    <a:pt x="21314" y="8535"/>
                  </a:cubicBezTo>
                  <a:close/>
                </a:path>
              </a:pathLst>
            </a:custGeom>
            <a:solidFill>
              <a:srgbClr val="00206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906C1AEC-89E9-7285-B030-74ECC04FBCF9}"/>
                </a:ext>
              </a:extLst>
            </p:cNvPr>
            <p:cNvGrpSpPr/>
            <p:nvPr/>
          </p:nvGrpSpPr>
          <p:grpSpPr>
            <a:xfrm>
              <a:off x="858359" y="1671614"/>
              <a:ext cx="2412015" cy="2412015"/>
              <a:chOff x="7785949" y="1513832"/>
              <a:chExt cx="2412015" cy="2412015"/>
            </a:xfrm>
          </p:grpSpPr>
          <p:sp>
            <p:nvSpPr>
              <p:cNvPr id="26" name="Circle">
                <a:extLst>
                  <a:ext uri="{FF2B5EF4-FFF2-40B4-BE49-F238E27FC236}">
                    <a16:creationId xmlns:a16="http://schemas.microsoft.com/office/drawing/2014/main" id="{63218CDF-CE88-94E7-6B2E-8FFADAD06FCF}"/>
                  </a:ext>
                </a:extLst>
              </p:cNvPr>
              <p:cNvSpPr/>
              <p:nvPr/>
            </p:nvSpPr>
            <p:spPr>
              <a:xfrm>
                <a:off x="7785949" y="1513832"/>
                <a:ext cx="2412015" cy="2412015"/>
              </a:xfrm>
              <a:prstGeom prst="ellipse">
                <a:avLst/>
              </a:prstGeom>
              <a:solidFill>
                <a:schemeClr val="tx2">
                  <a:lumMod val="75000"/>
                </a:schemeClr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D1242AED-2BB8-AD3B-01D5-A08AA035D6F1}"/>
                  </a:ext>
                </a:extLst>
              </p:cNvPr>
              <p:cNvSpPr/>
              <p:nvPr/>
            </p:nvSpPr>
            <p:spPr>
              <a:xfrm>
                <a:off x="7865685" y="1593568"/>
                <a:ext cx="2252543" cy="2252543"/>
              </a:xfrm>
              <a:prstGeom prst="ellipse">
                <a:avLst/>
              </a:prstGeom>
              <a:solidFill>
                <a:schemeClr val="bg1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424AD57-96BA-C561-70CD-39B68208953A}"/>
                  </a:ext>
                </a:extLst>
              </p:cNvPr>
              <p:cNvSpPr txBox="1"/>
              <p:nvPr/>
            </p:nvSpPr>
            <p:spPr>
              <a:xfrm>
                <a:off x="7990848" y="1833488"/>
                <a:ext cx="2044002" cy="1743305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ar-EG" sz="2400" b="1" noProof="1">
                    <a:solidFill>
                      <a:srgbClr val="1A365D"/>
                    </a:solidFill>
                  </a:rPr>
                  <a:t>بطاقة الوصف الوظيفى</a:t>
                </a:r>
                <a:endParaRPr lang="en-US" sz="2400" b="1" noProof="1">
                  <a:solidFill>
                    <a:srgbClr val="1A365D"/>
                  </a:solidFill>
                </a:endParaRPr>
              </a:p>
            </p:txBody>
          </p:sp>
        </p:grp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5379B00-CAC6-E6EE-2520-FB9520E479D7}"/>
              </a:ext>
            </a:extLst>
          </p:cNvPr>
          <p:cNvGrpSpPr/>
          <p:nvPr/>
        </p:nvGrpSpPr>
        <p:grpSpPr>
          <a:xfrm>
            <a:off x="1090926" y="4133871"/>
            <a:ext cx="1900555" cy="2340883"/>
            <a:chOff x="718659" y="1518195"/>
            <a:chExt cx="2733201" cy="3399795"/>
          </a:xfrm>
        </p:grpSpPr>
        <p:sp>
          <p:nvSpPr>
            <p:cNvPr id="30" name="Shape">
              <a:extLst>
                <a:ext uri="{FF2B5EF4-FFF2-40B4-BE49-F238E27FC236}">
                  <a16:creationId xmlns:a16="http://schemas.microsoft.com/office/drawing/2014/main" id="{50D7A8B1-CFE6-9676-38B1-E9DE745C8E7D}"/>
                </a:ext>
              </a:extLst>
            </p:cNvPr>
            <p:cNvSpPr/>
            <p:nvPr/>
          </p:nvSpPr>
          <p:spPr>
            <a:xfrm>
              <a:off x="718659" y="1518195"/>
              <a:ext cx="2733201" cy="339979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9" h="21460" extrusionOk="0">
                  <a:moveTo>
                    <a:pt x="21314" y="8535"/>
                  </a:moveTo>
                  <a:cubicBezTo>
                    <a:pt x="21184" y="7550"/>
                    <a:pt x="20923" y="6564"/>
                    <a:pt x="20507" y="5662"/>
                  </a:cubicBezTo>
                  <a:cubicBezTo>
                    <a:pt x="19674" y="3796"/>
                    <a:pt x="18113" y="2202"/>
                    <a:pt x="15979" y="1174"/>
                  </a:cubicBezTo>
                  <a:cubicBezTo>
                    <a:pt x="14600" y="524"/>
                    <a:pt x="13038" y="105"/>
                    <a:pt x="11451" y="21"/>
                  </a:cubicBezTo>
                  <a:cubicBezTo>
                    <a:pt x="11164" y="0"/>
                    <a:pt x="10904" y="0"/>
                    <a:pt x="10618" y="0"/>
                  </a:cubicBezTo>
                  <a:cubicBezTo>
                    <a:pt x="4762" y="0"/>
                    <a:pt x="0" y="3838"/>
                    <a:pt x="0" y="8556"/>
                  </a:cubicBezTo>
                  <a:cubicBezTo>
                    <a:pt x="0" y="11765"/>
                    <a:pt x="2186" y="14554"/>
                    <a:pt x="5439" y="16022"/>
                  </a:cubicBezTo>
                  <a:cubicBezTo>
                    <a:pt x="5439" y="16022"/>
                    <a:pt x="5439" y="16022"/>
                    <a:pt x="5465" y="16022"/>
                  </a:cubicBezTo>
                  <a:cubicBezTo>
                    <a:pt x="5491" y="16043"/>
                    <a:pt x="5517" y="16043"/>
                    <a:pt x="5569" y="16064"/>
                  </a:cubicBezTo>
                  <a:cubicBezTo>
                    <a:pt x="5569" y="16064"/>
                    <a:pt x="5569" y="16064"/>
                    <a:pt x="5569" y="16064"/>
                  </a:cubicBezTo>
                  <a:cubicBezTo>
                    <a:pt x="6584" y="16504"/>
                    <a:pt x="7651" y="16861"/>
                    <a:pt x="8770" y="17112"/>
                  </a:cubicBezTo>
                  <a:cubicBezTo>
                    <a:pt x="9863" y="17364"/>
                    <a:pt x="11060" y="17469"/>
                    <a:pt x="12101" y="17825"/>
                  </a:cubicBezTo>
                  <a:cubicBezTo>
                    <a:pt x="13767" y="18412"/>
                    <a:pt x="13845" y="19713"/>
                    <a:pt x="13038" y="20845"/>
                  </a:cubicBezTo>
                  <a:cubicBezTo>
                    <a:pt x="12778" y="21202"/>
                    <a:pt x="13272" y="21600"/>
                    <a:pt x="13715" y="21411"/>
                  </a:cubicBezTo>
                  <a:cubicBezTo>
                    <a:pt x="16812" y="20048"/>
                    <a:pt x="19128" y="17657"/>
                    <a:pt x="20325" y="14973"/>
                  </a:cubicBezTo>
                  <a:cubicBezTo>
                    <a:pt x="21236" y="12918"/>
                    <a:pt x="21600" y="10695"/>
                    <a:pt x="21314" y="8535"/>
                  </a:cubicBezTo>
                  <a:close/>
                </a:path>
              </a:pathLst>
            </a:custGeom>
            <a:solidFill>
              <a:srgbClr val="FFC000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</a:defRPr>
              </a:pPr>
              <a:endParaRPr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24302A8A-E6A6-5360-BE7D-A1078AB1F36D}"/>
                </a:ext>
              </a:extLst>
            </p:cNvPr>
            <p:cNvGrpSpPr/>
            <p:nvPr/>
          </p:nvGrpSpPr>
          <p:grpSpPr>
            <a:xfrm>
              <a:off x="858359" y="1671614"/>
              <a:ext cx="2412015" cy="2412015"/>
              <a:chOff x="7785949" y="1513832"/>
              <a:chExt cx="2412015" cy="2412015"/>
            </a:xfrm>
          </p:grpSpPr>
          <p:sp>
            <p:nvSpPr>
              <p:cNvPr id="32" name="Circle">
                <a:extLst>
                  <a:ext uri="{FF2B5EF4-FFF2-40B4-BE49-F238E27FC236}">
                    <a16:creationId xmlns:a16="http://schemas.microsoft.com/office/drawing/2014/main" id="{34AA29EE-B95A-12D2-BDB4-F8188CA6A347}"/>
                  </a:ext>
                </a:extLst>
              </p:cNvPr>
              <p:cNvSpPr/>
              <p:nvPr/>
            </p:nvSpPr>
            <p:spPr>
              <a:xfrm>
                <a:off x="7785949" y="1513832"/>
                <a:ext cx="2412015" cy="2412015"/>
              </a:xfrm>
              <a:prstGeom prst="ellipse">
                <a:avLst/>
              </a:prstGeom>
              <a:solidFill>
                <a:srgbClr val="FFFF00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3" name="Circle">
                <a:extLst>
                  <a:ext uri="{FF2B5EF4-FFF2-40B4-BE49-F238E27FC236}">
                    <a16:creationId xmlns:a16="http://schemas.microsoft.com/office/drawing/2014/main" id="{3CC6BF9B-67D9-78C0-AD9B-38092EE714B5}"/>
                  </a:ext>
                </a:extLst>
              </p:cNvPr>
              <p:cNvSpPr/>
              <p:nvPr/>
            </p:nvSpPr>
            <p:spPr>
              <a:xfrm>
                <a:off x="7865685" y="1593568"/>
                <a:ext cx="2252543" cy="2252543"/>
              </a:xfrm>
              <a:prstGeom prst="ellipse">
                <a:avLst/>
              </a:prstGeom>
              <a:solidFill>
                <a:schemeClr val="bg1"/>
              </a:solidFill>
              <a:ln w="12700">
                <a:miter lim="400000"/>
              </a:ln>
            </p:spPr>
            <p:txBody>
              <a:bodyPr lIns="38100" tIns="38100" rIns="38100" bIns="38100" anchor="ctr"/>
              <a:lstStyle/>
              <a:p>
                <a:pPr>
                  <a:defRPr sz="3000">
                    <a:solidFill>
                      <a:srgbClr val="FFFFFF"/>
                    </a:solidFill>
                  </a:defRPr>
                </a:pPr>
                <a:endParaRPr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B5AECBC-1084-CE9C-5FDF-7C66FE1962A5}"/>
                  </a:ext>
                </a:extLst>
              </p:cNvPr>
              <p:cNvSpPr txBox="1"/>
              <p:nvPr/>
            </p:nvSpPr>
            <p:spPr>
              <a:xfrm>
                <a:off x="7990848" y="1833488"/>
                <a:ext cx="2044002" cy="1743305"/>
              </a:xfrm>
              <a:prstGeom prst="rect">
                <a:avLst/>
              </a:prstGeom>
              <a:noFill/>
            </p:spPr>
            <p:txBody>
              <a:bodyPr wrap="square" lIns="0" rIns="0" rtlCol="0" anchor="ctr">
                <a:spAutoFit/>
              </a:bodyPr>
              <a:lstStyle/>
              <a:p>
                <a:pPr algn="ctr"/>
                <a:r>
                  <a:rPr lang="ar-EG" sz="2400" b="1" noProof="1">
                    <a:solidFill>
                      <a:srgbClr val="1A365D"/>
                    </a:solidFill>
                  </a:rPr>
                  <a:t>قرار استلام عمل</a:t>
                </a:r>
                <a:endParaRPr lang="en-US" sz="2400" b="1" noProof="1">
                  <a:solidFill>
                    <a:srgbClr val="1A365D"/>
                  </a:solidFill>
                </a:endParaRPr>
              </a:p>
            </p:txBody>
          </p:sp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5F2ABFC-6ACB-2F45-7771-86C51E91EEB3}"/>
              </a:ext>
            </a:extLst>
          </p:cNvPr>
          <p:cNvGrpSpPr/>
          <p:nvPr/>
        </p:nvGrpSpPr>
        <p:grpSpPr>
          <a:xfrm>
            <a:off x="5576790" y="640080"/>
            <a:ext cx="6156655" cy="640080"/>
            <a:chOff x="548640" y="640080"/>
            <a:chExt cx="6156655" cy="640080"/>
          </a:xfrm>
        </p:grpSpPr>
        <p:sp>
          <p:nvSpPr>
            <p:cNvPr id="36" name="Shape 3">
              <a:extLst>
                <a:ext uri="{FF2B5EF4-FFF2-40B4-BE49-F238E27FC236}">
                  <a16:creationId xmlns:a16="http://schemas.microsoft.com/office/drawing/2014/main" id="{36AD0CA7-3521-06DC-32CB-5FCD94714E46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37" name="Text 4">
              <a:extLst>
                <a:ext uri="{FF2B5EF4-FFF2-40B4-BE49-F238E27FC236}">
                  <a16:creationId xmlns:a16="http://schemas.microsoft.com/office/drawing/2014/main" id="{DF569811-1CAB-DACC-A1BA-BF30F112A3FC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أنواع المحفوظات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14400" y="791029"/>
            <a:ext cx="10362895" cy="1955599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241601"/>
            <a:ext cx="9539935" cy="1505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السجلات والأوراق والمستندات التي لا تدعو الحاجة للرجوع اليها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 err="1">
                <a:solidFill>
                  <a:srgbClr val="1A365D"/>
                </a:solidFill>
                <a:latin typeface="Arial"/>
              </a:rPr>
              <a:t>لإنتهاء</a:t>
            </a:r>
            <a:r>
              <a:rPr lang="ar-EG" sz="2400" dirty="0">
                <a:solidFill>
                  <a:srgbClr val="1A365D"/>
                </a:solidFill>
                <a:latin typeface="Arial"/>
              </a:rPr>
              <a:t> العمل بها أو لعدم الحاجة إليها أو لمرور سنوات طويلة عليها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تنقسم الى قسمين رئيسيين: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E5B149-2CAB-E595-3E0D-38A9C14068A1}"/>
              </a:ext>
            </a:extLst>
          </p:cNvPr>
          <p:cNvSpPr txBox="1"/>
          <p:nvPr/>
        </p:nvSpPr>
        <p:spPr>
          <a:xfrm>
            <a:off x="1173327" y="791029"/>
            <a:ext cx="9845040" cy="603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EG" sz="2800" b="1" dirty="0">
                <a:solidFill>
                  <a:srgbClr val="0077B6"/>
                </a:solidFill>
                <a:latin typeface="Arial"/>
              </a:rPr>
              <a:t>المحفوظات الغير نشيطة</a:t>
            </a:r>
            <a:endParaRPr sz="2800" b="1" dirty="0">
              <a:solidFill>
                <a:srgbClr val="0077B6"/>
              </a:solidFill>
              <a:latin typeface="Arial"/>
            </a:endParaRPr>
          </a:p>
        </p:txBody>
      </p:sp>
      <p:sp>
        <p:nvSpPr>
          <p:cNvPr id="10" name="Rounded Rectangle 2">
            <a:extLst>
              <a:ext uri="{FF2B5EF4-FFF2-40B4-BE49-F238E27FC236}">
                <a16:creationId xmlns:a16="http://schemas.microsoft.com/office/drawing/2014/main" id="{008B9D38-128B-A265-580A-B9DFFB99DC15}"/>
              </a:ext>
            </a:extLst>
          </p:cNvPr>
          <p:cNvSpPr/>
          <p:nvPr/>
        </p:nvSpPr>
        <p:spPr>
          <a:xfrm>
            <a:off x="6096000" y="2776061"/>
            <a:ext cx="5074767" cy="3818069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8EA6DB-5B7C-B521-99BD-0615492F7520}"/>
              </a:ext>
            </a:extLst>
          </p:cNvPr>
          <p:cNvSpPr txBox="1"/>
          <p:nvPr/>
        </p:nvSpPr>
        <p:spPr>
          <a:xfrm>
            <a:off x="6087528" y="3168577"/>
            <a:ext cx="5074767" cy="342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التي تتضمن  مبادئ والتزامات متعلقة بالصالح العام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ذات أهمية تاريخية ولا يمكن الاستغناء عنها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مهمة او يشك في أنها مهمة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عقود – اتفاقيات – أوامر – قرارات - لوائح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86C7F1-DA04-6562-130A-1CA69A64D51E}"/>
              </a:ext>
            </a:extLst>
          </p:cNvPr>
          <p:cNvSpPr txBox="1"/>
          <p:nvPr/>
        </p:nvSpPr>
        <p:spPr>
          <a:xfrm>
            <a:off x="6090667" y="2776061"/>
            <a:ext cx="4821171" cy="603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EG" sz="2800" b="1" dirty="0">
                <a:solidFill>
                  <a:srgbClr val="0077B6"/>
                </a:solidFill>
                <a:latin typeface="Arial"/>
              </a:rPr>
              <a:t>المستديمة</a:t>
            </a:r>
            <a:endParaRPr sz="2800" b="1" dirty="0">
              <a:solidFill>
                <a:srgbClr val="0077B6"/>
              </a:solidFill>
              <a:latin typeface="Arial"/>
            </a:endParaRPr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AE91C1BC-B818-7CCD-8B17-FAA6D1958EE9}"/>
              </a:ext>
            </a:extLst>
          </p:cNvPr>
          <p:cNvSpPr/>
          <p:nvPr/>
        </p:nvSpPr>
        <p:spPr>
          <a:xfrm>
            <a:off x="922872" y="2931807"/>
            <a:ext cx="5074767" cy="2943151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BBE62E-892F-183D-5D3F-D924B868E2FA}"/>
              </a:ext>
            </a:extLst>
          </p:cNvPr>
          <p:cNvSpPr txBox="1"/>
          <p:nvPr/>
        </p:nvSpPr>
        <p:spPr>
          <a:xfrm>
            <a:off x="914400" y="3324323"/>
            <a:ext cx="5074767" cy="2465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انتهى العمل بها تماما وليس لها </a:t>
            </a:r>
            <a:r>
              <a:rPr lang="ar-EG" sz="2400" dirty="0" err="1">
                <a:solidFill>
                  <a:srgbClr val="1A365D"/>
                </a:solidFill>
                <a:latin typeface="Arial"/>
              </a:rPr>
              <a:t>اى</a:t>
            </a:r>
            <a:r>
              <a:rPr lang="ar-EG" sz="2400" dirty="0">
                <a:solidFill>
                  <a:srgbClr val="1A365D"/>
                </a:solidFill>
                <a:latin typeface="Arial"/>
              </a:rPr>
              <a:t> قيمة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يجب النظر في التخلص منها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مسودات- صور ذائدة –دعوات اجتماع –بطاقات </a:t>
            </a:r>
            <a:r>
              <a:rPr lang="ar-EG" sz="2400" dirty="0" err="1">
                <a:solidFill>
                  <a:srgbClr val="1A365D"/>
                </a:solidFill>
                <a:latin typeface="Arial"/>
              </a:rPr>
              <a:t>تهانى</a:t>
            </a:r>
            <a:r>
              <a:rPr lang="ar-EG" sz="2400" dirty="0">
                <a:solidFill>
                  <a:srgbClr val="1A365D"/>
                </a:solidFill>
                <a:latin typeface="Arial"/>
              </a:rPr>
              <a:t> ومناسبات انتهت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EFA330-375B-6499-AFED-F4BC385499AD}"/>
              </a:ext>
            </a:extLst>
          </p:cNvPr>
          <p:cNvSpPr txBox="1"/>
          <p:nvPr/>
        </p:nvSpPr>
        <p:spPr>
          <a:xfrm>
            <a:off x="917539" y="2931807"/>
            <a:ext cx="4821171" cy="603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lang="ar-EG" sz="2800" b="1" dirty="0">
                <a:solidFill>
                  <a:srgbClr val="0077B6"/>
                </a:solidFill>
                <a:latin typeface="Arial"/>
              </a:rPr>
              <a:t>المستديمة</a:t>
            </a:r>
            <a:endParaRPr sz="2800" b="1" dirty="0">
              <a:solidFill>
                <a:srgbClr val="0077B6"/>
              </a:solidFill>
              <a:latin typeface="Arial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7543F57-54C9-C2DD-6FF7-99B6475B8DEA}"/>
              </a:ext>
            </a:extLst>
          </p:cNvPr>
          <p:cNvGrpSpPr/>
          <p:nvPr/>
        </p:nvGrpSpPr>
        <p:grpSpPr>
          <a:xfrm>
            <a:off x="718762" y="366683"/>
            <a:ext cx="6156655" cy="640080"/>
            <a:chOff x="548640" y="640080"/>
            <a:chExt cx="6156655" cy="640080"/>
          </a:xfrm>
        </p:grpSpPr>
        <p:sp>
          <p:nvSpPr>
            <p:cNvPr id="28" name="Shape 3">
              <a:extLst>
                <a:ext uri="{FF2B5EF4-FFF2-40B4-BE49-F238E27FC236}">
                  <a16:creationId xmlns:a16="http://schemas.microsoft.com/office/drawing/2014/main" id="{C4ACF291-D1AA-3919-CE3D-F0794B78C8C0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29" name="Text 4">
              <a:extLst>
                <a:ext uri="{FF2B5EF4-FFF2-40B4-BE49-F238E27FC236}">
                  <a16:creationId xmlns:a16="http://schemas.microsoft.com/office/drawing/2014/main" id="{9B3625D3-B05D-6970-219F-FE99F6D1D72C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أنواع المحفوظات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8B0A4-8430-5CBD-A2E3-866478096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37568B6-1BE3-2535-6FAE-E59DE77F12F1}"/>
              </a:ext>
            </a:extLst>
          </p:cNvPr>
          <p:cNvSpPr/>
          <p:nvPr/>
        </p:nvSpPr>
        <p:spPr>
          <a:xfrm>
            <a:off x="914400" y="1371600"/>
            <a:ext cx="10362895" cy="270691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CE06C0-C528-F2FC-AEC2-67AF8C91BA0E}"/>
              </a:ext>
            </a:extLst>
          </p:cNvPr>
          <p:cNvSpPr txBox="1"/>
          <p:nvPr/>
        </p:nvSpPr>
        <p:spPr>
          <a:xfrm>
            <a:off x="6212114" y="1822172"/>
            <a:ext cx="4653701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عقد توريد أجهزة حاسب </a:t>
            </a:r>
            <a:r>
              <a:rPr lang="ar-EG" sz="2400" dirty="0" err="1">
                <a:solidFill>
                  <a:srgbClr val="1A365D"/>
                </a:solidFill>
                <a:latin typeface="Arial"/>
              </a:rPr>
              <a:t>آلى</a:t>
            </a:r>
            <a:endParaRPr lang="ar-EG" sz="2400" dirty="0">
              <a:solidFill>
                <a:srgbClr val="1A365D"/>
              </a:solidFill>
              <a:latin typeface="Arial"/>
            </a:endParaRP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قرار تعيين موظف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دعوة اجتماع</a:t>
            </a:r>
          </a:p>
          <a:p>
            <a:pPr marL="285750" indent="-285750" algn="r" rtl="1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بطاقات </a:t>
            </a:r>
            <a:r>
              <a:rPr lang="ar-EG" sz="2400" dirty="0" err="1">
                <a:solidFill>
                  <a:srgbClr val="1A365D"/>
                </a:solidFill>
                <a:latin typeface="Arial"/>
              </a:rPr>
              <a:t>التهانى</a:t>
            </a:r>
            <a:r>
              <a:rPr lang="ar-EG" sz="2400" dirty="0">
                <a:solidFill>
                  <a:srgbClr val="1A365D"/>
                </a:solidFill>
                <a:latin typeface="Arial"/>
              </a:rPr>
              <a:t> بالأعياد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1F93D1-3B9B-2FD6-941F-758EF770D9ED}"/>
              </a:ext>
            </a:extLst>
          </p:cNvPr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5A51F-2A25-A9A6-6CD4-C9CD6FE0C735}"/>
              </a:ext>
            </a:extLst>
          </p:cNvPr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25C26F-6FE9-5B1C-667B-4289411923BF}"/>
              </a:ext>
            </a:extLst>
          </p:cNvPr>
          <p:cNvSpPr txBox="1"/>
          <p:nvPr/>
        </p:nvSpPr>
        <p:spPr>
          <a:xfrm>
            <a:off x="4194629" y="1822171"/>
            <a:ext cx="2483814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0077B6"/>
                </a:solidFill>
                <a:latin typeface="Arial"/>
              </a:rPr>
              <a:t>مستديمة</a:t>
            </a:r>
          </a:p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0077B6"/>
                </a:solidFill>
                <a:latin typeface="Arial"/>
              </a:rPr>
              <a:t>مستديمة</a:t>
            </a:r>
          </a:p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0077B6"/>
                </a:solidFill>
                <a:latin typeface="Arial"/>
              </a:rPr>
              <a:t>منتهية</a:t>
            </a:r>
          </a:p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0077B6"/>
                </a:solidFill>
                <a:latin typeface="Arial"/>
              </a:rPr>
              <a:t>منتهية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E92CA8F-F45E-8CDC-9144-6A7D872015C9}"/>
              </a:ext>
            </a:extLst>
          </p:cNvPr>
          <p:cNvGrpSpPr/>
          <p:nvPr/>
        </p:nvGrpSpPr>
        <p:grpSpPr>
          <a:xfrm>
            <a:off x="5639105" y="640080"/>
            <a:ext cx="6156655" cy="640080"/>
            <a:chOff x="548640" y="640080"/>
            <a:chExt cx="6156655" cy="640080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8AC841C3-879B-18FF-D585-D27862689B55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623300EA-4D66-D68D-0461-8634CD7F1B78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أنواع المحفوظات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968920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3: </a:t>
            </a:r>
            <a:r>
              <a:rPr dirty="0" err="1"/>
              <a:t>تصنيف</a:t>
            </a:r>
            <a:r>
              <a:rPr dirty="0"/>
              <a:t> </a:t>
            </a:r>
            <a:r>
              <a:rPr dirty="0" err="1"/>
              <a:t>أنواع</a:t>
            </a:r>
            <a:r>
              <a:rPr dirty="0"/>
              <a:t> </a:t>
            </a:r>
            <a:r>
              <a:rPr dirty="0" err="1"/>
              <a:t>المحفوظات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تمرين فردي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تمكين المتدرب من تمييز أنواع المحفوظات الثلاثة عملياً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توزيع بطاقات تحمل أسماء مستندات متنوعة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يصنّف كل متدرب البطاقات حسب نوع المحفوظة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كتابة سبب التصنيف بإيجاز أسفل كل بطاقة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مراجعة الإجابات ومناقشتها بشكل جماعي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783415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4: </a:t>
            </a:r>
            <a:r>
              <a:rPr dirty="0" err="1"/>
              <a:t>أهمية</a:t>
            </a:r>
            <a:r>
              <a:rPr dirty="0"/>
              <a:t> </a:t>
            </a:r>
            <a:r>
              <a:rPr dirty="0" err="1"/>
              <a:t>المحفوظات</a:t>
            </a:r>
            <a:r>
              <a:rPr dirty="0"/>
              <a:t> </a:t>
            </a:r>
            <a:r>
              <a:rPr dirty="0" err="1"/>
              <a:t>في</a:t>
            </a:r>
            <a:r>
              <a:rPr dirty="0"/>
              <a:t> </a:t>
            </a:r>
            <a:r>
              <a:rPr dirty="0" err="1"/>
              <a:t>عملي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مناقشة جماعية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ربط أهمية المحفوظات بواقع عمل المتدربين اليومي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طرح سؤال عن أثر فقدان مستند مهم بالعمل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مناقشة الأثر داخل مجموعات صغيرة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عرض كل مجموعة لأهم نقطة توصلت إليها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تلخيص المدرب لأبرز الأفكار المطروحة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65581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14400" y="1371600"/>
            <a:ext cx="10362895" cy="1502229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552" y="1645920"/>
            <a:ext cx="9951263" cy="1057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كالقلب بالنسبة لجسم الإنسان</a:t>
            </a:r>
          </a:p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المصدر الذى يضخ المعلومات لكل إدارات وأقسام المنظمة لإنجاز الأعمال</a:t>
            </a:r>
            <a:endParaRPr lang="ar-EG" sz="2400" b="0" u="none" dirty="0">
              <a:solidFill>
                <a:srgbClr val="1A365D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12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FE1CB7-D65F-03C2-439D-027A38A8C5F0}"/>
              </a:ext>
            </a:extLst>
          </p:cNvPr>
          <p:cNvGrpSpPr/>
          <p:nvPr/>
        </p:nvGrpSpPr>
        <p:grpSpPr>
          <a:xfrm>
            <a:off x="5577839" y="578925"/>
            <a:ext cx="6156655" cy="640080"/>
            <a:chOff x="548640" y="640080"/>
            <a:chExt cx="6156655" cy="640080"/>
          </a:xfrm>
        </p:grpSpPr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1D2B9047-79EC-99A0-D05F-01C23441E1D4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8437DA68-89A9-F674-0E32-4C46DCFC813A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أهمية المحفوظات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0F59F-6377-1012-5B81-2305E0506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D1E2F5-D199-7759-61BB-B13FF4829788}"/>
              </a:ext>
            </a:extLst>
          </p:cNvPr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FEDCBB-CADF-F13D-F381-CE4375ADE80A}"/>
              </a:ext>
            </a:extLst>
          </p:cNvPr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12</a:t>
            </a:r>
          </a:p>
        </p:txBody>
      </p:sp>
      <p:sp>
        <p:nvSpPr>
          <p:cNvPr id="8" name="Rounded Rectangle 2">
            <a:extLst>
              <a:ext uri="{FF2B5EF4-FFF2-40B4-BE49-F238E27FC236}">
                <a16:creationId xmlns:a16="http://schemas.microsoft.com/office/drawing/2014/main" id="{2DEF9A97-5553-6D9A-F087-031D618C3B71}"/>
              </a:ext>
            </a:extLst>
          </p:cNvPr>
          <p:cNvSpPr/>
          <p:nvPr/>
        </p:nvSpPr>
        <p:spPr>
          <a:xfrm>
            <a:off x="914552" y="1589315"/>
            <a:ext cx="10362895" cy="2594969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903FA-684A-CAB0-74D5-B104E73FBDDF}"/>
              </a:ext>
            </a:extLst>
          </p:cNvPr>
          <p:cNvSpPr txBox="1"/>
          <p:nvPr/>
        </p:nvSpPr>
        <p:spPr>
          <a:xfrm>
            <a:off x="914400" y="1631407"/>
            <a:ext cx="9951567" cy="255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400" b="0" u="none" dirty="0">
                <a:solidFill>
                  <a:srgbClr val="002060"/>
                </a:solidFill>
                <a:latin typeface="Arial"/>
              </a:rPr>
              <a:t>تيسير </a:t>
            </a:r>
            <a:r>
              <a:rPr lang="ar-EG" sz="2400" b="0" u="none" dirty="0" err="1">
                <a:solidFill>
                  <a:srgbClr val="002060"/>
                </a:solidFill>
                <a:latin typeface="Arial"/>
              </a:rPr>
              <a:t>الإستفادة</a:t>
            </a:r>
            <a:r>
              <a:rPr lang="ar-EG" sz="2400" b="0" u="none" dirty="0">
                <a:solidFill>
                  <a:srgbClr val="002060"/>
                </a:solidFill>
                <a:latin typeface="Arial"/>
              </a:rPr>
              <a:t> من المعلومات التي تضمها الوثائق</a:t>
            </a:r>
          </a:p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400" dirty="0">
                <a:solidFill>
                  <a:srgbClr val="002060"/>
                </a:solidFill>
                <a:latin typeface="Arial"/>
              </a:rPr>
              <a:t>سرعة توصيل المعلومات للمستفيدين ليستطيع كل مسئول أداء عمله بكفاءة وفعالية</a:t>
            </a:r>
          </a:p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400" b="0" u="none" dirty="0">
                <a:solidFill>
                  <a:srgbClr val="002060"/>
                </a:solidFill>
                <a:latin typeface="Arial"/>
              </a:rPr>
              <a:t>المحافظة على </a:t>
            </a:r>
            <a:r>
              <a:rPr lang="ar-EG" sz="2400" dirty="0">
                <a:solidFill>
                  <a:srgbClr val="002060"/>
                </a:solidFill>
                <a:latin typeface="Arial"/>
              </a:rPr>
              <a:t>الوثائق من التلف والحريق</a:t>
            </a:r>
          </a:p>
          <a:p>
            <a:pPr marL="342900" indent="-342900" algn="r" rtl="1">
              <a:lnSpc>
                <a:spcPct val="135000"/>
              </a:lnSpc>
              <a:buFont typeface="Arial" panose="020B0604020202020204" pitchFamily="34" charset="0"/>
              <a:buChar char="•"/>
            </a:pPr>
            <a:r>
              <a:rPr lang="ar-EG" sz="2400" b="0" u="none" dirty="0">
                <a:solidFill>
                  <a:srgbClr val="002060"/>
                </a:solidFill>
                <a:latin typeface="Arial"/>
              </a:rPr>
              <a:t>منع ضياع الوثائق أو إفشاء المعلومات السرية</a:t>
            </a:r>
            <a:endParaRPr sz="2400" b="0" u="none" dirty="0">
              <a:solidFill>
                <a:srgbClr val="002060"/>
              </a:solidFill>
              <a:latin typeface="Arial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3728178-3A6A-ADC4-1D9F-DAC2856AE89D}"/>
              </a:ext>
            </a:extLst>
          </p:cNvPr>
          <p:cNvGrpSpPr/>
          <p:nvPr/>
        </p:nvGrpSpPr>
        <p:grpSpPr>
          <a:xfrm>
            <a:off x="4470401" y="578925"/>
            <a:ext cx="7264094" cy="640080"/>
            <a:chOff x="548640" y="640080"/>
            <a:chExt cx="6156655" cy="640080"/>
          </a:xfrm>
        </p:grpSpPr>
        <p:sp>
          <p:nvSpPr>
            <p:cNvPr id="14" name="Shape 3">
              <a:extLst>
                <a:ext uri="{FF2B5EF4-FFF2-40B4-BE49-F238E27FC236}">
                  <a16:creationId xmlns:a16="http://schemas.microsoft.com/office/drawing/2014/main" id="{17ADBBFD-C4BE-8FE2-6671-B74BA5D34228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15" name="Text 4">
              <a:extLst>
                <a:ext uri="{FF2B5EF4-FFF2-40B4-BE49-F238E27FC236}">
                  <a16:creationId xmlns:a16="http://schemas.microsoft.com/office/drawing/2014/main" id="{B8D67ABD-000B-C9D6-6407-6AB0C283D4FC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أهداف إدارة المحفوظات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9413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5: </a:t>
            </a:r>
            <a:r>
              <a:rPr dirty="0" err="1"/>
              <a:t>ترتيب</a:t>
            </a:r>
            <a:r>
              <a:rPr dirty="0"/>
              <a:t> </a:t>
            </a:r>
            <a:r>
              <a:rPr dirty="0" err="1"/>
              <a:t>خطوات</a:t>
            </a:r>
            <a:r>
              <a:rPr dirty="0"/>
              <a:t> </a:t>
            </a:r>
            <a:r>
              <a:rPr dirty="0" err="1"/>
              <a:t>التنظيم</a:t>
            </a:r>
            <a:r>
              <a:rPr dirty="0"/>
              <a:t> </a:t>
            </a:r>
            <a:r>
              <a:rPr dirty="0" err="1"/>
              <a:t>الفني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تمرين ترتيب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ترسيخ التسلسل الصحيح للتصنيف والترقيم والفهرسة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توزيع بطاقات بالخطوات الثلاث بترتيب عشوائي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الطلب من المتدربين ترتيب البطاقات بشكل صحيح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مناقشة سبب اختيار هذا الترتيب مع المجموعة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تثبيت الترتيب الصحيح على السبورة للمراجعة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275537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13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03202B0-10F8-E93F-022F-3AC8A25E7674}"/>
              </a:ext>
            </a:extLst>
          </p:cNvPr>
          <p:cNvGrpSpPr/>
          <p:nvPr/>
        </p:nvGrpSpPr>
        <p:grpSpPr>
          <a:xfrm>
            <a:off x="4368800" y="640080"/>
            <a:ext cx="7426960" cy="640080"/>
            <a:chOff x="548640" y="640080"/>
            <a:chExt cx="6156655" cy="640080"/>
          </a:xfrm>
        </p:grpSpPr>
        <p:sp>
          <p:nvSpPr>
            <p:cNvPr id="22" name="Shape 3">
              <a:extLst>
                <a:ext uri="{FF2B5EF4-FFF2-40B4-BE49-F238E27FC236}">
                  <a16:creationId xmlns:a16="http://schemas.microsoft.com/office/drawing/2014/main" id="{9736040D-8AED-6A95-68A2-C9F1C4DF5230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524D9E4B-D8AC-C15E-F0FC-67EB3019F7DD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التنظيم الفني للمحفوظات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80A5F54-33CF-028A-3933-2238D0E90772}"/>
              </a:ext>
            </a:extLst>
          </p:cNvPr>
          <p:cNvGrpSpPr/>
          <p:nvPr/>
        </p:nvGrpSpPr>
        <p:grpSpPr>
          <a:xfrm>
            <a:off x="1431335" y="1537023"/>
            <a:ext cx="9847489" cy="3783954"/>
            <a:chOff x="1431335" y="1537023"/>
            <a:chExt cx="9847489" cy="3783954"/>
          </a:xfrm>
        </p:grpSpPr>
        <p:sp>
          <p:nvSpPr>
            <p:cNvPr id="27" name="Forme libre 17">
              <a:extLst>
                <a:ext uri="{FF2B5EF4-FFF2-40B4-BE49-F238E27FC236}">
                  <a16:creationId xmlns:a16="http://schemas.microsoft.com/office/drawing/2014/main" id="{F34D75B3-87F9-CCB8-AE2E-69817A696581}"/>
                </a:ext>
              </a:extLst>
            </p:cNvPr>
            <p:cNvSpPr/>
            <p:nvPr/>
          </p:nvSpPr>
          <p:spPr>
            <a:xfrm>
              <a:off x="5393728" y="1537023"/>
              <a:ext cx="1214020" cy="1254399"/>
            </a:xfrm>
            <a:custGeom>
              <a:avLst/>
              <a:gdLst>
                <a:gd name="connsiteX0" fmla="*/ 539744 w 545189"/>
                <a:gd name="connsiteY0" fmla="*/ 382556 h 563322"/>
                <a:gd name="connsiteX1" fmla="*/ 540086 w 545189"/>
                <a:gd name="connsiteY1" fmla="*/ 382012 h 563322"/>
                <a:gd name="connsiteX2" fmla="*/ 540223 w 545189"/>
                <a:gd name="connsiteY2" fmla="*/ 381739 h 563322"/>
                <a:gd name="connsiteX3" fmla="*/ 542329 w 545189"/>
                <a:gd name="connsiteY3" fmla="*/ 377521 h 563322"/>
                <a:gd name="connsiteX4" fmla="*/ 542399 w 545189"/>
                <a:gd name="connsiteY4" fmla="*/ 377249 h 563322"/>
                <a:gd name="connsiteX5" fmla="*/ 543761 w 545189"/>
                <a:gd name="connsiteY5" fmla="*/ 373167 h 563322"/>
                <a:gd name="connsiteX6" fmla="*/ 544030 w 545189"/>
                <a:gd name="connsiteY6" fmla="*/ 372011 h 563322"/>
                <a:gd name="connsiteX7" fmla="*/ 544711 w 545189"/>
                <a:gd name="connsiteY7" fmla="*/ 368541 h 563322"/>
                <a:gd name="connsiteX8" fmla="*/ 544917 w 545189"/>
                <a:gd name="connsiteY8" fmla="*/ 367384 h 563322"/>
                <a:gd name="connsiteX9" fmla="*/ 545190 w 545189"/>
                <a:gd name="connsiteY9" fmla="*/ 362826 h 563322"/>
                <a:gd name="connsiteX10" fmla="*/ 544917 w 545189"/>
                <a:gd name="connsiteY10" fmla="*/ 358268 h 563322"/>
                <a:gd name="connsiteX11" fmla="*/ 544711 w 545189"/>
                <a:gd name="connsiteY11" fmla="*/ 357111 h 563322"/>
                <a:gd name="connsiteX12" fmla="*/ 544030 w 545189"/>
                <a:gd name="connsiteY12" fmla="*/ 353641 h 563322"/>
                <a:gd name="connsiteX13" fmla="*/ 543761 w 545189"/>
                <a:gd name="connsiteY13" fmla="*/ 352485 h 563322"/>
                <a:gd name="connsiteX14" fmla="*/ 542399 w 545189"/>
                <a:gd name="connsiteY14" fmla="*/ 348403 h 563322"/>
                <a:gd name="connsiteX15" fmla="*/ 542329 w 545189"/>
                <a:gd name="connsiteY15" fmla="*/ 348131 h 563322"/>
                <a:gd name="connsiteX16" fmla="*/ 540223 w 545189"/>
                <a:gd name="connsiteY16" fmla="*/ 343912 h 563322"/>
                <a:gd name="connsiteX17" fmla="*/ 540086 w 545189"/>
                <a:gd name="connsiteY17" fmla="*/ 343640 h 563322"/>
                <a:gd name="connsiteX18" fmla="*/ 352686 w 545189"/>
                <a:gd name="connsiteY18" fmla="*/ 19118 h 563322"/>
                <a:gd name="connsiteX19" fmla="*/ 319546 w 545189"/>
                <a:gd name="connsiteY19" fmla="*/ 0 h 563322"/>
                <a:gd name="connsiteX20" fmla="*/ 286406 w 545189"/>
                <a:gd name="connsiteY20" fmla="*/ 19118 h 563322"/>
                <a:gd name="connsiteX21" fmla="*/ 99075 w 545189"/>
                <a:gd name="connsiteY21" fmla="*/ 343572 h 563322"/>
                <a:gd name="connsiteX22" fmla="*/ 99075 w 545189"/>
                <a:gd name="connsiteY22" fmla="*/ 343572 h 563322"/>
                <a:gd name="connsiteX23" fmla="*/ 5169 w 545189"/>
                <a:gd name="connsiteY23" fmla="*/ 505834 h 563322"/>
                <a:gd name="connsiteX24" fmla="*/ 19121 w 545189"/>
                <a:gd name="connsiteY24" fmla="*/ 558152 h 563322"/>
                <a:gd name="connsiteX25" fmla="*/ 38242 w 545189"/>
                <a:gd name="connsiteY25" fmla="*/ 563323 h 563322"/>
                <a:gd name="connsiteX26" fmla="*/ 71378 w 545189"/>
                <a:gd name="connsiteY26" fmla="*/ 544205 h 563322"/>
                <a:gd name="connsiteX27" fmla="*/ 154260 w 545189"/>
                <a:gd name="connsiteY27" fmla="*/ 401061 h 563322"/>
                <a:gd name="connsiteX28" fmla="*/ 506947 w 545189"/>
                <a:gd name="connsiteY28" fmla="*/ 401061 h 563322"/>
                <a:gd name="connsiteX29" fmla="*/ 511572 w 545189"/>
                <a:gd name="connsiteY29" fmla="*/ 400721 h 563322"/>
                <a:gd name="connsiteX30" fmla="*/ 512798 w 545189"/>
                <a:gd name="connsiteY30" fmla="*/ 400517 h 563322"/>
                <a:gd name="connsiteX31" fmla="*/ 516270 w 545189"/>
                <a:gd name="connsiteY31" fmla="*/ 399837 h 563322"/>
                <a:gd name="connsiteX32" fmla="*/ 517356 w 545189"/>
                <a:gd name="connsiteY32" fmla="*/ 399564 h 563322"/>
                <a:gd name="connsiteX33" fmla="*/ 521646 w 545189"/>
                <a:gd name="connsiteY33" fmla="*/ 398136 h 563322"/>
                <a:gd name="connsiteX34" fmla="*/ 521646 w 545189"/>
                <a:gd name="connsiteY34" fmla="*/ 398136 h 563322"/>
                <a:gd name="connsiteX35" fmla="*/ 525796 w 545189"/>
                <a:gd name="connsiteY35" fmla="*/ 396095 h 563322"/>
                <a:gd name="connsiteX36" fmla="*/ 526680 w 545189"/>
                <a:gd name="connsiteY36" fmla="*/ 395550 h 563322"/>
                <a:gd name="connsiteX37" fmla="*/ 529673 w 545189"/>
                <a:gd name="connsiteY37" fmla="*/ 393578 h 563322"/>
                <a:gd name="connsiteX38" fmla="*/ 530627 w 545189"/>
                <a:gd name="connsiteY38" fmla="*/ 392829 h 563322"/>
                <a:gd name="connsiteX39" fmla="*/ 533823 w 545189"/>
                <a:gd name="connsiteY39" fmla="*/ 390040 h 563322"/>
                <a:gd name="connsiteX40" fmla="*/ 533959 w 545189"/>
                <a:gd name="connsiteY40" fmla="*/ 389904 h 563322"/>
                <a:gd name="connsiteX41" fmla="*/ 536956 w 545189"/>
                <a:gd name="connsiteY41" fmla="*/ 386502 h 563322"/>
                <a:gd name="connsiteX42" fmla="*/ 537634 w 545189"/>
                <a:gd name="connsiteY42" fmla="*/ 385549 h 563322"/>
                <a:gd name="connsiteX43" fmla="*/ 539678 w 545189"/>
                <a:gd name="connsiteY43" fmla="*/ 382488 h 5633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45189" h="563322">
                  <a:moveTo>
                    <a:pt x="539744" y="382556"/>
                  </a:moveTo>
                  <a:cubicBezTo>
                    <a:pt x="539744" y="382556"/>
                    <a:pt x="540017" y="382216"/>
                    <a:pt x="540086" y="382012"/>
                  </a:cubicBezTo>
                  <a:cubicBezTo>
                    <a:pt x="540086" y="381944"/>
                    <a:pt x="540153" y="381808"/>
                    <a:pt x="540223" y="381739"/>
                  </a:cubicBezTo>
                  <a:cubicBezTo>
                    <a:pt x="540970" y="380379"/>
                    <a:pt x="541718" y="378950"/>
                    <a:pt x="542329" y="377521"/>
                  </a:cubicBezTo>
                  <a:cubicBezTo>
                    <a:pt x="542329" y="377453"/>
                    <a:pt x="542329" y="377317"/>
                    <a:pt x="542399" y="377249"/>
                  </a:cubicBezTo>
                  <a:cubicBezTo>
                    <a:pt x="542944" y="375957"/>
                    <a:pt x="543352" y="374596"/>
                    <a:pt x="543761" y="373167"/>
                  </a:cubicBezTo>
                  <a:cubicBezTo>
                    <a:pt x="543894" y="372759"/>
                    <a:pt x="543964" y="372419"/>
                    <a:pt x="544030" y="372011"/>
                  </a:cubicBezTo>
                  <a:cubicBezTo>
                    <a:pt x="544303" y="370854"/>
                    <a:pt x="544509" y="369697"/>
                    <a:pt x="544711" y="368541"/>
                  </a:cubicBezTo>
                  <a:cubicBezTo>
                    <a:pt x="544711" y="368133"/>
                    <a:pt x="544848" y="367793"/>
                    <a:pt x="544917" y="367384"/>
                  </a:cubicBezTo>
                  <a:cubicBezTo>
                    <a:pt x="545120" y="365888"/>
                    <a:pt x="545190" y="364391"/>
                    <a:pt x="545190" y="362826"/>
                  </a:cubicBezTo>
                  <a:cubicBezTo>
                    <a:pt x="545190" y="361261"/>
                    <a:pt x="545054" y="359765"/>
                    <a:pt x="544917" y="358268"/>
                  </a:cubicBezTo>
                  <a:cubicBezTo>
                    <a:pt x="544917" y="357860"/>
                    <a:pt x="544781" y="357519"/>
                    <a:pt x="544711" y="357111"/>
                  </a:cubicBezTo>
                  <a:cubicBezTo>
                    <a:pt x="544509" y="355955"/>
                    <a:pt x="544303" y="354798"/>
                    <a:pt x="544030" y="353641"/>
                  </a:cubicBezTo>
                  <a:cubicBezTo>
                    <a:pt x="543964" y="353233"/>
                    <a:pt x="543828" y="352893"/>
                    <a:pt x="543761" y="352485"/>
                  </a:cubicBezTo>
                  <a:cubicBezTo>
                    <a:pt x="543352" y="351124"/>
                    <a:pt x="542944" y="349763"/>
                    <a:pt x="542399" y="348403"/>
                  </a:cubicBezTo>
                  <a:cubicBezTo>
                    <a:pt x="542399" y="348335"/>
                    <a:pt x="542399" y="348199"/>
                    <a:pt x="542329" y="348131"/>
                  </a:cubicBezTo>
                  <a:cubicBezTo>
                    <a:pt x="541718" y="346702"/>
                    <a:pt x="541037" y="345273"/>
                    <a:pt x="540223" y="343912"/>
                  </a:cubicBezTo>
                  <a:cubicBezTo>
                    <a:pt x="540223" y="343844"/>
                    <a:pt x="540153" y="343708"/>
                    <a:pt x="540086" y="343640"/>
                  </a:cubicBezTo>
                  <a:lnTo>
                    <a:pt x="352686" y="19118"/>
                  </a:lnTo>
                  <a:cubicBezTo>
                    <a:pt x="345811" y="7280"/>
                    <a:pt x="333222" y="0"/>
                    <a:pt x="319546" y="0"/>
                  </a:cubicBezTo>
                  <a:cubicBezTo>
                    <a:pt x="305867" y="0"/>
                    <a:pt x="293211" y="7280"/>
                    <a:pt x="286406" y="19118"/>
                  </a:cubicBezTo>
                  <a:lnTo>
                    <a:pt x="99075" y="343572"/>
                  </a:lnTo>
                  <a:cubicBezTo>
                    <a:pt x="99075" y="343572"/>
                    <a:pt x="99075" y="343572"/>
                    <a:pt x="99075" y="343572"/>
                  </a:cubicBezTo>
                  <a:lnTo>
                    <a:pt x="5169" y="505834"/>
                  </a:lnTo>
                  <a:cubicBezTo>
                    <a:pt x="-5447" y="524135"/>
                    <a:pt x="816" y="547539"/>
                    <a:pt x="19121" y="558152"/>
                  </a:cubicBezTo>
                  <a:cubicBezTo>
                    <a:pt x="25174" y="561622"/>
                    <a:pt x="31776" y="563323"/>
                    <a:pt x="38242" y="563323"/>
                  </a:cubicBezTo>
                  <a:cubicBezTo>
                    <a:pt x="51443" y="563323"/>
                    <a:pt x="64301" y="556451"/>
                    <a:pt x="71378" y="544205"/>
                  </a:cubicBezTo>
                  <a:lnTo>
                    <a:pt x="154260" y="401061"/>
                  </a:lnTo>
                  <a:lnTo>
                    <a:pt x="506947" y="401061"/>
                  </a:lnTo>
                  <a:cubicBezTo>
                    <a:pt x="508512" y="401061"/>
                    <a:pt x="510077" y="400925"/>
                    <a:pt x="511572" y="400721"/>
                  </a:cubicBezTo>
                  <a:cubicBezTo>
                    <a:pt x="511980" y="400721"/>
                    <a:pt x="512389" y="400585"/>
                    <a:pt x="512798" y="400517"/>
                  </a:cubicBezTo>
                  <a:cubicBezTo>
                    <a:pt x="513954" y="400313"/>
                    <a:pt x="515110" y="400109"/>
                    <a:pt x="516270" y="399837"/>
                  </a:cubicBezTo>
                  <a:cubicBezTo>
                    <a:pt x="516609" y="399769"/>
                    <a:pt x="517018" y="399632"/>
                    <a:pt x="517356" y="399564"/>
                  </a:cubicBezTo>
                  <a:cubicBezTo>
                    <a:pt x="518785" y="399156"/>
                    <a:pt x="520214" y="398680"/>
                    <a:pt x="521646" y="398136"/>
                  </a:cubicBezTo>
                  <a:cubicBezTo>
                    <a:pt x="521646" y="398136"/>
                    <a:pt x="521646" y="398136"/>
                    <a:pt x="521646" y="398136"/>
                  </a:cubicBezTo>
                  <a:cubicBezTo>
                    <a:pt x="523075" y="397523"/>
                    <a:pt x="524434" y="396843"/>
                    <a:pt x="525796" y="396095"/>
                  </a:cubicBezTo>
                  <a:cubicBezTo>
                    <a:pt x="526068" y="395959"/>
                    <a:pt x="526341" y="395754"/>
                    <a:pt x="526680" y="395550"/>
                  </a:cubicBezTo>
                  <a:cubicBezTo>
                    <a:pt x="527700" y="394938"/>
                    <a:pt x="528653" y="394258"/>
                    <a:pt x="529673" y="393578"/>
                  </a:cubicBezTo>
                  <a:cubicBezTo>
                    <a:pt x="530016" y="393305"/>
                    <a:pt x="530354" y="393101"/>
                    <a:pt x="530627" y="392829"/>
                  </a:cubicBezTo>
                  <a:cubicBezTo>
                    <a:pt x="531717" y="391945"/>
                    <a:pt x="532803" y="390992"/>
                    <a:pt x="533823" y="390040"/>
                  </a:cubicBezTo>
                  <a:cubicBezTo>
                    <a:pt x="533823" y="390040"/>
                    <a:pt x="533959" y="389972"/>
                    <a:pt x="533959" y="389904"/>
                  </a:cubicBezTo>
                  <a:cubicBezTo>
                    <a:pt x="535049" y="388815"/>
                    <a:pt x="536003" y="387726"/>
                    <a:pt x="536956" y="386502"/>
                  </a:cubicBezTo>
                  <a:cubicBezTo>
                    <a:pt x="537226" y="386162"/>
                    <a:pt x="537432" y="385890"/>
                    <a:pt x="537634" y="385549"/>
                  </a:cubicBezTo>
                  <a:cubicBezTo>
                    <a:pt x="538385" y="384529"/>
                    <a:pt x="539063" y="383508"/>
                    <a:pt x="539678" y="382488"/>
                  </a:cubicBezTo>
                  <a:close/>
                </a:path>
              </a:pathLst>
            </a:custGeom>
            <a:solidFill>
              <a:srgbClr val="D0BA94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orme libre 18">
              <a:extLst>
                <a:ext uri="{FF2B5EF4-FFF2-40B4-BE49-F238E27FC236}">
                  <a16:creationId xmlns:a16="http://schemas.microsoft.com/office/drawing/2014/main" id="{01D73D3F-4C28-1640-D7F3-83D092637B08}"/>
                </a:ext>
              </a:extLst>
            </p:cNvPr>
            <p:cNvSpPr/>
            <p:nvPr/>
          </p:nvSpPr>
          <p:spPr>
            <a:xfrm>
              <a:off x="4976573" y="2621291"/>
              <a:ext cx="2362582" cy="1073964"/>
            </a:xfrm>
            <a:custGeom>
              <a:avLst/>
              <a:gdLst>
                <a:gd name="connsiteX0" fmla="*/ 1055813 w 1060982"/>
                <a:gd name="connsiteY0" fmla="*/ 424533 h 482293"/>
                <a:gd name="connsiteX1" fmla="*/ 1008453 w 1060982"/>
                <a:gd name="connsiteY1" fmla="*/ 343436 h 482293"/>
                <a:gd name="connsiteX2" fmla="*/ 975383 w 1060982"/>
                <a:gd name="connsiteY2" fmla="*/ 324455 h 482293"/>
                <a:gd name="connsiteX3" fmla="*/ 435093 w 1060982"/>
                <a:gd name="connsiteY3" fmla="*/ 324455 h 482293"/>
                <a:gd name="connsiteX4" fmla="*/ 258783 w 1060982"/>
                <a:gd name="connsiteY4" fmla="*/ 19118 h 482293"/>
                <a:gd name="connsiteX5" fmla="*/ 225644 w 1060982"/>
                <a:gd name="connsiteY5" fmla="*/ 0 h 482293"/>
                <a:gd name="connsiteX6" fmla="*/ 192504 w 1060982"/>
                <a:gd name="connsiteY6" fmla="*/ 19118 h 482293"/>
                <a:gd name="connsiteX7" fmla="*/ 5103 w 1060982"/>
                <a:gd name="connsiteY7" fmla="*/ 343640 h 482293"/>
                <a:gd name="connsiteX8" fmla="*/ 4967 w 1060982"/>
                <a:gd name="connsiteY8" fmla="*/ 343912 h 482293"/>
                <a:gd name="connsiteX9" fmla="*/ 2861 w 1060982"/>
                <a:gd name="connsiteY9" fmla="*/ 348131 h 482293"/>
                <a:gd name="connsiteX10" fmla="*/ 2791 w 1060982"/>
                <a:gd name="connsiteY10" fmla="*/ 348403 h 482293"/>
                <a:gd name="connsiteX11" fmla="*/ 1429 w 1060982"/>
                <a:gd name="connsiteY11" fmla="*/ 352485 h 482293"/>
                <a:gd name="connsiteX12" fmla="*/ 1160 w 1060982"/>
                <a:gd name="connsiteY12" fmla="*/ 353641 h 482293"/>
                <a:gd name="connsiteX13" fmla="*/ 478 w 1060982"/>
                <a:gd name="connsiteY13" fmla="*/ 357111 h 482293"/>
                <a:gd name="connsiteX14" fmla="*/ 272 w 1060982"/>
                <a:gd name="connsiteY14" fmla="*/ 358268 h 482293"/>
                <a:gd name="connsiteX15" fmla="*/ 0 w 1060982"/>
                <a:gd name="connsiteY15" fmla="*/ 362826 h 482293"/>
                <a:gd name="connsiteX16" fmla="*/ 272 w 1060982"/>
                <a:gd name="connsiteY16" fmla="*/ 367384 h 482293"/>
                <a:gd name="connsiteX17" fmla="*/ 478 w 1060982"/>
                <a:gd name="connsiteY17" fmla="*/ 368541 h 482293"/>
                <a:gd name="connsiteX18" fmla="*/ 1160 w 1060982"/>
                <a:gd name="connsiteY18" fmla="*/ 372011 h 482293"/>
                <a:gd name="connsiteX19" fmla="*/ 1429 w 1060982"/>
                <a:gd name="connsiteY19" fmla="*/ 373167 h 482293"/>
                <a:gd name="connsiteX20" fmla="*/ 2791 w 1060982"/>
                <a:gd name="connsiteY20" fmla="*/ 377249 h 482293"/>
                <a:gd name="connsiteX21" fmla="*/ 2861 w 1060982"/>
                <a:gd name="connsiteY21" fmla="*/ 377521 h 482293"/>
                <a:gd name="connsiteX22" fmla="*/ 4967 w 1060982"/>
                <a:gd name="connsiteY22" fmla="*/ 381739 h 482293"/>
                <a:gd name="connsiteX23" fmla="*/ 5103 w 1060982"/>
                <a:gd name="connsiteY23" fmla="*/ 382012 h 482293"/>
                <a:gd name="connsiteX24" fmla="*/ 5446 w 1060982"/>
                <a:gd name="connsiteY24" fmla="*/ 382556 h 482293"/>
                <a:gd name="connsiteX25" fmla="*/ 7486 w 1060982"/>
                <a:gd name="connsiteY25" fmla="*/ 385617 h 482293"/>
                <a:gd name="connsiteX26" fmla="*/ 8167 w 1060982"/>
                <a:gd name="connsiteY26" fmla="*/ 386570 h 482293"/>
                <a:gd name="connsiteX27" fmla="*/ 11161 w 1060982"/>
                <a:gd name="connsiteY27" fmla="*/ 389971 h 482293"/>
                <a:gd name="connsiteX28" fmla="*/ 11297 w 1060982"/>
                <a:gd name="connsiteY28" fmla="*/ 390108 h 482293"/>
                <a:gd name="connsiteX29" fmla="*/ 14496 w 1060982"/>
                <a:gd name="connsiteY29" fmla="*/ 392897 h 482293"/>
                <a:gd name="connsiteX30" fmla="*/ 15447 w 1060982"/>
                <a:gd name="connsiteY30" fmla="*/ 393645 h 482293"/>
                <a:gd name="connsiteX31" fmla="*/ 18440 w 1060982"/>
                <a:gd name="connsiteY31" fmla="*/ 395618 h 482293"/>
                <a:gd name="connsiteX32" fmla="*/ 19328 w 1060982"/>
                <a:gd name="connsiteY32" fmla="*/ 396163 h 482293"/>
                <a:gd name="connsiteX33" fmla="*/ 23477 w 1060982"/>
                <a:gd name="connsiteY33" fmla="*/ 398204 h 482293"/>
                <a:gd name="connsiteX34" fmla="*/ 23477 w 1060982"/>
                <a:gd name="connsiteY34" fmla="*/ 398204 h 482293"/>
                <a:gd name="connsiteX35" fmla="*/ 27764 w 1060982"/>
                <a:gd name="connsiteY35" fmla="*/ 399632 h 482293"/>
                <a:gd name="connsiteX36" fmla="*/ 28853 w 1060982"/>
                <a:gd name="connsiteY36" fmla="*/ 399905 h 482293"/>
                <a:gd name="connsiteX37" fmla="*/ 32322 w 1060982"/>
                <a:gd name="connsiteY37" fmla="*/ 400585 h 482293"/>
                <a:gd name="connsiteX38" fmla="*/ 33548 w 1060982"/>
                <a:gd name="connsiteY38" fmla="*/ 400789 h 482293"/>
                <a:gd name="connsiteX39" fmla="*/ 38177 w 1060982"/>
                <a:gd name="connsiteY39" fmla="*/ 401129 h 482293"/>
                <a:gd name="connsiteX40" fmla="*/ 953404 w 1060982"/>
                <a:gd name="connsiteY40" fmla="*/ 401129 h 482293"/>
                <a:gd name="connsiteX41" fmla="*/ 989674 w 1060982"/>
                <a:gd name="connsiteY41" fmla="*/ 463312 h 482293"/>
                <a:gd name="connsiteX42" fmla="*/ 1022743 w 1060982"/>
                <a:gd name="connsiteY42" fmla="*/ 482294 h 482293"/>
                <a:gd name="connsiteX43" fmla="*/ 1042001 w 1060982"/>
                <a:gd name="connsiteY43" fmla="*/ 477055 h 482293"/>
                <a:gd name="connsiteX44" fmla="*/ 1055747 w 1060982"/>
                <a:gd name="connsiteY44" fmla="*/ 424737 h 48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060982" h="482293">
                  <a:moveTo>
                    <a:pt x="1055813" y="424533"/>
                  </a:moveTo>
                  <a:lnTo>
                    <a:pt x="1008453" y="343436"/>
                  </a:lnTo>
                  <a:cubicBezTo>
                    <a:pt x="1001582" y="331666"/>
                    <a:pt x="988992" y="324455"/>
                    <a:pt x="975383" y="324455"/>
                  </a:cubicBezTo>
                  <a:lnTo>
                    <a:pt x="435093" y="324455"/>
                  </a:lnTo>
                  <a:lnTo>
                    <a:pt x="258783" y="19118"/>
                  </a:lnTo>
                  <a:cubicBezTo>
                    <a:pt x="251909" y="7279"/>
                    <a:pt x="239323" y="0"/>
                    <a:pt x="225644" y="0"/>
                  </a:cubicBezTo>
                  <a:cubicBezTo>
                    <a:pt x="211968" y="0"/>
                    <a:pt x="199309" y="7279"/>
                    <a:pt x="192504" y="19118"/>
                  </a:cubicBezTo>
                  <a:lnTo>
                    <a:pt x="5103" y="343640"/>
                  </a:lnTo>
                  <a:cubicBezTo>
                    <a:pt x="5103" y="343640"/>
                    <a:pt x="5037" y="343844"/>
                    <a:pt x="4967" y="343912"/>
                  </a:cubicBezTo>
                  <a:cubicBezTo>
                    <a:pt x="4220" y="345273"/>
                    <a:pt x="3472" y="346702"/>
                    <a:pt x="2861" y="348131"/>
                  </a:cubicBezTo>
                  <a:cubicBezTo>
                    <a:pt x="2861" y="348199"/>
                    <a:pt x="2861" y="348335"/>
                    <a:pt x="2791" y="348403"/>
                  </a:cubicBezTo>
                  <a:cubicBezTo>
                    <a:pt x="2246" y="349695"/>
                    <a:pt x="1837" y="351056"/>
                    <a:pt x="1429" y="352485"/>
                  </a:cubicBezTo>
                  <a:cubicBezTo>
                    <a:pt x="1296" y="352893"/>
                    <a:pt x="1226" y="353233"/>
                    <a:pt x="1160" y="353641"/>
                  </a:cubicBezTo>
                  <a:cubicBezTo>
                    <a:pt x="887" y="354798"/>
                    <a:pt x="681" y="355954"/>
                    <a:pt x="478" y="357111"/>
                  </a:cubicBezTo>
                  <a:cubicBezTo>
                    <a:pt x="478" y="357519"/>
                    <a:pt x="342" y="357859"/>
                    <a:pt x="272" y="358268"/>
                  </a:cubicBezTo>
                  <a:cubicBezTo>
                    <a:pt x="70" y="359764"/>
                    <a:pt x="0" y="361261"/>
                    <a:pt x="0" y="362826"/>
                  </a:cubicBezTo>
                  <a:cubicBezTo>
                    <a:pt x="0" y="364391"/>
                    <a:pt x="136" y="365888"/>
                    <a:pt x="272" y="367384"/>
                  </a:cubicBezTo>
                  <a:cubicBezTo>
                    <a:pt x="272" y="367793"/>
                    <a:pt x="409" y="368133"/>
                    <a:pt x="478" y="368541"/>
                  </a:cubicBezTo>
                  <a:cubicBezTo>
                    <a:pt x="681" y="369697"/>
                    <a:pt x="887" y="370854"/>
                    <a:pt x="1160" y="372011"/>
                  </a:cubicBezTo>
                  <a:cubicBezTo>
                    <a:pt x="1226" y="372419"/>
                    <a:pt x="1362" y="372759"/>
                    <a:pt x="1429" y="373167"/>
                  </a:cubicBezTo>
                  <a:cubicBezTo>
                    <a:pt x="1837" y="374528"/>
                    <a:pt x="2246" y="375889"/>
                    <a:pt x="2791" y="377249"/>
                  </a:cubicBezTo>
                  <a:cubicBezTo>
                    <a:pt x="2791" y="377317"/>
                    <a:pt x="2791" y="377453"/>
                    <a:pt x="2861" y="377521"/>
                  </a:cubicBezTo>
                  <a:cubicBezTo>
                    <a:pt x="3472" y="378950"/>
                    <a:pt x="4153" y="380379"/>
                    <a:pt x="4967" y="381739"/>
                  </a:cubicBezTo>
                  <a:cubicBezTo>
                    <a:pt x="4967" y="381808"/>
                    <a:pt x="5037" y="381944"/>
                    <a:pt x="5103" y="382012"/>
                  </a:cubicBezTo>
                  <a:cubicBezTo>
                    <a:pt x="5240" y="382216"/>
                    <a:pt x="5376" y="382352"/>
                    <a:pt x="5446" y="382556"/>
                  </a:cubicBezTo>
                  <a:cubicBezTo>
                    <a:pt x="6057" y="383644"/>
                    <a:pt x="6805" y="384665"/>
                    <a:pt x="7486" y="385617"/>
                  </a:cubicBezTo>
                  <a:cubicBezTo>
                    <a:pt x="7692" y="385958"/>
                    <a:pt x="7964" y="386230"/>
                    <a:pt x="8167" y="386570"/>
                  </a:cubicBezTo>
                  <a:cubicBezTo>
                    <a:pt x="9121" y="387726"/>
                    <a:pt x="10071" y="388883"/>
                    <a:pt x="11161" y="389971"/>
                  </a:cubicBezTo>
                  <a:cubicBezTo>
                    <a:pt x="11161" y="389971"/>
                    <a:pt x="11297" y="390040"/>
                    <a:pt x="11297" y="390108"/>
                  </a:cubicBezTo>
                  <a:cubicBezTo>
                    <a:pt x="12317" y="391128"/>
                    <a:pt x="13407" y="392013"/>
                    <a:pt x="14496" y="392897"/>
                  </a:cubicBezTo>
                  <a:cubicBezTo>
                    <a:pt x="14835" y="393169"/>
                    <a:pt x="15174" y="393373"/>
                    <a:pt x="15447" y="393645"/>
                  </a:cubicBezTo>
                  <a:cubicBezTo>
                    <a:pt x="16400" y="394326"/>
                    <a:pt x="17420" y="395006"/>
                    <a:pt x="18440" y="395618"/>
                  </a:cubicBezTo>
                  <a:cubicBezTo>
                    <a:pt x="18713" y="395823"/>
                    <a:pt x="18985" y="395959"/>
                    <a:pt x="19328" y="396163"/>
                  </a:cubicBezTo>
                  <a:cubicBezTo>
                    <a:pt x="20686" y="396911"/>
                    <a:pt x="22049" y="397591"/>
                    <a:pt x="23477" y="398204"/>
                  </a:cubicBezTo>
                  <a:cubicBezTo>
                    <a:pt x="23477" y="398204"/>
                    <a:pt x="23477" y="398204"/>
                    <a:pt x="23477" y="398204"/>
                  </a:cubicBezTo>
                  <a:cubicBezTo>
                    <a:pt x="24840" y="398748"/>
                    <a:pt x="26268" y="399224"/>
                    <a:pt x="27764" y="399632"/>
                  </a:cubicBezTo>
                  <a:cubicBezTo>
                    <a:pt x="28106" y="399768"/>
                    <a:pt x="28514" y="399837"/>
                    <a:pt x="28853" y="399905"/>
                  </a:cubicBezTo>
                  <a:cubicBezTo>
                    <a:pt x="30010" y="400177"/>
                    <a:pt x="31166" y="400449"/>
                    <a:pt x="32322" y="400585"/>
                  </a:cubicBezTo>
                  <a:cubicBezTo>
                    <a:pt x="32731" y="400585"/>
                    <a:pt x="33140" y="400721"/>
                    <a:pt x="33548" y="400789"/>
                  </a:cubicBezTo>
                  <a:cubicBezTo>
                    <a:pt x="35047" y="400993"/>
                    <a:pt x="36612" y="401129"/>
                    <a:pt x="38177" y="401129"/>
                  </a:cubicBezTo>
                  <a:lnTo>
                    <a:pt x="953404" y="401129"/>
                  </a:lnTo>
                  <a:lnTo>
                    <a:pt x="989674" y="463312"/>
                  </a:lnTo>
                  <a:cubicBezTo>
                    <a:pt x="996817" y="475490"/>
                    <a:pt x="1009609" y="482294"/>
                    <a:pt x="1022743" y="482294"/>
                  </a:cubicBezTo>
                  <a:cubicBezTo>
                    <a:pt x="1029276" y="482294"/>
                    <a:pt x="1035944" y="480593"/>
                    <a:pt x="1042001" y="477055"/>
                  </a:cubicBezTo>
                  <a:cubicBezTo>
                    <a:pt x="1060235" y="466374"/>
                    <a:pt x="1066429" y="442970"/>
                    <a:pt x="1055747" y="424737"/>
                  </a:cubicBezTo>
                  <a:close/>
                </a:path>
              </a:pathLst>
            </a:custGeom>
            <a:solidFill>
              <a:schemeClr val="accent4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orme libre 19">
              <a:extLst>
                <a:ext uri="{FF2B5EF4-FFF2-40B4-BE49-F238E27FC236}">
                  <a16:creationId xmlns:a16="http://schemas.microsoft.com/office/drawing/2014/main" id="{F71103CD-6262-ADB1-C350-0541345A46DB}"/>
                </a:ext>
              </a:extLst>
            </p:cNvPr>
            <p:cNvSpPr/>
            <p:nvPr/>
          </p:nvSpPr>
          <p:spPr>
            <a:xfrm>
              <a:off x="4351186" y="3524217"/>
              <a:ext cx="3405271" cy="1073510"/>
            </a:xfrm>
            <a:custGeom>
              <a:avLst/>
              <a:gdLst>
                <a:gd name="connsiteX0" fmla="*/ 1523788 w 1529230"/>
                <a:gd name="connsiteY0" fmla="*/ 382556 h 482089"/>
                <a:gd name="connsiteX1" fmla="*/ 1524127 w 1529230"/>
                <a:gd name="connsiteY1" fmla="*/ 382012 h 482089"/>
                <a:gd name="connsiteX2" fmla="*/ 1524263 w 1529230"/>
                <a:gd name="connsiteY2" fmla="*/ 381740 h 482089"/>
                <a:gd name="connsiteX3" fmla="*/ 1526373 w 1529230"/>
                <a:gd name="connsiteY3" fmla="*/ 377522 h 482089"/>
                <a:gd name="connsiteX4" fmla="*/ 1526443 w 1529230"/>
                <a:gd name="connsiteY4" fmla="*/ 377249 h 482089"/>
                <a:gd name="connsiteX5" fmla="*/ 1527801 w 1529230"/>
                <a:gd name="connsiteY5" fmla="*/ 373167 h 482089"/>
                <a:gd name="connsiteX6" fmla="*/ 1528074 w 1529230"/>
                <a:gd name="connsiteY6" fmla="*/ 372011 h 482089"/>
                <a:gd name="connsiteX7" fmla="*/ 1528755 w 1529230"/>
                <a:gd name="connsiteY7" fmla="*/ 368541 h 482089"/>
                <a:gd name="connsiteX8" fmla="*/ 1528961 w 1529230"/>
                <a:gd name="connsiteY8" fmla="*/ 367384 h 482089"/>
                <a:gd name="connsiteX9" fmla="*/ 1529230 w 1529230"/>
                <a:gd name="connsiteY9" fmla="*/ 362826 h 482089"/>
                <a:gd name="connsiteX10" fmla="*/ 1528961 w 1529230"/>
                <a:gd name="connsiteY10" fmla="*/ 358268 h 482089"/>
                <a:gd name="connsiteX11" fmla="*/ 1528755 w 1529230"/>
                <a:gd name="connsiteY11" fmla="*/ 357111 h 482089"/>
                <a:gd name="connsiteX12" fmla="*/ 1528074 w 1529230"/>
                <a:gd name="connsiteY12" fmla="*/ 353642 h 482089"/>
                <a:gd name="connsiteX13" fmla="*/ 1527801 w 1529230"/>
                <a:gd name="connsiteY13" fmla="*/ 352485 h 482089"/>
                <a:gd name="connsiteX14" fmla="*/ 1526443 w 1529230"/>
                <a:gd name="connsiteY14" fmla="*/ 348403 h 482089"/>
                <a:gd name="connsiteX15" fmla="*/ 1526373 w 1529230"/>
                <a:gd name="connsiteY15" fmla="*/ 348131 h 482089"/>
                <a:gd name="connsiteX16" fmla="*/ 1524263 w 1529230"/>
                <a:gd name="connsiteY16" fmla="*/ 343913 h 482089"/>
                <a:gd name="connsiteX17" fmla="*/ 1524127 w 1529230"/>
                <a:gd name="connsiteY17" fmla="*/ 343640 h 482089"/>
                <a:gd name="connsiteX18" fmla="*/ 1336729 w 1529230"/>
                <a:gd name="connsiteY18" fmla="*/ 19118 h 482089"/>
                <a:gd name="connsiteX19" fmla="*/ 1303590 w 1529230"/>
                <a:gd name="connsiteY19" fmla="*/ 0 h 482089"/>
                <a:gd name="connsiteX20" fmla="*/ 1270450 w 1529230"/>
                <a:gd name="connsiteY20" fmla="*/ 19118 h 482089"/>
                <a:gd name="connsiteX21" fmla="*/ 1094140 w 1529230"/>
                <a:gd name="connsiteY21" fmla="*/ 324455 h 482089"/>
                <a:gd name="connsiteX22" fmla="*/ 85076 w 1529230"/>
                <a:gd name="connsiteY22" fmla="*/ 324455 h 482089"/>
                <a:gd name="connsiteX23" fmla="*/ 51940 w 1529230"/>
                <a:gd name="connsiteY23" fmla="*/ 343572 h 482089"/>
                <a:gd name="connsiteX24" fmla="*/ 5121 w 1529230"/>
                <a:gd name="connsiteY24" fmla="*/ 424669 h 482089"/>
                <a:gd name="connsiteX25" fmla="*/ 19139 w 1529230"/>
                <a:gd name="connsiteY25" fmla="*/ 476987 h 482089"/>
                <a:gd name="connsiteX26" fmla="*/ 38261 w 1529230"/>
                <a:gd name="connsiteY26" fmla="*/ 482090 h 482089"/>
                <a:gd name="connsiteX27" fmla="*/ 71467 w 1529230"/>
                <a:gd name="connsiteY27" fmla="*/ 462972 h 482089"/>
                <a:gd name="connsiteX28" fmla="*/ 107261 w 1529230"/>
                <a:gd name="connsiteY28" fmla="*/ 400993 h 482089"/>
                <a:gd name="connsiteX29" fmla="*/ 1491127 w 1529230"/>
                <a:gd name="connsiteY29" fmla="*/ 400993 h 482089"/>
                <a:gd name="connsiteX30" fmla="*/ 1495752 w 1529230"/>
                <a:gd name="connsiteY30" fmla="*/ 400653 h 482089"/>
                <a:gd name="connsiteX31" fmla="*/ 1496978 w 1529230"/>
                <a:gd name="connsiteY31" fmla="*/ 400449 h 482089"/>
                <a:gd name="connsiteX32" fmla="*/ 1500447 w 1529230"/>
                <a:gd name="connsiteY32" fmla="*/ 399769 h 482089"/>
                <a:gd name="connsiteX33" fmla="*/ 1501536 w 1529230"/>
                <a:gd name="connsiteY33" fmla="*/ 399496 h 482089"/>
                <a:gd name="connsiteX34" fmla="*/ 1505823 w 1529230"/>
                <a:gd name="connsiteY34" fmla="*/ 398068 h 482089"/>
                <a:gd name="connsiteX35" fmla="*/ 1505823 w 1529230"/>
                <a:gd name="connsiteY35" fmla="*/ 398068 h 482089"/>
                <a:gd name="connsiteX36" fmla="*/ 1509976 w 1529230"/>
                <a:gd name="connsiteY36" fmla="*/ 396027 h 482089"/>
                <a:gd name="connsiteX37" fmla="*/ 1510860 w 1529230"/>
                <a:gd name="connsiteY37" fmla="*/ 395482 h 482089"/>
                <a:gd name="connsiteX38" fmla="*/ 1513853 w 1529230"/>
                <a:gd name="connsiteY38" fmla="*/ 393510 h 482089"/>
                <a:gd name="connsiteX39" fmla="*/ 1514807 w 1529230"/>
                <a:gd name="connsiteY39" fmla="*/ 392761 h 482089"/>
                <a:gd name="connsiteX40" fmla="*/ 1518003 w 1529230"/>
                <a:gd name="connsiteY40" fmla="*/ 389972 h 482089"/>
                <a:gd name="connsiteX41" fmla="*/ 1518139 w 1529230"/>
                <a:gd name="connsiteY41" fmla="*/ 389836 h 482089"/>
                <a:gd name="connsiteX42" fmla="*/ 1521133 w 1529230"/>
                <a:gd name="connsiteY42" fmla="*/ 386434 h 482089"/>
                <a:gd name="connsiteX43" fmla="*/ 1521814 w 1529230"/>
                <a:gd name="connsiteY43" fmla="*/ 385481 h 482089"/>
                <a:gd name="connsiteX44" fmla="*/ 1523858 w 1529230"/>
                <a:gd name="connsiteY44" fmla="*/ 382420 h 482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1529230" h="482089">
                  <a:moveTo>
                    <a:pt x="1523788" y="382556"/>
                  </a:moveTo>
                  <a:cubicBezTo>
                    <a:pt x="1523788" y="382556"/>
                    <a:pt x="1524060" y="382216"/>
                    <a:pt x="1524127" y="382012"/>
                  </a:cubicBezTo>
                  <a:cubicBezTo>
                    <a:pt x="1524127" y="381944"/>
                    <a:pt x="1524196" y="381808"/>
                    <a:pt x="1524263" y="381740"/>
                  </a:cubicBezTo>
                  <a:cubicBezTo>
                    <a:pt x="1525014" y="380379"/>
                    <a:pt x="1525761" y="378950"/>
                    <a:pt x="1526373" y="377522"/>
                  </a:cubicBezTo>
                  <a:cubicBezTo>
                    <a:pt x="1526373" y="377453"/>
                    <a:pt x="1526373" y="377317"/>
                    <a:pt x="1526443" y="377249"/>
                  </a:cubicBezTo>
                  <a:cubicBezTo>
                    <a:pt x="1526987" y="375957"/>
                    <a:pt x="1527396" y="374596"/>
                    <a:pt x="1527801" y="373167"/>
                  </a:cubicBezTo>
                  <a:cubicBezTo>
                    <a:pt x="1527938" y="372759"/>
                    <a:pt x="1528007" y="372419"/>
                    <a:pt x="1528074" y="372011"/>
                  </a:cubicBezTo>
                  <a:cubicBezTo>
                    <a:pt x="1528346" y="370854"/>
                    <a:pt x="1528552" y="369698"/>
                    <a:pt x="1528755" y="368541"/>
                  </a:cubicBezTo>
                  <a:cubicBezTo>
                    <a:pt x="1528755" y="368133"/>
                    <a:pt x="1528891" y="367793"/>
                    <a:pt x="1528961" y="367384"/>
                  </a:cubicBezTo>
                  <a:cubicBezTo>
                    <a:pt x="1529164" y="365888"/>
                    <a:pt x="1529230" y="364391"/>
                    <a:pt x="1529230" y="362826"/>
                  </a:cubicBezTo>
                  <a:cubicBezTo>
                    <a:pt x="1529230" y="361261"/>
                    <a:pt x="1529097" y="359765"/>
                    <a:pt x="1528961" y="358268"/>
                  </a:cubicBezTo>
                  <a:cubicBezTo>
                    <a:pt x="1528961" y="357860"/>
                    <a:pt x="1528825" y="357519"/>
                    <a:pt x="1528755" y="357111"/>
                  </a:cubicBezTo>
                  <a:cubicBezTo>
                    <a:pt x="1528552" y="355955"/>
                    <a:pt x="1528346" y="354798"/>
                    <a:pt x="1528074" y="353642"/>
                  </a:cubicBezTo>
                  <a:cubicBezTo>
                    <a:pt x="1528007" y="353233"/>
                    <a:pt x="1527871" y="352893"/>
                    <a:pt x="1527801" y="352485"/>
                  </a:cubicBezTo>
                  <a:cubicBezTo>
                    <a:pt x="1527396" y="351124"/>
                    <a:pt x="1526987" y="349764"/>
                    <a:pt x="1526443" y="348403"/>
                  </a:cubicBezTo>
                  <a:cubicBezTo>
                    <a:pt x="1526443" y="348335"/>
                    <a:pt x="1526443" y="348199"/>
                    <a:pt x="1526373" y="348131"/>
                  </a:cubicBezTo>
                  <a:cubicBezTo>
                    <a:pt x="1525761" y="346702"/>
                    <a:pt x="1525080" y="345273"/>
                    <a:pt x="1524263" y="343913"/>
                  </a:cubicBezTo>
                  <a:cubicBezTo>
                    <a:pt x="1524263" y="343845"/>
                    <a:pt x="1524196" y="343709"/>
                    <a:pt x="1524127" y="343640"/>
                  </a:cubicBezTo>
                  <a:lnTo>
                    <a:pt x="1336729" y="19118"/>
                  </a:lnTo>
                  <a:cubicBezTo>
                    <a:pt x="1329855" y="7280"/>
                    <a:pt x="1317266" y="0"/>
                    <a:pt x="1303590" y="0"/>
                  </a:cubicBezTo>
                  <a:cubicBezTo>
                    <a:pt x="1289911" y="0"/>
                    <a:pt x="1277255" y="7280"/>
                    <a:pt x="1270450" y="19118"/>
                  </a:cubicBezTo>
                  <a:lnTo>
                    <a:pt x="1094140" y="324455"/>
                  </a:lnTo>
                  <a:lnTo>
                    <a:pt x="85076" y="324455"/>
                  </a:lnTo>
                  <a:cubicBezTo>
                    <a:pt x="71400" y="324455"/>
                    <a:pt x="58744" y="331735"/>
                    <a:pt x="51940" y="343572"/>
                  </a:cubicBezTo>
                  <a:lnTo>
                    <a:pt x="5121" y="424669"/>
                  </a:lnTo>
                  <a:cubicBezTo>
                    <a:pt x="-5425" y="442970"/>
                    <a:pt x="835" y="466374"/>
                    <a:pt x="19139" y="476987"/>
                  </a:cubicBezTo>
                  <a:cubicBezTo>
                    <a:pt x="25196" y="480457"/>
                    <a:pt x="31728" y="482090"/>
                    <a:pt x="38261" y="482090"/>
                  </a:cubicBezTo>
                  <a:cubicBezTo>
                    <a:pt x="51461" y="482090"/>
                    <a:pt x="64393" y="475218"/>
                    <a:pt x="71467" y="462972"/>
                  </a:cubicBezTo>
                  <a:lnTo>
                    <a:pt x="107261" y="400993"/>
                  </a:lnTo>
                  <a:lnTo>
                    <a:pt x="1491127" y="400993"/>
                  </a:lnTo>
                  <a:cubicBezTo>
                    <a:pt x="1492692" y="400993"/>
                    <a:pt x="1494257" y="400857"/>
                    <a:pt x="1495752" y="400653"/>
                  </a:cubicBezTo>
                  <a:cubicBezTo>
                    <a:pt x="1496160" y="400653"/>
                    <a:pt x="1496569" y="400517"/>
                    <a:pt x="1496978" y="400449"/>
                  </a:cubicBezTo>
                  <a:cubicBezTo>
                    <a:pt x="1498134" y="400245"/>
                    <a:pt x="1499290" y="400041"/>
                    <a:pt x="1500447" y="399769"/>
                  </a:cubicBezTo>
                  <a:cubicBezTo>
                    <a:pt x="1500789" y="399701"/>
                    <a:pt x="1501198" y="399565"/>
                    <a:pt x="1501536" y="399496"/>
                  </a:cubicBezTo>
                  <a:cubicBezTo>
                    <a:pt x="1502965" y="399088"/>
                    <a:pt x="1504394" y="398612"/>
                    <a:pt x="1505823" y="398068"/>
                  </a:cubicBezTo>
                  <a:cubicBezTo>
                    <a:pt x="1505823" y="398068"/>
                    <a:pt x="1505823" y="398068"/>
                    <a:pt x="1505823" y="398068"/>
                  </a:cubicBezTo>
                  <a:cubicBezTo>
                    <a:pt x="1507251" y="397456"/>
                    <a:pt x="1508614" y="396775"/>
                    <a:pt x="1509976" y="396027"/>
                  </a:cubicBezTo>
                  <a:cubicBezTo>
                    <a:pt x="1510248" y="395891"/>
                    <a:pt x="1510517" y="395687"/>
                    <a:pt x="1510860" y="395482"/>
                  </a:cubicBezTo>
                  <a:cubicBezTo>
                    <a:pt x="1511880" y="394870"/>
                    <a:pt x="1512833" y="394190"/>
                    <a:pt x="1513853" y="393510"/>
                  </a:cubicBezTo>
                  <a:cubicBezTo>
                    <a:pt x="1514192" y="393237"/>
                    <a:pt x="1514534" y="393033"/>
                    <a:pt x="1514807" y="392761"/>
                  </a:cubicBezTo>
                  <a:cubicBezTo>
                    <a:pt x="1515893" y="391877"/>
                    <a:pt x="1516983" y="390924"/>
                    <a:pt x="1518003" y="389972"/>
                  </a:cubicBezTo>
                  <a:cubicBezTo>
                    <a:pt x="1518003" y="389972"/>
                    <a:pt x="1518139" y="389904"/>
                    <a:pt x="1518139" y="389836"/>
                  </a:cubicBezTo>
                  <a:cubicBezTo>
                    <a:pt x="1519229" y="388747"/>
                    <a:pt x="1520183" y="387659"/>
                    <a:pt x="1521133" y="386434"/>
                  </a:cubicBezTo>
                  <a:cubicBezTo>
                    <a:pt x="1521406" y="386094"/>
                    <a:pt x="1521612" y="385822"/>
                    <a:pt x="1521814" y="385481"/>
                  </a:cubicBezTo>
                  <a:cubicBezTo>
                    <a:pt x="1522562" y="384461"/>
                    <a:pt x="1523243" y="383440"/>
                    <a:pt x="1523858" y="382420"/>
                  </a:cubicBezTo>
                  <a:close/>
                </a:path>
              </a:pathLst>
            </a:custGeom>
            <a:solidFill>
              <a:schemeClr val="accent1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orme libre 20">
              <a:extLst>
                <a:ext uri="{FF2B5EF4-FFF2-40B4-BE49-F238E27FC236}">
                  <a16:creationId xmlns:a16="http://schemas.microsoft.com/office/drawing/2014/main" id="{74209980-3DFA-27D6-AF86-87E550EF53CE}"/>
                </a:ext>
              </a:extLst>
            </p:cNvPr>
            <p:cNvSpPr/>
            <p:nvPr/>
          </p:nvSpPr>
          <p:spPr>
            <a:xfrm>
              <a:off x="3933933" y="4427748"/>
              <a:ext cx="4343016" cy="893229"/>
            </a:xfrm>
            <a:custGeom>
              <a:avLst/>
              <a:gdLst>
                <a:gd name="connsiteX0" fmla="*/ 1912111 w 1950350"/>
                <a:gd name="connsiteY0" fmla="*/ 324455 h 401129"/>
                <a:gd name="connsiteX1" fmla="*/ 435090 w 1950350"/>
                <a:gd name="connsiteY1" fmla="*/ 324455 h 401129"/>
                <a:gd name="connsiteX2" fmla="*/ 258780 w 1950350"/>
                <a:gd name="connsiteY2" fmla="*/ 19118 h 401129"/>
                <a:gd name="connsiteX3" fmla="*/ 225640 w 1950350"/>
                <a:gd name="connsiteY3" fmla="*/ 0 h 401129"/>
                <a:gd name="connsiteX4" fmla="*/ 192501 w 1950350"/>
                <a:gd name="connsiteY4" fmla="*/ 19118 h 401129"/>
                <a:gd name="connsiteX5" fmla="*/ 5103 w 1950350"/>
                <a:gd name="connsiteY5" fmla="*/ 343640 h 401129"/>
                <a:gd name="connsiteX6" fmla="*/ 4967 w 1950350"/>
                <a:gd name="connsiteY6" fmla="*/ 343912 h 401129"/>
                <a:gd name="connsiteX7" fmla="*/ 2857 w 1950350"/>
                <a:gd name="connsiteY7" fmla="*/ 348131 h 401129"/>
                <a:gd name="connsiteX8" fmla="*/ 2788 w 1950350"/>
                <a:gd name="connsiteY8" fmla="*/ 348403 h 401129"/>
                <a:gd name="connsiteX9" fmla="*/ 1429 w 1950350"/>
                <a:gd name="connsiteY9" fmla="*/ 352485 h 401129"/>
                <a:gd name="connsiteX10" fmla="*/ 1156 w 1950350"/>
                <a:gd name="connsiteY10" fmla="*/ 353642 h 401129"/>
                <a:gd name="connsiteX11" fmla="*/ 475 w 1950350"/>
                <a:gd name="connsiteY11" fmla="*/ 357111 h 401129"/>
                <a:gd name="connsiteX12" fmla="*/ 269 w 1950350"/>
                <a:gd name="connsiteY12" fmla="*/ 358268 h 401129"/>
                <a:gd name="connsiteX13" fmla="*/ 0 w 1950350"/>
                <a:gd name="connsiteY13" fmla="*/ 362826 h 401129"/>
                <a:gd name="connsiteX14" fmla="*/ 269 w 1950350"/>
                <a:gd name="connsiteY14" fmla="*/ 367384 h 401129"/>
                <a:gd name="connsiteX15" fmla="*/ 475 w 1950350"/>
                <a:gd name="connsiteY15" fmla="*/ 368541 h 401129"/>
                <a:gd name="connsiteX16" fmla="*/ 1156 w 1950350"/>
                <a:gd name="connsiteY16" fmla="*/ 372011 h 401129"/>
                <a:gd name="connsiteX17" fmla="*/ 1429 w 1950350"/>
                <a:gd name="connsiteY17" fmla="*/ 373167 h 401129"/>
                <a:gd name="connsiteX18" fmla="*/ 2788 w 1950350"/>
                <a:gd name="connsiteY18" fmla="*/ 377249 h 401129"/>
                <a:gd name="connsiteX19" fmla="*/ 2857 w 1950350"/>
                <a:gd name="connsiteY19" fmla="*/ 377521 h 401129"/>
                <a:gd name="connsiteX20" fmla="*/ 4967 w 1950350"/>
                <a:gd name="connsiteY20" fmla="*/ 381739 h 401129"/>
                <a:gd name="connsiteX21" fmla="*/ 5103 w 1950350"/>
                <a:gd name="connsiteY21" fmla="*/ 382012 h 401129"/>
                <a:gd name="connsiteX22" fmla="*/ 5442 w 1950350"/>
                <a:gd name="connsiteY22" fmla="*/ 382556 h 401129"/>
                <a:gd name="connsiteX23" fmla="*/ 7482 w 1950350"/>
                <a:gd name="connsiteY23" fmla="*/ 385617 h 401129"/>
                <a:gd name="connsiteX24" fmla="*/ 8164 w 1950350"/>
                <a:gd name="connsiteY24" fmla="*/ 386570 h 401129"/>
                <a:gd name="connsiteX25" fmla="*/ 11157 w 1950350"/>
                <a:gd name="connsiteY25" fmla="*/ 389972 h 401129"/>
                <a:gd name="connsiteX26" fmla="*/ 11293 w 1950350"/>
                <a:gd name="connsiteY26" fmla="*/ 390108 h 401129"/>
                <a:gd name="connsiteX27" fmla="*/ 14493 w 1950350"/>
                <a:gd name="connsiteY27" fmla="*/ 392897 h 401129"/>
                <a:gd name="connsiteX28" fmla="*/ 15443 w 1950350"/>
                <a:gd name="connsiteY28" fmla="*/ 393645 h 401129"/>
                <a:gd name="connsiteX29" fmla="*/ 18440 w 1950350"/>
                <a:gd name="connsiteY29" fmla="*/ 395618 h 401129"/>
                <a:gd name="connsiteX30" fmla="*/ 19324 w 1950350"/>
                <a:gd name="connsiteY30" fmla="*/ 396163 h 401129"/>
                <a:gd name="connsiteX31" fmla="*/ 23474 w 1950350"/>
                <a:gd name="connsiteY31" fmla="*/ 398204 h 401129"/>
                <a:gd name="connsiteX32" fmla="*/ 23474 w 1950350"/>
                <a:gd name="connsiteY32" fmla="*/ 398204 h 401129"/>
                <a:gd name="connsiteX33" fmla="*/ 27760 w 1950350"/>
                <a:gd name="connsiteY33" fmla="*/ 399632 h 401129"/>
                <a:gd name="connsiteX34" fmla="*/ 28850 w 1950350"/>
                <a:gd name="connsiteY34" fmla="*/ 399905 h 401129"/>
                <a:gd name="connsiteX35" fmla="*/ 32322 w 1950350"/>
                <a:gd name="connsiteY35" fmla="*/ 400585 h 401129"/>
                <a:gd name="connsiteX36" fmla="*/ 33545 w 1950350"/>
                <a:gd name="connsiteY36" fmla="*/ 400789 h 401129"/>
                <a:gd name="connsiteX37" fmla="*/ 38173 w 1950350"/>
                <a:gd name="connsiteY37" fmla="*/ 401129 h 401129"/>
                <a:gd name="connsiteX38" fmla="*/ 1912041 w 1950350"/>
                <a:gd name="connsiteY38" fmla="*/ 401129 h 401129"/>
                <a:gd name="connsiteX39" fmla="*/ 1950351 w 1950350"/>
                <a:gd name="connsiteY39" fmla="*/ 362826 h 401129"/>
                <a:gd name="connsiteX40" fmla="*/ 1912041 w 1950350"/>
                <a:gd name="connsiteY40" fmla="*/ 324523 h 401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950350" h="401129">
                  <a:moveTo>
                    <a:pt x="1912111" y="324455"/>
                  </a:moveTo>
                  <a:lnTo>
                    <a:pt x="435090" y="324455"/>
                  </a:lnTo>
                  <a:lnTo>
                    <a:pt x="258780" y="19118"/>
                  </a:lnTo>
                  <a:cubicBezTo>
                    <a:pt x="251906" y="7280"/>
                    <a:pt x="239320" y="0"/>
                    <a:pt x="225640" y="0"/>
                  </a:cubicBezTo>
                  <a:cubicBezTo>
                    <a:pt x="211965" y="0"/>
                    <a:pt x="199306" y="7280"/>
                    <a:pt x="192501" y="19118"/>
                  </a:cubicBezTo>
                  <a:lnTo>
                    <a:pt x="5103" y="343640"/>
                  </a:lnTo>
                  <a:cubicBezTo>
                    <a:pt x="5103" y="343640"/>
                    <a:pt x="5034" y="343845"/>
                    <a:pt x="4967" y="343912"/>
                  </a:cubicBezTo>
                  <a:cubicBezTo>
                    <a:pt x="4216" y="345273"/>
                    <a:pt x="3469" y="346702"/>
                    <a:pt x="2857" y="348131"/>
                  </a:cubicBezTo>
                  <a:cubicBezTo>
                    <a:pt x="2857" y="348199"/>
                    <a:pt x="2857" y="348335"/>
                    <a:pt x="2788" y="348403"/>
                  </a:cubicBezTo>
                  <a:cubicBezTo>
                    <a:pt x="2243" y="349695"/>
                    <a:pt x="1834" y="351056"/>
                    <a:pt x="1429" y="352485"/>
                  </a:cubicBezTo>
                  <a:cubicBezTo>
                    <a:pt x="1292" y="352893"/>
                    <a:pt x="1223" y="353233"/>
                    <a:pt x="1156" y="353642"/>
                  </a:cubicBezTo>
                  <a:cubicBezTo>
                    <a:pt x="884" y="354798"/>
                    <a:pt x="678" y="355955"/>
                    <a:pt x="475" y="357111"/>
                  </a:cubicBezTo>
                  <a:cubicBezTo>
                    <a:pt x="475" y="357519"/>
                    <a:pt x="339" y="357860"/>
                    <a:pt x="269" y="358268"/>
                  </a:cubicBezTo>
                  <a:cubicBezTo>
                    <a:pt x="66" y="359765"/>
                    <a:pt x="0" y="361261"/>
                    <a:pt x="0" y="362826"/>
                  </a:cubicBezTo>
                  <a:cubicBezTo>
                    <a:pt x="0" y="364391"/>
                    <a:pt x="133" y="365888"/>
                    <a:pt x="269" y="367384"/>
                  </a:cubicBezTo>
                  <a:cubicBezTo>
                    <a:pt x="269" y="367793"/>
                    <a:pt x="405" y="368133"/>
                    <a:pt x="475" y="368541"/>
                  </a:cubicBezTo>
                  <a:cubicBezTo>
                    <a:pt x="678" y="369697"/>
                    <a:pt x="884" y="370854"/>
                    <a:pt x="1156" y="372011"/>
                  </a:cubicBezTo>
                  <a:cubicBezTo>
                    <a:pt x="1223" y="372419"/>
                    <a:pt x="1359" y="372759"/>
                    <a:pt x="1429" y="373167"/>
                  </a:cubicBezTo>
                  <a:cubicBezTo>
                    <a:pt x="1834" y="374528"/>
                    <a:pt x="2243" y="375889"/>
                    <a:pt x="2788" y="377249"/>
                  </a:cubicBezTo>
                  <a:cubicBezTo>
                    <a:pt x="2788" y="377317"/>
                    <a:pt x="2788" y="377453"/>
                    <a:pt x="2857" y="377521"/>
                  </a:cubicBezTo>
                  <a:cubicBezTo>
                    <a:pt x="3469" y="378950"/>
                    <a:pt x="4150" y="380379"/>
                    <a:pt x="4967" y="381739"/>
                  </a:cubicBezTo>
                  <a:cubicBezTo>
                    <a:pt x="4967" y="381808"/>
                    <a:pt x="5034" y="381944"/>
                    <a:pt x="5103" y="382012"/>
                  </a:cubicBezTo>
                  <a:cubicBezTo>
                    <a:pt x="5236" y="382216"/>
                    <a:pt x="5373" y="382352"/>
                    <a:pt x="5442" y="382556"/>
                  </a:cubicBezTo>
                  <a:cubicBezTo>
                    <a:pt x="6054" y="383644"/>
                    <a:pt x="6805" y="384665"/>
                    <a:pt x="7482" y="385617"/>
                  </a:cubicBezTo>
                  <a:cubicBezTo>
                    <a:pt x="7688" y="385958"/>
                    <a:pt x="7961" y="386230"/>
                    <a:pt x="8164" y="386570"/>
                  </a:cubicBezTo>
                  <a:cubicBezTo>
                    <a:pt x="9117" y="387726"/>
                    <a:pt x="10071" y="388883"/>
                    <a:pt x="11157" y="389972"/>
                  </a:cubicBezTo>
                  <a:cubicBezTo>
                    <a:pt x="11157" y="389972"/>
                    <a:pt x="11293" y="390040"/>
                    <a:pt x="11293" y="390108"/>
                  </a:cubicBezTo>
                  <a:cubicBezTo>
                    <a:pt x="12314" y="391128"/>
                    <a:pt x="13403" y="392013"/>
                    <a:pt x="14493" y="392897"/>
                  </a:cubicBezTo>
                  <a:cubicBezTo>
                    <a:pt x="14832" y="393169"/>
                    <a:pt x="15174" y="393373"/>
                    <a:pt x="15443" y="393645"/>
                  </a:cubicBezTo>
                  <a:cubicBezTo>
                    <a:pt x="16397" y="394326"/>
                    <a:pt x="17417" y="395006"/>
                    <a:pt x="18440" y="395618"/>
                  </a:cubicBezTo>
                  <a:cubicBezTo>
                    <a:pt x="18713" y="395823"/>
                    <a:pt x="18982" y="395959"/>
                    <a:pt x="19324" y="396163"/>
                  </a:cubicBezTo>
                  <a:cubicBezTo>
                    <a:pt x="20683" y="396911"/>
                    <a:pt x="22045" y="397591"/>
                    <a:pt x="23474" y="398204"/>
                  </a:cubicBezTo>
                  <a:cubicBezTo>
                    <a:pt x="23474" y="398204"/>
                    <a:pt x="23474" y="398204"/>
                    <a:pt x="23474" y="398204"/>
                  </a:cubicBezTo>
                  <a:cubicBezTo>
                    <a:pt x="24836" y="398748"/>
                    <a:pt x="26265" y="399224"/>
                    <a:pt x="27760" y="399632"/>
                  </a:cubicBezTo>
                  <a:cubicBezTo>
                    <a:pt x="28102" y="399769"/>
                    <a:pt x="28511" y="399837"/>
                    <a:pt x="28850" y="399905"/>
                  </a:cubicBezTo>
                  <a:cubicBezTo>
                    <a:pt x="30006" y="400177"/>
                    <a:pt x="31163" y="400449"/>
                    <a:pt x="32322" y="400585"/>
                  </a:cubicBezTo>
                  <a:cubicBezTo>
                    <a:pt x="32728" y="400585"/>
                    <a:pt x="33136" y="400721"/>
                    <a:pt x="33545" y="400789"/>
                  </a:cubicBezTo>
                  <a:cubicBezTo>
                    <a:pt x="35043" y="400993"/>
                    <a:pt x="36608" y="401129"/>
                    <a:pt x="38173" y="401129"/>
                  </a:cubicBezTo>
                  <a:lnTo>
                    <a:pt x="1912041" y="401129"/>
                  </a:lnTo>
                  <a:cubicBezTo>
                    <a:pt x="1933203" y="401129"/>
                    <a:pt x="1950351" y="383985"/>
                    <a:pt x="1950351" y="362826"/>
                  </a:cubicBezTo>
                  <a:cubicBezTo>
                    <a:pt x="1950351" y="341667"/>
                    <a:pt x="1933203" y="324523"/>
                    <a:pt x="1912041" y="324523"/>
                  </a:cubicBezTo>
                  <a:close/>
                </a:path>
              </a:pathLst>
            </a:custGeom>
            <a:solidFill>
              <a:schemeClr val="accent5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orme libre 21">
              <a:extLst>
                <a:ext uri="{FF2B5EF4-FFF2-40B4-BE49-F238E27FC236}">
                  <a16:creationId xmlns:a16="http://schemas.microsoft.com/office/drawing/2014/main" id="{BD54F6D8-6F90-BA2B-8EC6-13A2FC15ABDB}"/>
                </a:ext>
              </a:extLst>
            </p:cNvPr>
            <p:cNvSpPr/>
            <p:nvPr/>
          </p:nvSpPr>
          <p:spPr>
            <a:xfrm>
              <a:off x="9531127" y="2418815"/>
              <a:ext cx="704591" cy="924892"/>
            </a:xfrm>
            <a:custGeom>
              <a:avLst/>
              <a:gdLst>
                <a:gd name="connsiteX0" fmla="*/ 76552 w 316416"/>
                <a:gd name="connsiteY0" fmla="*/ 0 h 415348"/>
                <a:gd name="connsiteX1" fmla="*/ 0 w 316416"/>
                <a:gd name="connsiteY1" fmla="*/ 0 h 415348"/>
                <a:gd name="connsiteX2" fmla="*/ 239864 w 316416"/>
                <a:gd name="connsiteY2" fmla="*/ 415349 h 415348"/>
                <a:gd name="connsiteX3" fmla="*/ 316417 w 316416"/>
                <a:gd name="connsiteY3" fmla="*/ 415349 h 415348"/>
                <a:gd name="connsiteX4" fmla="*/ 76552 w 316416"/>
                <a:gd name="connsiteY4" fmla="*/ 0 h 41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6416" h="415348">
                  <a:moveTo>
                    <a:pt x="76552" y="0"/>
                  </a:moveTo>
                  <a:cubicBezTo>
                    <a:pt x="50560" y="0"/>
                    <a:pt x="25042" y="0"/>
                    <a:pt x="0" y="0"/>
                  </a:cubicBezTo>
                  <a:lnTo>
                    <a:pt x="239864" y="415349"/>
                  </a:lnTo>
                  <a:lnTo>
                    <a:pt x="316417" y="415349"/>
                  </a:lnTo>
                  <a:lnTo>
                    <a:pt x="76552" y="0"/>
                  </a:lnTo>
                  <a:close/>
                </a:path>
              </a:pathLst>
            </a:custGeom>
            <a:solidFill>
              <a:schemeClr val="accent4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orme libre 22">
              <a:extLst>
                <a:ext uri="{FF2B5EF4-FFF2-40B4-BE49-F238E27FC236}">
                  <a16:creationId xmlns:a16="http://schemas.microsoft.com/office/drawing/2014/main" id="{7695FCE5-E0D4-FD71-1818-2039405C4C65}"/>
                </a:ext>
              </a:extLst>
            </p:cNvPr>
            <p:cNvSpPr/>
            <p:nvPr/>
          </p:nvSpPr>
          <p:spPr>
            <a:xfrm>
              <a:off x="5577378" y="2418815"/>
              <a:ext cx="4487875" cy="924892"/>
            </a:xfrm>
            <a:custGeom>
              <a:avLst/>
              <a:gdLst>
                <a:gd name="connsiteX0" fmla="*/ 443323 w 2015403"/>
                <a:gd name="connsiteY0" fmla="*/ 136 h 415348"/>
                <a:gd name="connsiteX1" fmla="*/ 439173 w 2015403"/>
                <a:gd name="connsiteY1" fmla="*/ 2177 h 415348"/>
                <a:gd name="connsiteX2" fmla="*/ 439173 w 2015403"/>
                <a:gd name="connsiteY2" fmla="*/ 2177 h 415348"/>
                <a:gd name="connsiteX3" fmla="*/ 434884 w 2015403"/>
                <a:gd name="connsiteY3" fmla="*/ 3606 h 415348"/>
                <a:gd name="connsiteX4" fmla="*/ 433797 w 2015403"/>
                <a:gd name="connsiteY4" fmla="*/ 3878 h 415348"/>
                <a:gd name="connsiteX5" fmla="*/ 430325 w 2015403"/>
                <a:gd name="connsiteY5" fmla="*/ 4558 h 415348"/>
                <a:gd name="connsiteX6" fmla="*/ 429099 w 2015403"/>
                <a:gd name="connsiteY6" fmla="*/ 4762 h 415348"/>
                <a:gd name="connsiteX7" fmla="*/ 424474 w 2015403"/>
                <a:gd name="connsiteY7" fmla="*/ 5103 h 415348"/>
                <a:gd name="connsiteX8" fmla="*/ 71788 w 2015403"/>
                <a:gd name="connsiteY8" fmla="*/ 5103 h 415348"/>
                <a:gd name="connsiteX9" fmla="*/ 0 w 2015403"/>
                <a:gd name="connsiteY9" fmla="*/ 129129 h 415348"/>
                <a:gd name="connsiteX10" fmla="*/ 165286 w 2015403"/>
                <a:gd name="connsiteY10" fmla="*/ 415349 h 415348"/>
                <a:gd name="connsiteX11" fmla="*/ 2015404 w 2015403"/>
                <a:gd name="connsiteY11" fmla="*/ 415349 h 415348"/>
                <a:gd name="connsiteX12" fmla="*/ 1775539 w 2015403"/>
                <a:gd name="connsiteY12" fmla="*/ 0 h 415348"/>
                <a:gd name="connsiteX13" fmla="*/ 443323 w 2015403"/>
                <a:gd name="connsiteY13" fmla="*/ 136 h 415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15403" h="415348">
                  <a:moveTo>
                    <a:pt x="443323" y="136"/>
                  </a:moveTo>
                  <a:cubicBezTo>
                    <a:pt x="441961" y="884"/>
                    <a:pt x="440602" y="1565"/>
                    <a:pt x="439173" y="2177"/>
                  </a:cubicBezTo>
                  <a:cubicBezTo>
                    <a:pt x="439173" y="2177"/>
                    <a:pt x="439173" y="2177"/>
                    <a:pt x="439173" y="2177"/>
                  </a:cubicBezTo>
                  <a:cubicBezTo>
                    <a:pt x="437811" y="2721"/>
                    <a:pt x="436382" y="3198"/>
                    <a:pt x="434884" y="3606"/>
                  </a:cubicBezTo>
                  <a:cubicBezTo>
                    <a:pt x="434545" y="3742"/>
                    <a:pt x="434136" y="3810"/>
                    <a:pt x="433797" y="3878"/>
                  </a:cubicBezTo>
                  <a:cubicBezTo>
                    <a:pt x="432638" y="4150"/>
                    <a:pt x="431482" y="4422"/>
                    <a:pt x="430325" y="4558"/>
                  </a:cubicBezTo>
                  <a:cubicBezTo>
                    <a:pt x="429917" y="4558"/>
                    <a:pt x="429508" y="4694"/>
                    <a:pt x="429099" y="4762"/>
                  </a:cubicBezTo>
                  <a:cubicBezTo>
                    <a:pt x="427604" y="4967"/>
                    <a:pt x="426039" y="5103"/>
                    <a:pt x="424474" y="5103"/>
                  </a:cubicBezTo>
                  <a:lnTo>
                    <a:pt x="71788" y="5103"/>
                  </a:lnTo>
                  <a:lnTo>
                    <a:pt x="0" y="129129"/>
                  </a:lnTo>
                  <a:lnTo>
                    <a:pt x="165286" y="415349"/>
                  </a:lnTo>
                  <a:lnTo>
                    <a:pt x="2015404" y="415349"/>
                  </a:lnTo>
                  <a:lnTo>
                    <a:pt x="1775539" y="0"/>
                  </a:lnTo>
                  <a:cubicBezTo>
                    <a:pt x="887600" y="0"/>
                    <a:pt x="443526" y="48"/>
                    <a:pt x="443323" y="136"/>
                  </a:cubicBezTo>
                  <a:close/>
                </a:path>
              </a:pathLst>
            </a:custGeom>
            <a:gradFill>
              <a:gsLst>
                <a:gs pos="0">
                  <a:schemeClr val="bg2">
                    <a:lumMod val="90000"/>
                  </a:schemeClr>
                </a:gs>
                <a:gs pos="20000">
                  <a:schemeClr val="bg1"/>
                </a:gs>
                <a:gs pos="80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orme libre 23">
              <a:extLst>
                <a:ext uri="{FF2B5EF4-FFF2-40B4-BE49-F238E27FC236}">
                  <a16:creationId xmlns:a16="http://schemas.microsoft.com/office/drawing/2014/main" id="{5F30FCB8-660F-179B-B396-E2FA2E284561}"/>
                </a:ext>
              </a:extLst>
            </p:cNvPr>
            <p:cNvSpPr/>
            <p:nvPr/>
          </p:nvSpPr>
          <p:spPr>
            <a:xfrm>
              <a:off x="10678932" y="4406540"/>
              <a:ext cx="599892" cy="743700"/>
            </a:xfrm>
            <a:custGeom>
              <a:avLst/>
              <a:gdLst>
                <a:gd name="connsiteX0" fmla="*/ 76552 w 269398"/>
                <a:gd name="connsiteY0" fmla="*/ 0 h 333979"/>
                <a:gd name="connsiteX1" fmla="*/ 0 w 269398"/>
                <a:gd name="connsiteY1" fmla="*/ 0 h 333979"/>
                <a:gd name="connsiteX2" fmla="*/ 192847 w 269398"/>
                <a:gd name="connsiteY2" fmla="*/ 333980 h 333979"/>
                <a:gd name="connsiteX3" fmla="*/ 269399 w 269398"/>
                <a:gd name="connsiteY3" fmla="*/ 333980 h 333979"/>
                <a:gd name="connsiteX4" fmla="*/ 76552 w 269398"/>
                <a:gd name="connsiteY4" fmla="*/ 0 h 333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398" h="333979">
                  <a:moveTo>
                    <a:pt x="76552" y="0"/>
                  </a:moveTo>
                  <a:cubicBezTo>
                    <a:pt x="50560" y="0"/>
                    <a:pt x="25042" y="0"/>
                    <a:pt x="0" y="0"/>
                  </a:cubicBezTo>
                  <a:lnTo>
                    <a:pt x="192847" y="333980"/>
                  </a:lnTo>
                  <a:lnTo>
                    <a:pt x="269399" y="333980"/>
                  </a:lnTo>
                  <a:lnTo>
                    <a:pt x="76552" y="0"/>
                  </a:lnTo>
                  <a:close/>
                </a:path>
              </a:pathLst>
            </a:custGeom>
            <a:solidFill>
              <a:schemeClr val="accent5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orme libre 24">
              <a:extLst>
                <a:ext uri="{FF2B5EF4-FFF2-40B4-BE49-F238E27FC236}">
                  <a16:creationId xmlns:a16="http://schemas.microsoft.com/office/drawing/2014/main" id="{70EF99CD-6819-0ED0-F049-1049C9FEE734}"/>
                </a:ext>
              </a:extLst>
            </p:cNvPr>
            <p:cNvSpPr/>
            <p:nvPr/>
          </p:nvSpPr>
          <p:spPr>
            <a:xfrm>
              <a:off x="4534573" y="4406540"/>
              <a:ext cx="6573786" cy="743700"/>
            </a:xfrm>
            <a:custGeom>
              <a:avLst/>
              <a:gdLst>
                <a:gd name="connsiteX0" fmla="*/ 1423332 w 2952138"/>
                <a:gd name="connsiteY0" fmla="*/ 1973 h 333979"/>
                <a:gd name="connsiteX1" fmla="*/ 1423332 w 2952138"/>
                <a:gd name="connsiteY1" fmla="*/ 1973 h 333979"/>
                <a:gd name="connsiteX2" fmla="*/ 1419045 w 2952138"/>
                <a:gd name="connsiteY2" fmla="*/ 3402 h 333979"/>
                <a:gd name="connsiteX3" fmla="*/ 1417956 w 2952138"/>
                <a:gd name="connsiteY3" fmla="*/ 3674 h 333979"/>
                <a:gd name="connsiteX4" fmla="*/ 1414487 w 2952138"/>
                <a:gd name="connsiteY4" fmla="*/ 4354 h 333979"/>
                <a:gd name="connsiteX5" fmla="*/ 1413261 w 2952138"/>
                <a:gd name="connsiteY5" fmla="*/ 4558 h 333979"/>
                <a:gd name="connsiteX6" fmla="*/ 1408636 w 2952138"/>
                <a:gd name="connsiteY6" fmla="*/ 4898 h 333979"/>
                <a:gd name="connsiteX7" fmla="*/ 24770 w 2952138"/>
                <a:gd name="connsiteY7" fmla="*/ 4898 h 333979"/>
                <a:gd name="connsiteX8" fmla="*/ 0 w 2952138"/>
                <a:gd name="connsiteY8" fmla="*/ 47760 h 333979"/>
                <a:gd name="connsiteX9" fmla="*/ 165286 w 2952138"/>
                <a:gd name="connsiteY9" fmla="*/ 333980 h 333979"/>
                <a:gd name="connsiteX10" fmla="*/ 2952139 w 2952138"/>
                <a:gd name="connsiteY10" fmla="*/ 333980 h 333979"/>
                <a:gd name="connsiteX11" fmla="*/ 2759292 w 2952138"/>
                <a:gd name="connsiteY11" fmla="*/ 0 h 333979"/>
                <a:gd name="connsiteX12" fmla="*/ 1423332 w 2952138"/>
                <a:gd name="connsiteY12" fmla="*/ 1973 h 333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952138" h="333979">
                  <a:moveTo>
                    <a:pt x="1423332" y="1973"/>
                  </a:moveTo>
                  <a:cubicBezTo>
                    <a:pt x="1423332" y="1973"/>
                    <a:pt x="1423332" y="1973"/>
                    <a:pt x="1423332" y="1973"/>
                  </a:cubicBezTo>
                  <a:cubicBezTo>
                    <a:pt x="1421973" y="2517"/>
                    <a:pt x="1420544" y="2994"/>
                    <a:pt x="1419045" y="3402"/>
                  </a:cubicBezTo>
                  <a:cubicBezTo>
                    <a:pt x="1418706" y="3538"/>
                    <a:pt x="1418298" y="3606"/>
                    <a:pt x="1417956" y="3674"/>
                  </a:cubicBezTo>
                  <a:cubicBezTo>
                    <a:pt x="1416799" y="3946"/>
                    <a:pt x="1415643" y="4218"/>
                    <a:pt x="1414487" y="4354"/>
                  </a:cubicBezTo>
                  <a:cubicBezTo>
                    <a:pt x="1414078" y="4354"/>
                    <a:pt x="1413669" y="4490"/>
                    <a:pt x="1413261" y="4558"/>
                  </a:cubicBezTo>
                  <a:cubicBezTo>
                    <a:pt x="1411766" y="4762"/>
                    <a:pt x="1410201" y="4898"/>
                    <a:pt x="1408636" y="4898"/>
                  </a:cubicBezTo>
                  <a:lnTo>
                    <a:pt x="24770" y="4898"/>
                  </a:lnTo>
                  <a:lnTo>
                    <a:pt x="0" y="47760"/>
                  </a:lnTo>
                  <a:lnTo>
                    <a:pt x="165286" y="333980"/>
                  </a:lnTo>
                  <a:lnTo>
                    <a:pt x="2952139" y="333980"/>
                  </a:lnTo>
                  <a:lnTo>
                    <a:pt x="2759292" y="0"/>
                  </a:lnTo>
                  <a:cubicBezTo>
                    <a:pt x="1870466" y="497"/>
                    <a:pt x="1425169" y="1156"/>
                    <a:pt x="1423332" y="1973"/>
                  </a:cubicBezTo>
                  <a:close/>
                </a:path>
              </a:pathLst>
            </a:custGeom>
            <a:gradFill>
              <a:gsLst>
                <a:gs pos="0">
                  <a:schemeClr val="bg2">
                    <a:lumMod val="90000"/>
                  </a:schemeClr>
                </a:gs>
                <a:gs pos="20000">
                  <a:schemeClr val="bg1"/>
                </a:gs>
                <a:gs pos="80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orme libre 25">
              <a:extLst>
                <a:ext uri="{FF2B5EF4-FFF2-40B4-BE49-F238E27FC236}">
                  <a16:creationId xmlns:a16="http://schemas.microsoft.com/office/drawing/2014/main" id="{507DFF80-C57B-63A5-C00E-F5D571C51BDE}"/>
                </a:ext>
              </a:extLst>
            </p:cNvPr>
            <p:cNvSpPr/>
            <p:nvPr/>
          </p:nvSpPr>
          <p:spPr>
            <a:xfrm>
              <a:off x="1431335" y="3503083"/>
              <a:ext cx="600041" cy="744003"/>
            </a:xfrm>
            <a:custGeom>
              <a:avLst/>
              <a:gdLst>
                <a:gd name="connsiteX0" fmla="*/ 192979 w 269465"/>
                <a:gd name="connsiteY0" fmla="*/ 0 h 334115"/>
                <a:gd name="connsiteX1" fmla="*/ 0 w 269465"/>
                <a:gd name="connsiteY1" fmla="*/ 334116 h 334115"/>
                <a:gd name="connsiteX2" fmla="*/ 76552 w 269465"/>
                <a:gd name="connsiteY2" fmla="*/ 334116 h 334115"/>
                <a:gd name="connsiteX3" fmla="*/ 269465 w 269465"/>
                <a:gd name="connsiteY3" fmla="*/ 0 h 334115"/>
                <a:gd name="connsiteX4" fmla="*/ 192913 w 269465"/>
                <a:gd name="connsiteY4" fmla="*/ 0 h 33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9465" h="334115">
                  <a:moveTo>
                    <a:pt x="192979" y="0"/>
                  </a:moveTo>
                  <a:lnTo>
                    <a:pt x="0" y="334116"/>
                  </a:lnTo>
                  <a:lnTo>
                    <a:pt x="76552" y="334116"/>
                  </a:lnTo>
                  <a:lnTo>
                    <a:pt x="269465" y="0"/>
                  </a:lnTo>
                  <a:cubicBezTo>
                    <a:pt x="244423" y="0"/>
                    <a:pt x="218906" y="0"/>
                    <a:pt x="192913" y="0"/>
                  </a:cubicBezTo>
                  <a:close/>
                </a:path>
              </a:pathLst>
            </a:custGeom>
            <a:solidFill>
              <a:schemeClr val="accent1"/>
            </a:soli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orme libre 26">
              <a:extLst>
                <a:ext uri="{FF2B5EF4-FFF2-40B4-BE49-F238E27FC236}">
                  <a16:creationId xmlns:a16="http://schemas.microsoft.com/office/drawing/2014/main" id="{A566A937-A257-44A9-96FA-5EDAE8732752}"/>
                </a:ext>
              </a:extLst>
            </p:cNvPr>
            <p:cNvSpPr/>
            <p:nvPr/>
          </p:nvSpPr>
          <p:spPr>
            <a:xfrm>
              <a:off x="1601800" y="3503083"/>
              <a:ext cx="5553712" cy="744003"/>
            </a:xfrm>
            <a:custGeom>
              <a:avLst/>
              <a:gdLst>
                <a:gd name="connsiteX0" fmla="*/ 2494046 w 2494046"/>
                <a:gd name="connsiteY0" fmla="*/ 47896 h 334115"/>
                <a:gd name="connsiteX1" fmla="*/ 2468938 w 2494046"/>
                <a:gd name="connsiteY1" fmla="*/ 4967 h 334115"/>
                <a:gd name="connsiteX2" fmla="*/ 1553710 w 2494046"/>
                <a:gd name="connsiteY2" fmla="*/ 4967 h 334115"/>
                <a:gd name="connsiteX3" fmla="*/ 1549082 w 2494046"/>
                <a:gd name="connsiteY3" fmla="*/ 4626 h 334115"/>
                <a:gd name="connsiteX4" fmla="*/ 1547856 w 2494046"/>
                <a:gd name="connsiteY4" fmla="*/ 4422 h 334115"/>
                <a:gd name="connsiteX5" fmla="*/ 1544387 w 2494046"/>
                <a:gd name="connsiteY5" fmla="*/ 3742 h 334115"/>
                <a:gd name="connsiteX6" fmla="*/ 1543297 w 2494046"/>
                <a:gd name="connsiteY6" fmla="*/ 3470 h 334115"/>
                <a:gd name="connsiteX7" fmla="*/ 1539011 w 2494046"/>
                <a:gd name="connsiteY7" fmla="*/ 2041 h 334115"/>
                <a:gd name="connsiteX8" fmla="*/ 1539011 w 2494046"/>
                <a:gd name="connsiteY8" fmla="*/ 2041 h 334115"/>
                <a:gd name="connsiteX9" fmla="*/ 1534861 w 2494046"/>
                <a:gd name="connsiteY9" fmla="*/ 0 h 334115"/>
                <a:gd name="connsiteX10" fmla="*/ 192913 w 2494046"/>
                <a:gd name="connsiteY10" fmla="*/ 0 h 334115"/>
                <a:gd name="connsiteX11" fmla="*/ 0 w 2494046"/>
                <a:gd name="connsiteY11" fmla="*/ 334116 h 334115"/>
                <a:gd name="connsiteX12" fmla="*/ 2328827 w 2494046"/>
                <a:gd name="connsiteY12" fmla="*/ 334116 h 334115"/>
                <a:gd name="connsiteX13" fmla="*/ 2494046 w 2494046"/>
                <a:gd name="connsiteY13" fmla="*/ 47964 h 3341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494046" h="334115">
                  <a:moveTo>
                    <a:pt x="2494046" y="47896"/>
                  </a:moveTo>
                  <a:lnTo>
                    <a:pt x="2468938" y="4967"/>
                  </a:lnTo>
                  <a:lnTo>
                    <a:pt x="1553710" y="4967"/>
                  </a:lnTo>
                  <a:cubicBezTo>
                    <a:pt x="1552145" y="4967"/>
                    <a:pt x="1550580" y="4830"/>
                    <a:pt x="1549082" y="4626"/>
                  </a:cubicBezTo>
                  <a:cubicBezTo>
                    <a:pt x="1548673" y="4626"/>
                    <a:pt x="1548264" y="4490"/>
                    <a:pt x="1547856" y="4422"/>
                  </a:cubicBezTo>
                  <a:cubicBezTo>
                    <a:pt x="1546699" y="4218"/>
                    <a:pt x="1545543" y="4014"/>
                    <a:pt x="1544387" y="3742"/>
                  </a:cubicBezTo>
                  <a:cubicBezTo>
                    <a:pt x="1544048" y="3674"/>
                    <a:pt x="1543639" y="3538"/>
                    <a:pt x="1543297" y="3470"/>
                  </a:cubicBezTo>
                  <a:cubicBezTo>
                    <a:pt x="1541868" y="3061"/>
                    <a:pt x="1540440" y="2585"/>
                    <a:pt x="1539011" y="2041"/>
                  </a:cubicBezTo>
                  <a:cubicBezTo>
                    <a:pt x="1539011" y="2041"/>
                    <a:pt x="1539011" y="2041"/>
                    <a:pt x="1539011" y="2041"/>
                  </a:cubicBezTo>
                  <a:cubicBezTo>
                    <a:pt x="1537582" y="1429"/>
                    <a:pt x="1536220" y="748"/>
                    <a:pt x="1534861" y="0"/>
                  </a:cubicBezTo>
                  <a:cubicBezTo>
                    <a:pt x="1534861" y="0"/>
                    <a:pt x="1087521" y="0"/>
                    <a:pt x="192913" y="0"/>
                  </a:cubicBezTo>
                  <a:lnTo>
                    <a:pt x="0" y="334116"/>
                  </a:lnTo>
                  <a:lnTo>
                    <a:pt x="2328827" y="334116"/>
                  </a:lnTo>
                  <a:lnTo>
                    <a:pt x="2494046" y="47964"/>
                  </a:lnTo>
                  <a:close/>
                </a:path>
              </a:pathLst>
            </a:custGeom>
            <a:gradFill>
              <a:gsLst>
                <a:gs pos="0">
                  <a:schemeClr val="bg2">
                    <a:lumMod val="90000"/>
                  </a:schemeClr>
                </a:gs>
                <a:gs pos="20000">
                  <a:schemeClr val="bg1"/>
                </a:gs>
                <a:gs pos="80000">
                  <a:schemeClr val="bg1"/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ln w="680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ZoneTexte 2">
              <a:extLst>
                <a:ext uri="{FF2B5EF4-FFF2-40B4-BE49-F238E27FC236}">
                  <a16:creationId xmlns:a16="http://schemas.microsoft.com/office/drawing/2014/main" id="{FA7D3E03-19CD-D65E-39B1-9D60209357AD}"/>
                </a:ext>
              </a:extLst>
            </p:cNvPr>
            <p:cNvSpPr txBox="1"/>
            <p:nvPr/>
          </p:nvSpPr>
          <p:spPr>
            <a:xfrm>
              <a:off x="10321683" y="4516780"/>
              <a:ext cx="550152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accent5"/>
                  </a:solidFill>
                </a:rPr>
                <a:t>01</a:t>
              </a:r>
            </a:p>
          </p:txBody>
        </p:sp>
        <p:sp>
          <p:nvSpPr>
            <p:cNvPr id="38" name="ZoneTexte 3">
              <a:extLst>
                <a:ext uri="{FF2B5EF4-FFF2-40B4-BE49-F238E27FC236}">
                  <a16:creationId xmlns:a16="http://schemas.microsoft.com/office/drawing/2014/main" id="{47A7079F-FFA8-D92F-156A-BE44BE953368}"/>
                </a:ext>
              </a:extLst>
            </p:cNvPr>
            <p:cNvSpPr txBox="1"/>
            <p:nvPr/>
          </p:nvSpPr>
          <p:spPr>
            <a:xfrm>
              <a:off x="1864357" y="3613474"/>
              <a:ext cx="550152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accent1"/>
                  </a:solidFill>
                </a:rPr>
                <a:t>02</a:t>
              </a:r>
            </a:p>
          </p:txBody>
        </p:sp>
        <p:sp>
          <p:nvSpPr>
            <p:cNvPr id="39" name="ZoneTexte 4">
              <a:extLst>
                <a:ext uri="{FF2B5EF4-FFF2-40B4-BE49-F238E27FC236}">
                  <a16:creationId xmlns:a16="http://schemas.microsoft.com/office/drawing/2014/main" id="{B45F798C-1AD5-0DDE-0424-306693732652}"/>
                </a:ext>
              </a:extLst>
            </p:cNvPr>
            <p:cNvSpPr txBox="1"/>
            <p:nvPr/>
          </p:nvSpPr>
          <p:spPr>
            <a:xfrm>
              <a:off x="9147922" y="2619651"/>
              <a:ext cx="550152" cy="52322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fr-FR" sz="2800" b="1" dirty="0">
                  <a:solidFill>
                    <a:schemeClr val="accent4"/>
                  </a:solidFill>
                </a:rPr>
                <a:t>03</a:t>
              </a:r>
            </a:p>
          </p:txBody>
        </p:sp>
        <p:pic>
          <p:nvPicPr>
            <p:cNvPr id="40" name="Graphic 15" descr="Gears with solid fill">
              <a:extLst>
                <a:ext uri="{FF2B5EF4-FFF2-40B4-BE49-F238E27FC236}">
                  <a16:creationId xmlns:a16="http://schemas.microsoft.com/office/drawing/2014/main" id="{47C8AB15-5409-BA28-7826-81D7401948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975049" y="3814600"/>
              <a:ext cx="480935" cy="480935"/>
            </a:xfrm>
            <a:prstGeom prst="rect">
              <a:avLst/>
            </a:prstGeom>
          </p:spPr>
        </p:pic>
        <p:pic>
          <p:nvPicPr>
            <p:cNvPr id="41" name="Graphic 17" descr="Lightbulb with solid fill">
              <a:extLst>
                <a:ext uri="{FF2B5EF4-FFF2-40B4-BE49-F238E27FC236}">
                  <a16:creationId xmlns:a16="http://schemas.microsoft.com/office/drawing/2014/main" id="{BFC51897-C9B2-9C00-8BE2-C4E8F462CD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02412" y="4665203"/>
              <a:ext cx="480935" cy="480935"/>
            </a:xfrm>
            <a:prstGeom prst="rect">
              <a:avLst/>
            </a:prstGeom>
          </p:spPr>
        </p:pic>
        <p:pic>
          <p:nvPicPr>
            <p:cNvPr id="42" name="Graphic 18" descr="Research with solid fill">
              <a:extLst>
                <a:ext uri="{FF2B5EF4-FFF2-40B4-BE49-F238E27FC236}">
                  <a16:creationId xmlns:a16="http://schemas.microsoft.com/office/drawing/2014/main" id="{74A89570-4A08-F798-FA67-8FCE9F5978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246765" y="2902427"/>
              <a:ext cx="480935" cy="480935"/>
            </a:xfrm>
            <a:prstGeom prst="rect">
              <a:avLst/>
            </a:prstGeom>
          </p:spPr>
        </p:pic>
        <p:sp>
          <p:nvSpPr>
            <p:cNvPr id="49" name="TextBox 25">
              <a:extLst>
                <a:ext uri="{FF2B5EF4-FFF2-40B4-BE49-F238E27FC236}">
                  <a16:creationId xmlns:a16="http://schemas.microsoft.com/office/drawing/2014/main" id="{382FF58D-A8C4-4A88-24CE-A223D5F52831}"/>
                </a:ext>
              </a:extLst>
            </p:cNvPr>
            <p:cNvSpPr txBox="1"/>
            <p:nvPr/>
          </p:nvSpPr>
          <p:spPr>
            <a:xfrm>
              <a:off x="5100600" y="4547558"/>
              <a:ext cx="5156615" cy="461665"/>
            </a:xfrm>
            <a:prstGeom prst="rect">
              <a:avLst/>
            </a:prstGeom>
            <a:noFill/>
          </p:spPr>
          <p:txBody>
            <a:bodyPr wrap="square" lIns="0" rIns="0" rtlCol="0" anchor="ctr">
              <a:spAutoFit/>
            </a:bodyPr>
            <a:lstStyle/>
            <a:p>
              <a:pPr algn="r"/>
              <a:r>
                <a:rPr lang="ar-EG" sz="2400" b="1" noProof="1">
                  <a:solidFill>
                    <a:srgbClr val="1A365D"/>
                  </a:solidFill>
                </a:rPr>
                <a:t>التصنيف</a:t>
              </a:r>
              <a:endParaRPr lang="en-US" sz="2400" b="1" noProof="1">
                <a:solidFill>
                  <a:srgbClr val="1A365D"/>
                </a:solidFill>
              </a:endParaRPr>
            </a:p>
          </p:txBody>
        </p:sp>
        <p:cxnSp>
          <p:nvCxnSpPr>
            <p:cNvPr id="51" name="Connecteur droit 33">
              <a:extLst>
                <a:ext uri="{FF2B5EF4-FFF2-40B4-BE49-F238E27FC236}">
                  <a16:creationId xmlns:a16="http://schemas.microsoft.com/office/drawing/2014/main" id="{F431B385-139E-23FF-8DE2-9EED85D31C6B}"/>
                </a:ext>
              </a:extLst>
            </p:cNvPr>
            <p:cNvCxnSpPr>
              <a:cxnSpLocks/>
            </p:cNvCxnSpPr>
            <p:nvPr/>
          </p:nvCxnSpPr>
          <p:spPr>
            <a:xfrm>
              <a:off x="10329875" y="4554986"/>
              <a:ext cx="0" cy="48501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2" name="Graphic 31" descr="Trophy">
              <a:extLst>
                <a:ext uri="{FF2B5EF4-FFF2-40B4-BE49-F238E27FC236}">
                  <a16:creationId xmlns:a16="http://schemas.microsoft.com/office/drawing/2014/main" id="{355C4604-19F1-D41C-B519-FAA6DD5EC84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828822" y="1825081"/>
              <a:ext cx="534356" cy="534356"/>
            </a:xfrm>
            <a:prstGeom prst="rect">
              <a:avLst/>
            </a:prstGeom>
          </p:spPr>
        </p:pic>
      </p:grpSp>
      <p:sp>
        <p:nvSpPr>
          <p:cNvPr id="81" name="TextBox 25">
            <a:extLst>
              <a:ext uri="{FF2B5EF4-FFF2-40B4-BE49-F238E27FC236}">
                <a16:creationId xmlns:a16="http://schemas.microsoft.com/office/drawing/2014/main" id="{E2DCEDB9-0C1A-F1AF-2B25-69A3892B5ABC}"/>
              </a:ext>
            </a:extLst>
          </p:cNvPr>
          <p:cNvSpPr txBox="1"/>
          <p:nvPr/>
        </p:nvSpPr>
        <p:spPr>
          <a:xfrm>
            <a:off x="3933933" y="2683088"/>
            <a:ext cx="5156615" cy="46166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r"/>
            <a:r>
              <a:rPr lang="ar-EG" sz="2400" b="1" noProof="1">
                <a:solidFill>
                  <a:srgbClr val="1A365D"/>
                </a:solidFill>
              </a:rPr>
              <a:t>الفهرسة وإعداد الفهارس</a:t>
            </a:r>
            <a:endParaRPr lang="en-US" sz="2400" b="1" noProof="1">
              <a:solidFill>
                <a:srgbClr val="1A365D"/>
              </a:solidFill>
            </a:endParaRPr>
          </a:p>
        </p:txBody>
      </p:sp>
      <p:sp>
        <p:nvSpPr>
          <p:cNvPr id="83" name="TextBox 25">
            <a:extLst>
              <a:ext uri="{FF2B5EF4-FFF2-40B4-BE49-F238E27FC236}">
                <a16:creationId xmlns:a16="http://schemas.microsoft.com/office/drawing/2014/main" id="{2E7C71DA-0DD6-2472-A39C-B32BDBD6C523}"/>
              </a:ext>
            </a:extLst>
          </p:cNvPr>
          <p:cNvSpPr txBox="1"/>
          <p:nvPr/>
        </p:nvSpPr>
        <p:spPr>
          <a:xfrm>
            <a:off x="2448629" y="3654948"/>
            <a:ext cx="1179942" cy="461665"/>
          </a:xfrm>
          <a:prstGeom prst="rect">
            <a:avLst/>
          </a:prstGeom>
          <a:noFill/>
        </p:spPr>
        <p:txBody>
          <a:bodyPr wrap="square" lIns="0" rIns="0" rtlCol="0" anchor="ctr">
            <a:spAutoFit/>
          </a:bodyPr>
          <a:lstStyle/>
          <a:p>
            <a:pPr algn="r"/>
            <a:r>
              <a:rPr lang="ar-EG" sz="2400" b="1" noProof="1">
                <a:solidFill>
                  <a:srgbClr val="1A365D"/>
                </a:solidFill>
              </a:rPr>
              <a:t>الترقيم</a:t>
            </a:r>
            <a:endParaRPr lang="en-US" sz="2400" b="1" noProof="1">
              <a:solidFill>
                <a:srgbClr val="1A365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17A239-99AB-58F9-E447-948CA48D8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6F497A-3A75-F98D-F811-873FD9536665}"/>
              </a:ext>
            </a:extLst>
          </p:cNvPr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B8F75-961B-682F-6493-574C1E250A2C}"/>
              </a:ext>
            </a:extLst>
          </p:cNvPr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4D3D7F-0FAA-BE00-7FAE-2F53B0274D2D}"/>
              </a:ext>
            </a:extLst>
          </p:cNvPr>
          <p:cNvSpPr txBox="1"/>
          <p:nvPr/>
        </p:nvSpPr>
        <p:spPr>
          <a:xfrm>
            <a:off x="885066" y="1707657"/>
            <a:ext cx="9376229" cy="11426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pPr algn="just"/>
            <a:r>
              <a:rPr lang="ar-EG" sz="2800" dirty="0">
                <a:solidFill>
                  <a:srgbClr val="C00000"/>
                </a:solidFill>
              </a:rPr>
              <a:t>لماذا يتم استخدام هذه العمليات في حفظ وتنظيم الوثائق داخل وحدات الحفظ في المؤسسات؟</a:t>
            </a:r>
            <a:endParaRPr sz="2800" dirty="0">
              <a:solidFill>
                <a:srgbClr val="C00000"/>
              </a:solidFill>
            </a:endParaRPr>
          </a:p>
        </p:txBody>
      </p:sp>
      <p:pic>
        <p:nvPicPr>
          <p:cNvPr id="14" name="Graphic 13" descr="Question mark with solid fill">
            <a:extLst>
              <a:ext uri="{FF2B5EF4-FFF2-40B4-BE49-F238E27FC236}">
                <a16:creationId xmlns:a16="http://schemas.microsoft.com/office/drawing/2014/main" id="{339E7AF1-B262-930F-2E73-D317E681DA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1295" y="1807958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EB5D599-6831-4DB5-54D3-A46A2395A397}"/>
              </a:ext>
            </a:extLst>
          </p:cNvPr>
          <p:cNvSpPr txBox="1"/>
          <p:nvPr/>
        </p:nvSpPr>
        <p:spPr>
          <a:xfrm>
            <a:off x="899733" y="4132668"/>
            <a:ext cx="9376229" cy="11426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pPr algn="just"/>
            <a:r>
              <a:rPr lang="ar-EG" sz="2800" dirty="0">
                <a:solidFill>
                  <a:srgbClr val="C00000"/>
                </a:solidFill>
              </a:rPr>
              <a:t>هل هناك اختلاف بين استخدام هذه العمليات في المكتبات واستخدامها داخل وحدات حفظ </a:t>
            </a:r>
            <a:r>
              <a:rPr lang="ar-EG" sz="2800" dirty="0" err="1">
                <a:solidFill>
                  <a:srgbClr val="C00000"/>
                </a:solidFill>
              </a:rPr>
              <a:t>المستندت</a:t>
            </a:r>
            <a:r>
              <a:rPr lang="ar-EG" sz="2800" dirty="0">
                <a:solidFill>
                  <a:srgbClr val="C00000"/>
                </a:solidFill>
              </a:rPr>
              <a:t>؟</a:t>
            </a:r>
            <a:endParaRPr sz="2800" dirty="0">
              <a:solidFill>
                <a:srgbClr val="C00000"/>
              </a:solidFill>
            </a:endParaRPr>
          </a:p>
        </p:txBody>
      </p:sp>
      <p:pic>
        <p:nvPicPr>
          <p:cNvPr id="20" name="Graphic 19" descr="Question mark with solid fill">
            <a:extLst>
              <a:ext uri="{FF2B5EF4-FFF2-40B4-BE49-F238E27FC236}">
                <a16:creationId xmlns:a16="http://schemas.microsoft.com/office/drawing/2014/main" id="{640A2301-1F7A-F342-7D6A-B93F8867E1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1295" y="4284288"/>
            <a:ext cx="914400" cy="9144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4563D41F-9BC1-70A3-36DE-224AAFA18B78}"/>
              </a:ext>
            </a:extLst>
          </p:cNvPr>
          <p:cNvGrpSpPr/>
          <p:nvPr/>
        </p:nvGrpSpPr>
        <p:grpSpPr>
          <a:xfrm>
            <a:off x="4368800" y="640080"/>
            <a:ext cx="7426960" cy="640080"/>
            <a:chOff x="548640" y="640080"/>
            <a:chExt cx="6156655" cy="640080"/>
          </a:xfrm>
        </p:grpSpPr>
        <p:sp>
          <p:nvSpPr>
            <p:cNvPr id="22" name="Shape 3">
              <a:extLst>
                <a:ext uri="{FF2B5EF4-FFF2-40B4-BE49-F238E27FC236}">
                  <a16:creationId xmlns:a16="http://schemas.microsoft.com/office/drawing/2014/main" id="{1EC351E6-1EDC-2C37-34AB-41227B0F1E4A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23" name="Text 4">
              <a:extLst>
                <a:ext uri="{FF2B5EF4-FFF2-40B4-BE49-F238E27FC236}">
                  <a16:creationId xmlns:a16="http://schemas.microsoft.com/office/drawing/2014/main" id="{7D084507-F9F6-ADDE-D64B-237765EED8A6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التنظيم الفني للمحفوظات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95253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rtl="1">
              <a:lnSpc>
                <a:spcPct val="125000"/>
              </a:lnSpc>
              <a:defRPr sz="2800" b="1" u="none">
                <a:solidFill>
                  <a:srgbClr val="C7D6F5"/>
                </a:solidFill>
                <a:latin typeface="Arial"/>
                <a:cs typeface="+mj-cs"/>
              </a:defRPr>
            </a:lvl1pPr>
          </a:lstStyle>
          <a:p>
            <a:r>
              <a:rPr lang="ar-EG" dirty="0"/>
              <a:t>المحور 2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8231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rtl="1">
              <a:lnSpc>
                <a:spcPct val="125000"/>
              </a:lnSpc>
              <a:defRPr sz="4000" b="1" u="none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ar-EG" dirty="0"/>
              <a:t>التصنيف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898648" y="3977639"/>
            <a:ext cx="6400800" cy="1920240"/>
          </a:xfrm>
          <a:prstGeom prst="roundRect">
            <a:avLst>
              <a:gd name="adj" fmla="val 6000"/>
            </a:avLst>
          </a:prstGeom>
          <a:solidFill>
            <a:srgbClr val="0A2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4160520"/>
            <a:ext cx="5797296" cy="150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FFFFFF"/>
                </a:solidFill>
                <a:latin typeface="Arial"/>
              </a:rPr>
              <a:t>تعريف التصنيف وأنواعه التطبيقية</a:t>
            </a:r>
          </a:p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FFFFFF"/>
                </a:solidFill>
                <a:latin typeface="Arial"/>
              </a:rPr>
              <a:t>خصائص التصنيف والتوسع في التفريغ</a:t>
            </a:r>
          </a:p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FFFFFF"/>
                </a:solidFill>
                <a:latin typeface="Arial"/>
              </a:rPr>
              <a:t>الأسس الثمانية للتصنيف</a:t>
            </a:r>
            <a:endParaRPr sz="24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365760" y="1371600"/>
            <a:ext cx="10911535" cy="4042229"/>
          </a:xfrm>
          <a:prstGeom prst="roundRect">
            <a:avLst>
              <a:gd name="adj" fmla="val 13487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645920"/>
            <a:ext cx="10500055" cy="3051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lang="ar-EG" sz="2400" dirty="0">
                <a:solidFill>
                  <a:srgbClr val="1A365D"/>
                </a:solidFill>
                <a:latin typeface="Arial"/>
              </a:rPr>
              <a:t>مجموعة وحدات أو أشياء تتشابه في خصائص معينة</a:t>
            </a:r>
          </a:p>
          <a:p>
            <a:pPr algn="r" rtl="1">
              <a:lnSpc>
                <a:spcPct val="135000"/>
              </a:lnSpc>
            </a:pPr>
            <a:r>
              <a:rPr lang="ar-EG" sz="2400" b="1" u="sng" dirty="0">
                <a:solidFill>
                  <a:srgbClr val="0077B6"/>
                </a:solidFill>
                <a:latin typeface="Arial"/>
              </a:rPr>
              <a:t>المعنى العام للتصنيف:</a:t>
            </a:r>
          </a:p>
          <a:p>
            <a:pPr algn="r" rtl="1">
              <a:lnSpc>
                <a:spcPct val="135000"/>
              </a:lnSpc>
            </a:pPr>
            <a:r>
              <a:rPr lang="ar-EG" sz="2400" b="0" u="none" dirty="0">
                <a:solidFill>
                  <a:srgbClr val="1A365D"/>
                </a:solidFill>
                <a:latin typeface="Arial"/>
              </a:rPr>
              <a:t>جمع </a:t>
            </a:r>
            <a:r>
              <a:rPr lang="ar-EG" sz="2400" dirty="0">
                <a:solidFill>
                  <a:srgbClr val="1A365D"/>
                </a:solidFill>
              </a:rPr>
              <a:t>الاشياء والافكار المتشابهة معاً . وفصل الاشياء والافكار غير المتشابهة </a:t>
            </a:r>
          </a:p>
          <a:p>
            <a:pPr algn="r" rtl="1">
              <a:lnSpc>
                <a:spcPct val="135000"/>
              </a:lnSpc>
            </a:pPr>
            <a:r>
              <a:rPr lang="ar-EG" sz="2400" b="1" u="sng" dirty="0">
                <a:solidFill>
                  <a:srgbClr val="0077B6"/>
                </a:solidFill>
                <a:latin typeface="Arial"/>
              </a:rPr>
              <a:t>التصنيف في تنظيم الوثائق:</a:t>
            </a:r>
          </a:p>
          <a:p>
            <a:pPr algn="r" rtl="1">
              <a:lnSpc>
                <a:spcPct val="135000"/>
              </a:lnSpc>
            </a:pPr>
            <a:r>
              <a:rPr lang="ar-EG" sz="2400" dirty="0">
                <a:solidFill>
                  <a:srgbClr val="1A365D"/>
                </a:solidFill>
              </a:rPr>
              <a:t>جمع المواد أو اوعية المعلومات المتشابهة مع بعضها البعض وفصل غير المتشابهة عن بعضه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20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45C829F-CEAD-FED3-2CC5-6D623803BC45}"/>
              </a:ext>
            </a:extLst>
          </p:cNvPr>
          <p:cNvGrpSpPr/>
          <p:nvPr/>
        </p:nvGrpSpPr>
        <p:grpSpPr>
          <a:xfrm>
            <a:off x="5615787" y="731520"/>
            <a:ext cx="6156655" cy="640080"/>
            <a:chOff x="548640" y="640080"/>
            <a:chExt cx="6156655" cy="640080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F41116C3-DCFB-7BF6-3534-797319CBAD4B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C851D53E-EF18-0656-6B35-1E4DD976A186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التصنيف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64AC4-BBBE-2A69-5792-21763996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A33F2CA5-A1DB-3D36-B2E4-E755D92A6A83}"/>
              </a:ext>
            </a:extLst>
          </p:cNvPr>
          <p:cNvSpPr/>
          <p:nvPr/>
        </p:nvSpPr>
        <p:spPr>
          <a:xfrm>
            <a:off x="365760" y="1371600"/>
            <a:ext cx="10911535" cy="4042229"/>
          </a:xfrm>
          <a:prstGeom prst="roundRect">
            <a:avLst>
              <a:gd name="adj" fmla="val 13487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F62F16-52E7-ECF4-FBA5-AC242E313C42}"/>
              </a:ext>
            </a:extLst>
          </p:cNvPr>
          <p:cNvSpPr txBox="1"/>
          <p:nvPr/>
        </p:nvSpPr>
        <p:spPr>
          <a:xfrm>
            <a:off x="365760" y="1645920"/>
            <a:ext cx="105000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6213" indent="0" algn="r" rtl="1">
              <a:buNone/>
            </a:pPr>
            <a:r>
              <a:rPr lang="ar-EG" sz="2400" dirty="0">
                <a:solidFill>
                  <a:srgbClr val="0077B6"/>
                </a:solidFill>
              </a:rPr>
              <a:t>فإذا اعتبرنا أن مبدأ التشابه والاختلاف أساساً للتجميع والفصل وطبقنا ذلك على المواد واوعية المعلومات فيكون التجميع حسب :</a:t>
            </a:r>
          </a:p>
          <a:p>
            <a:pPr marL="633413" indent="-457200" algn="r" rtl="1">
              <a:buFont typeface="+mj-lt"/>
              <a:buAutoNum type="arabicPeriod"/>
            </a:pPr>
            <a:r>
              <a:rPr lang="ar-EG" sz="2400" b="1" dirty="0">
                <a:solidFill>
                  <a:srgbClr val="1A365D"/>
                </a:solidFill>
              </a:rPr>
              <a:t>الشكل :</a:t>
            </a:r>
            <a:r>
              <a:rPr lang="ar-EG" sz="2400" dirty="0">
                <a:solidFill>
                  <a:srgbClr val="1A365D"/>
                </a:solidFill>
              </a:rPr>
              <a:t> الى كتب ودوريات ومواد سمعية وبصرية واقراص مدمجة الى غير ذلك من الاشكال .</a:t>
            </a:r>
          </a:p>
          <a:p>
            <a:pPr marL="633413" indent="-457200" algn="r" rtl="1">
              <a:buFont typeface="+mj-lt"/>
              <a:buAutoNum type="arabicPeriod"/>
            </a:pPr>
            <a:r>
              <a:rPr lang="ar-EG" sz="2400" b="1" dirty="0">
                <a:solidFill>
                  <a:srgbClr val="1A365D"/>
                </a:solidFill>
              </a:rPr>
              <a:t>اللغة :</a:t>
            </a:r>
            <a:r>
              <a:rPr lang="ar-EG" sz="2400" dirty="0">
                <a:solidFill>
                  <a:srgbClr val="1A365D"/>
                </a:solidFill>
              </a:rPr>
              <a:t> </a:t>
            </a:r>
            <a:r>
              <a:rPr lang="ar-EG" sz="2400" dirty="0" err="1">
                <a:solidFill>
                  <a:srgbClr val="1A365D"/>
                </a:solidFill>
              </a:rPr>
              <a:t>اى</a:t>
            </a:r>
            <a:r>
              <a:rPr lang="ar-EG" sz="2400" dirty="0">
                <a:solidFill>
                  <a:srgbClr val="1A365D"/>
                </a:solidFill>
              </a:rPr>
              <a:t> فصل المجموعات العربية مثلاً عن المجموعات الاجنبية ( او حسب كل لغة على حدة ) .</a:t>
            </a:r>
          </a:p>
          <a:p>
            <a:pPr marL="633413" indent="-457200" algn="r" rtl="1">
              <a:buFont typeface="+mj-lt"/>
              <a:buAutoNum type="arabicPeriod"/>
            </a:pPr>
            <a:r>
              <a:rPr lang="ar-EG" sz="2400" b="1" dirty="0">
                <a:solidFill>
                  <a:srgbClr val="1A365D"/>
                </a:solidFill>
              </a:rPr>
              <a:t>جهة الاصدار :</a:t>
            </a:r>
            <a:r>
              <a:rPr lang="ar-EG" sz="2400" dirty="0">
                <a:solidFill>
                  <a:srgbClr val="1A365D"/>
                </a:solidFill>
              </a:rPr>
              <a:t> </a:t>
            </a:r>
            <a:r>
              <a:rPr lang="ar-EG" sz="2400" dirty="0" err="1">
                <a:solidFill>
                  <a:srgbClr val="1A365D"/>
                </a:solidFill>
              </a:rPr>
              <a:t>اى</a:t>
            </a:r>
            <a:r>
              <a:rPr lang="ar-EG" sz="2400" dirty="0">
                <a:solidFill>
                  <a:srgbClr val="1A365D"/>
                </a:solidFill>
              </a:rPr>
              <a:t> تجميع المواد الصادرة عن كل جهة على حدة . </a:t>
            </a:r>
          </a:p>
          <a:p>
            <a:pPr marL="633413" indent="-457200" algn="r" rtl="1">
              <a:buFont typeface="+mj-lt"/>
              <a:buAutoNum type="arabicPeriod"/>
            </a:pPr>
            <a:r>
              <a:rPr lang="ar-EG" sz="2400" b="1" dirty="0">
                <a:solidFill>
                  <a:srgbClr val="1A365D"/>
                </a:solidFill>
              </a:rPr>
              <a:t>الموضوع : </a:t>
            </a:r>
            <a:r>
              <a:rPr lang="ar-EG" sz="2400" dirty="0" err="1">
                <a:solidFill>
                  <a:srgbClr val="1A365D"/>
                </a:solidFill>
              </a:rPr>
              <a:t>أى</a:t>
            </a:r>
            <a:r>
              <a:rPr lang="ar-EG" sz="2400" dirty="0">
                <a:solidFill>
                  <a:srgbClr val="1A365D"/>
                </a:solidFill>
              </a:rPr>
              <a:t> تجميع الاوعية او المواد حسب موضوعها .</a:t>
            </a:r>
            <a:endParaRPr lang="en-US" sz="2400" dirty="0">
              <a:solidFill>
                <a:srgbClr val="1A365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AB6F1-72FE-0A91-B984-D6B29659E031}"/>
              </a:ext>
            </a:extLst>
          </p:cNvPr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5D1BE3-3114-42D7-EA97-D53E7BAE581F}"/>
              </a:ext>
            </a:extLst>
          </p:cNvPr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20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9648863-2689-C604-FC14-922C28B2F1FB}"/>
              </a:ext>
            </a:extLst>
          </p:cNvPr>
          <p:cNvGrpSpPr/>
          <p:nvPr/>
        </p:nvGrpSpPr>
        <p:grpSpPr>
          <a:xfrm>
            <a:off x="5615787" y="731520"/>
            <a:ext cx="6156655" cy="640080"/>
            <a:chOff x="548640" y="640080"/>
            <a:chExt cx="6156655" cy="640080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313CCEF4-4635-E0C8-6F47-3768BB0025DA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6C389B82-A0EB-6E6D-6360-4DE8486EA245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التصنيف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01787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 dirty="0">
                <a:solidFill>
                  <a:srgbClr val="212121"/>
                </a:solidFill>
                <a:latin typeface="Arial"/>
              </a:rPr>
              <a:t>• 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يقوم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الموظف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بالتصنيف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أثناء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ممارسة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عمله</a:t>
            </a:r>
            <a:endParaRPr sz="2000" b="0" u="none" dirty="0">
              <a:solidFill>
                <a:srgbClr val="212121"/>
              </a:solidFill>
              <a:latin typeface="Arial"/>
            </a:endParaRPr>
          </a:p>
          <a:p>
            <a:pPr algn="r" rtl="1">
              <a:lnSpc>
                <a:spcPct val="135000"/>
              </a:lnSpc>
            </a:pPr>
            <a:r>
              <a:rPr sz="2000" b="0" u="none" dirty="0">
                <a:solidFill>
                  <a:srgbClr val="212121"/>
                </a:solidFill>
                <a:latin typeface="Arial"/>
              </a:rPr>
              <a:t>• 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دون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الرجوع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لقواعد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علمية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مسبقة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محددة</a:t>
            </a:r>
            <a:endParaRPr sz="2000" b="0" u="none" dirty="0">
              <a:solidFill>
                <a:srgbClr val="212121"/>
              </a:solidFill>
              <a:latin typeface="Arial"/>
            </a:endParaRPr>
          </a:p>
          <a:p>
            <a:pPr algn="r" rtl="1">
              <a:lnSpc>
                <a:spcPct val="135000"/>
              </a:lnSpc>
            </a:pPr>
            <a:r>
              <a:rPr sz="2000" b="0" u="none" dirty="0">
                <a:solidFill>
                  <a:srgbClr val="212121"/>
                </a:solidFill>
                <a:latin typeface="Arial"/>
              </a:rPr>
              <a:t>• 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يتبع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طبيعة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نظام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العمل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السائد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بالمؤسسة</a:t>
            </a:r>
            <a:endParaRPr sz="2000" b="0" u="none" dirty="0">
              <a:solidFill>
                <a:srgbClr val="212121"/>
              </a:solidFill>
              <a:latin typeface="Arial"/>
            </a:endParaRPr>
          </a:p>
          <a:p>
            <a:pPr algn="r" rtl="1">
              <a:lnSpc>
                <a:spcPct val="135000"/>
              </a:lnSpc>
            </a:pPr>
            <a:r>
              <a:rPr sz="2000" b="0" u="none" dirty="0">
                <a:solidFill>
                  <a:srgbClr val="212121"/>
                </a:solidFill>
                <a:latin typeface="Arial"/>
              </a:rPr>
              <a:t>• 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مثال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: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تصنيف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الوثائق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باسم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المشروع</a:t>
            </a:r>
            <a:endParaRPr sz="2000" b="0" u="none" dirty="0">
              <a:solidFill>
                <a:srgbClr val="212121"/>
              </a:solidFill>
              <a:latin typeface="Arial"/>
            </a:endParaRPr>
          </a:p>
          <a:p>
            <a:pPr algn="r" rtl="1">
              <a:lnSpc>
                <a:spcPct val="135000"/>
              </a:lnSpc>
            </a:pPr>
            <a:r>
              <a:rPr sz="2000" b="0" u="none" dirty="0">
                <a:solidFill>
                  <a:srgbClr val="212121"/>
                </a:solidFill>
                <a:latin typeface="Arial"/>
              </a:rPr>
              <a:t>• 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أو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تصنيفها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باسم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العميل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أو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الجهة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المتعاملة</a:t>
            </a:r>
            <a:endParaRPr sz="2000" b="0" u="none" dirty="0">
              <a:solidFill>
                <a:srgbClr val="212121"/>
              </a:solidFill>
              <a:latin typeface="Arial"/>
            </a:endParaRPr>
          </a:p>
          <a:p>
            <a:pPr algn="r" rtl="1">
              <a:lnSpc>
                <a:spcPct val="135000"/>
              </a:lnSpc>
            </a:pPr>
            <a:r>
              <a:rPr sz="2000" b="0" u="none" dirty="0">
                <a:solidFill>
                  <a:srgbClr val="212121"/>
                </a:solidFill>
                <a:latin typeface="Arial"/>
              </a:rPr>
              <a:t>• 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يُراعى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تجانس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موضوع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الوثائق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داخل</a:t>
            </a:r>
            <a:r>
              <a:rPr sz="2000" b="0" u="none" dirty="0">
                <a:solidFill>
                  <a:srgbClr val="212121"/>
                </a:solidFill>
                <a:latin typeface="Arial"/>
              </a:rPr>
              <a:t> </a:t>
            </a:r>
            <a:r>
              <a:rPr sz="2000" b="0" u="none" dirty="0" err="1">
                <a:solidFill>
                  <a:srgbClr val="212121"/>
                </a:solidFill>
                <a:latin typeface="Arial"/>
              </a:rPr>
              <a:t>الملف</a:t>
            </a:r>
            <a:endParaRPr sz="2000" b="0" u="none" dirty="0">
              <a:solidFill>
                <a:srgbClr val="212121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1E37254-E14C-43F0-AB97-5668FBA17F9D}"/>
              </a:ext>
            </a:extLst>
          </p:cNvPr>
          <p:cNvGrpSpPr/>
          <p:nvPr/>
        </p:nvGrpSpPr>
        <p:grpSpPr>
          <a:xfrm>
            <a:off x="5639105" y="54864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930BB2FA-6726-CFD3-B5DB-24F66CEA6B08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E12E428F-6313-0CDF-0E74-3B919358813A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التصنيف عملياً تلقائياً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قواعد يجب مراعاتها عند التصنيف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تحديد موضوع أو مجال كل ملف بدقة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يتماشى الملف مع أنشطة الإدارة الفعلية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إعادة تصنيف الملف العام عند تضخم محتواه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فتح ملفات فرعية عند تنوع الموضوعات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تجنّب الملفات العامة كثيرة المواضيع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الاعتماد على خبرة المصنف ودرايته بالعمل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D77674-0B30-6114-2A6B-A198B57CF1E0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657B26F9-172F-A5C5-1254-9C0AD4973709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BBD9D57E-919A-DC89-C491-90C71ED2FEC3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قواعد يجب مراعاتها عند التصنيف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التصنيف</a:t>
            </a:r>
            <a:r>
              <a:rPr dirty="0"/>
              <a:t> </a:t>
            </a:r>
            <a:r>
              <a:rPr dirty="0" err="1"/>
              <a:t>التطبيقي</a:t>
            </a:r>
            <a:r>
              <a:rPr dirty="0"/>
              <a:t>: </a:t>
            </a:r>
            <a:r>
              <a:rPr dirty="0" err="1"/>
              <a:t>نوعان</a:t>
            </a:r>
            <a:r>
              <a:rPr dirty="0"/>
              <a:t> </a:t>
            </a:r>
            <a:r>
              <a:rPr dirty="0" err="1"/>
              <a:t>أساسيان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172200" y="141732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465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1" u="sng">
                <a:solidFill>
                  <a:srgbClr val="002060"/>
                </a:solidFill>
                <a:latin typeface="Arial"/>
              </a:rPr>
              <a:t>النوع الأول: التصنيف العلمي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خطة تصنيف معدّة بدقة وجاهزة للاستخدام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وضعها علماء متخصصون في المكتبات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مثل خطة تصنيف ديوي العشرية الشهيرة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المصنف يستخدمها دون دور في بنائها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1" u="sng">
                <a:solidFill>
                  <a:srgbClr val="002060"/>
                </a:solidFill>
                <a:latin typeface="Arial"/>
              </a:rPr>
              <a:t>النوع الثاني: التصنيف العملي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يُعده المصنف نفسه حسب حاجة العمل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وفقاً لظروف واحتياجات كل إدارة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يختلف نظام العمل من مؤسسة لأخرى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التطبيقي = دمج العلمي مع العملي معاً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23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F9B1D4-6929-6DF3-A008-FA66FD96A95F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CAFF5FF0-14EA-4811-FC19-5B354E05A16A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C9646871-5058-FC0F-A7A7-E33E2204C5FC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التصنيف </a:t>
              </a:r>
              <a:r>
                <a:rPr lang="ar-EG" sz="4200" b="1" dirty="0" err="1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التطبيقى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اختيار الأساس السليم للتصنيف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يعني ربط مضمون الوثيقة بوثائق مشابهة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مثال: شراء آلات لمشروع من إحدى الشركات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البديل الأول: التصنيف باسم الآلات المشتراة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البديل الثاني: التصنيف باسم المشروع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البديل الثالث: التصنيف باسم الشركة الموردة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يختار المصنف الأساس وفق احتياج العمل الفعلي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24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C79C7C0-F734-0373-5BC2-09152E2EFC13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A2232EF1-7039-B3F6-2CDC-4D9B0C824099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1D44AC19-E6C9-AD54-8684-A84FFFBCCC33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الأساس السليم للتصنيف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فتح الملفات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يُبنى فتح الملفات على تحليل أنشطة القسم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كل نشاط يقابله ملف واحد أو أكثر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مثال: ملف أوامر التوريد، ملف محاضر الفحص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الملفات كثيرة المحتوى تحتاج لملفات فرعية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يُراعى ظروف ومتطلبات العمل عند الفتح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25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C6FF209-A4D0-702A-DEAB-C89D3ACA9067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46B93BFD-BAEA-99F0-E501-172FCAB14B64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D27F1A4F-ECDF-B866-2B43-40585E9E91DB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فتح الملفات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خصائص التصنيف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التدرج: تسلسل من العام إلى الخاص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التفرد: موقع واحد محدد لكل موضوع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المنطقية: تسلسل منطقي بين الأقسام والتفريعات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الشمولية: تغطية جميع وثائق المنظمة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القابلية للتمدد: استيعاب موضوعات جديدة مستقبلاً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26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B88CEF7-A85A-44D8-411D-4BDF70E797B1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E9992398-A78B-F890-6084-08DF611DC244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5282D01A-7947-0B79-E3A3-277556EBEF38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خصائص التصنيف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التوسع في التفريع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يحكم التوسع في التفريع اعتباران رئيسيان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الأول: طبيعة التصنيف وتدرجه من العام للخاص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كل تقسيم عام قد يتفرع منه تقسيمات جديدة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الثاني: حجم الوثائق الموجودة داخل الملف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زيادة الحجم وتنوع المواضيع يستدعي التفريع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27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EAF1CD-A415-D994-4A26-7A4AF31705E4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662742BA-4C77-F187-D464-123F0964F0EC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4A83DEC4-E268-D9E1-1B28-F1845F3B9EC7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التوسع في التفريغ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أسس</a:t>
            </a:r>
            <a:r>
              <a:rPr dirty="0"/>
              <a:t> </a:t>
            </a:r>
            <a:r>
              <a:rPr dirty="0" err="1"/>
              <a:t>التصنيف</a:t>
            </a:r>
            <a:r>
              <a:rPr dirty="0"/>
              <a:t> (1): </a:t>
            </a:r>
            <a:r>
              <a:rPr dirty="0" err="1"/>
              <a:t>الموضوع</a:t>
            </a:r>
            <a:r>
              <a:rPr dirty="0"/>
              <a:t> - </a:t>
            </a:r>
            <a:r>
              <a:rPr dirty="0" err="1"/>
              <a:t>النوع</a:t>
            </a:r>
            <a:r>
              <a:rPr dirty="0"/>
              <a:t> - </a:t>
            </a:r>
            <a:r>
              <a:rPr dirty="0" err="1"/>
              <a:t>الاسم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الموضوع: مفهوم متفق عليه كالتدريب والصحة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أهم الأسس لأن كل وثيقة لها موضوع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النوع: صفات مشتركة كالمشتريات والوظائف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الاسم: عبارة تخص فرداً أو جهة بذاتها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مثاله: ملف خاص باسم المورد أو الموظف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28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A6FC748-403D-6EA9-F141-53EEE83CE624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646B8914-CF7E-370D-BFE7-CA7FC8BE385E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C9EA2505-C4A0-6C9D-1111-8E27FA72A5D4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أسس التصنيف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أسس</a:t>
            </a:r>
            <a:r>
              <a:rPr dirty="0"/>
              <a:t> </a:t>
            </a:r>
            <a:r>
              <a:rPr dirty="0" err="1"/>
              <a:t>التصنيف</a:t>
            </a:r>
            <a:r>
              <a:rPr dirty="0"/>
              <a:t> (2): </a:t>
            </a:r>
            <a:r>
              <a:rPr dirty="0" err="1"/>
              <a:t>المكان</a:t>
            </a:r>
            <a:r>
              <a:rPr dirty="0"/>
              <a:t> </a:t>
            </a:r>
            <a:r>
              <a:rPr dirty="0" err="1"/>
              <a:t>الجغرافي</a:t>
            </a:r>
            <a:r>
              <a:rPr dirty="0"/>
              <a:t> - </a:t>
            </a:r>
            <a:r>
              <a:rPr dirty="0" err="1"/>
              <a:t>التسلسل</a:t>
            </a:r>
            <a:r>
              <a:rPr dirty="0"/>
              <a:t> </a:t>
            </a:r>
            <a:r>
              <a:rPr dirty="0" err="1"/>
              <a:t>التاريخي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المكان الجغرافي: قارة أو دولة أو مدينة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مثال: التعليم في بريطانيا وفرنسا وإيطاليا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التسلسل التاريخي: بالأيام والشهور والسنوات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مثال: التقارير الدورية ومحاضر الاجتماعات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عيبه: يتطلب بحثاً مستمراً بعلم مسبق بالتاريخ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29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7B79398-1DE2-0C0D-5DD1-9264742741C4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CF786346-00E2-B562-C14E-275202F417B2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FF18D047-6656-7FC8-08C7-0AA3953D96BC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أسس التصنيف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أسس</a:t>
            </a:r>
            <a:r>
              <a:rPr dirty="0"/>
              <a:t> </a:t>
            </a:r>
            <a:r>
              <a:rPr dirty="0" err="1"/>
              <a:t>التصنيف</a:t>
            </a:r>
            <a:r>
              <a:rPr dirty="0"/>
              <a:t> (3): </a:t>
            </a:r>
            <a:r>
              <a:rPr dirty="0" err="1"/>
              <a:t>فترة</a:t>
            </a:r>
            <a:r>
              <a:rPr dirty="0"/>
              <a:t> </a:t>
            </a:r>
            <a:r>
              <a:rPr dirty="0" err="1"/>
              <a:t>زمنية</a:t>
            </a:r>
            <a:r>
              <a:rPr dirty="0"/>
              <a:t> - </a:t>
            </a:r>
            <a:r>
              <a:rPr dirty="0" err="1"/>
              <a:t>الشكل</a:t>
            </a:r>
            <a:r>
              <a:rPr dirty="0"/>
              <a:t> </a:t>
            </a:r>
            <a:r>
              <a:rPr dirty="0" err="1"/>
              <a:t>الخارجي</a:t>
            </a:r>
            <a:r>
              <a:rPr dirty="0"/>
              <a:t> - </a:t>
            </a:r>
            <a:r>
              <a:rPr dirty="0" err="1"/>
              <a:t>شكل</a:t>
            </a:r>
            <a:r>
              <a:rPr dirty="0"/>
              <a:t> </a:t>
            </a:r>
            <a:r>
              <a:rPr dirty="0" err="1"/>
              <a:t>الموضوع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فترة زمنية محددة: كالسنة المالية للموازنات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الشكل الخارجي: كتب وخرائط وقصاصات صحفية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شكل موضوع المادة: تقارير وقرارات وفواتير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كل أساس يُستخدم وفق طبيعة الوثائق والعمل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يمكن الجمع بين أكثر من أساس عند الحاجة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30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51E65BA-E45F-A8F0-5840-C883BDE4738C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1BC84169-C1D5-CC31-D658-965C3DFA0CB8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5CA4F7C1-79F7-F845-2194-74CB55ADF8CD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أسس التصنيف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6: </a:t>
            </a:r>
            <a:r>
              <a:rPr dirty="0" err="1"/>
              <a:t>استنباط</a:t>
            </a:r>
            <a:r>
              <a:rPr dirty="0"/>
              <a:t> </a:t>
            </a:r>
            <a:r>
              <a:rPr dirty="0" err="1"/>
              <a:t>تعريف</a:t>
            </a:r>
            <a:r>
              <a:rPr dirty="0"/>
              <a:t> </a:t>
            </a:r>
            <a:r>
              <a:rPr dirty="0" err="1"/>
              <a:t>التصنيف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عصف ذهني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الوصول لمفهوم مشترك وواضح لعملية التصنيف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طرح سؤال: كيف تصنّفون أغراضكم الشخصية؟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ربط الإجابات بمفهوم التصنيف في العمل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تدوين الأفكار الرئيسية على السبورة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صياغة تعريف تطبيقي بمشاركة المتدربين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7: </a:t>
            </a:r>
            <a:r>
              <a:rPr dirty="0" err="1"/>
              <a:t>التصنيف</a:t>
            </a:r>
            <a:r>
              <a:rPr dirty="0"/>
              <a:t> </a:t>
            </a:r>
            <a:r>
              <a:rPr dirty="0" err="1"/>
              <a:t>العلمي</a:t>
            </a:r>
            <a:r>
              <a:rPr dirty="0"/>
              <a:t> </a:t>
            </a:r>
            <a:r>
              <a:rPr dirty="0" err="1"/>
              <a:t>والعملي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لعب أدوار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التمييز عملياً بين التصنيف العلمي والتصنيف العملي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تقسيم المتدربين لفريقين متقابلين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فريق يمثل مصنّفاً يطبق خطة علمية جاهزة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فريق يمثل مصنّفاً يبني تصنيفاً عملياً خاصاً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مناقشة الفروق ونقاط القوة لكل أسلوب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8: </a:t>
            </a:r>
            <a:r>
              <a:rPr dirty="0" err="1"/>
              <a:t>اختيار</a:t>
            </a:r>
            <a:r>
              <a:rPr dirty="0"/>
              <a:t> </a:t>
            </a:r>
            <a:r>
              <a:rPr dirty="0" err="1"/>
              <a:t>الأساس</a:t>
            </a:r>
            <a:r>
              <a:rPr dirty="0"/>
              <a:t> </a:t>
            </a:r>
            <a:r>
              <a:rPr dirty="0" err="1"/>
              <a:t>السليم</a:t>
            </a:r>
            <a:r>
              <a:rPr dirty="0"/>
              <a:t> </a:t>
            </a:r>
            <a:r>
              <a:rPr dirty="0" err="1"/>
              <a:t>للتصنيف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دراسة حالة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تطبيق مهارة اختيار الأساس المناسب لتصنيف وثيقة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عرض حالة شراء آلات لمشروع من شركة معينة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مناقشة البدائل الثلاثة المتاحة للتصنيف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اختيار كل مجموعة للبديل الأنسب وتبريره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عرض النتائج ومقارنتها مع الحل النموذجي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9: </a:t>
            </a:r>
            <a:r>
              <a:rPr dirty="0" err="1"/>
              <a:t>تطبيق</a:t>
            </a:r>
            <a:r>
              <a:rPr dirty="0"/>
              <a:t> </a:t>
            </a:r>
            <a:r>
              <a:rPr dirty="0" err="1"/>
              <a:t>فتح</a:t>
            </a:r>
            <a:r>
              <a:rPr dirty="0"/>
              <a:t> </a:t>
            </a:r>
            <a:r>
              <a:rPr dirty="0" err="1"/>
              <a:t>الملفات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ورشة عمل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تدريب المتدرب على تحديد الملفات المطلوب فتحها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عرض قائمة بأنشطة قسم المشتريات بالمخازن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تحديد كل مجموعة للملفات الواجب فتحها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تحديد الملفات الفرعية اللازمة إن وجدت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مناقشة النتائج ومقارنتها بالنموذج المرجعي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نشاط تدريبي رقم 10: خصائص التصنيف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تمرين مطابقة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ترسيخ فهم خصائص التصنيف الخمس ومدلولاتها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توزيع بطاقات بأسماء الخصائص الخمس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توزيع بطاقات أخرى بأمثلة توضيحية لكل خاصية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مطابقة كل متدرب بين الخاصية ومثالها الصحيح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مراجعة الإجابات ومناقشة أي التباس حدث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11: </a:t>
            </a:r>
            <a:r>
              <a:rPr dirty="0" err="1"/>
              <a:t>تطبيق</a:t>
            </a:r>
            <a:r>
              <a:rPr dirty="0"/>
              <a:t> </a:t>
            </a:r>
            <a:r>
              <a:rPr dirty="0" err="1"/>
              <a:t>أسس</a:t>
            </a:r>
            <a:r>
              <a:rPr dirty="0"/>
              <a:t> </a:t>
            </a:r>
            <a:r>
              <a:rPr dirty="0" err="1"/>
              <a:t>التصنيف</a:t>
            </a:r>
            <a:r>
              <a:rPr dirty="0"/>
              <a:t> </a:t>
            </a:r>
            <a:r>
              <a:rPr dirty="0" err="1"/>
              <a:t>الثمانية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ورشة عمل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تدريب المتدربين على تطبيق أسس التصنيف على حالات عملية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توزيع مجموعة وثائق متنوعة على كل فريق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تحديد الأساس الأنسب لتصنيف كل وثيقة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تبرير الاختيار كتابياً بإيجاز شديد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عرض كل فريق لاختياراته ومناقشتها جماعياً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rtl="1">
              <a:lnSpc>
                <a:spcPct val="125000"/>
              </a:lnSpc>
              <a:defRPr sz="2800" b="1" u="none">
                <a:solidFill>
                  <a:srgbClr val="C7D6F5"/>
                </a:solidFill>
                <a:latin typeface="Arial"/>
                <a:cs typeface="+mj-cs"/>
              </a:defRPr>
            </a:lvl1pPr>
          </a:lstStyle>
          <a:p>
            <a:r>
              <a:rPr lang="ar-EG" dirty="0"/>
              <a:t>المحور 3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rtl="1">
              <a:lnSpc>
                <a:spcPct val="125000"/>
              </a:lnSpc>
              <a:defRPr sz="4000" b="1" u="none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ar-EG" dirty="0"/>
              <a:t>الترقيم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898648" y="3977639"/>
            <a:ext cx="6400800" cy="1920240"/>
          </a:xfrm>
          <a:prstGeom prst="roundRect">
            <a:avLst>
              <a:gd name="adj" fmla="val 6000"/>
            </a:avLst>
          </a:prstGeom>
          <a:solidFill>
            <a:srgbClr val="0A2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4160520"/>
            <a:ext cx="5797296" cy="150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FFFFFF"/>
                </a:solidFill>
                <a:latin typeface="Arial"/>
              </a:rPr>
              <a:t>المقصود بالترقيم وأهميته</a:t>
            </a:r>
          </a:p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FFFFFF"/>
                </a:solidFill>
                <a:latin typeface="Arial"/>
              </a:rPr>
              <a:t>أشكال الترقيم الأربعة</a:t>
            </a:r>
          </a:p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FFFFFF"/>
                </a:solidFill>
                <a:latin typeface="Arial"/>
              </a:rPr>
              <a:t>خطة تصنيف </a:t>
            </a:r>
            <a:r>
              <a:rPr lang="ar-EG" sz="2400" dirty="0" err="1">
                <a:solidFill>
                  <a:srgbClr val="FFFFFF"/>
                </a:solidFill>
                <a:latin typeface="Arial"/>
              </a:rPr>
              <a:t>ديوى</a:t>
            </a:r>
            <a:r>
              <a:rPr lang="ar-EG" sz="2400" dirty="0">
                <a:solidFill>
                  <a:srgbClr val="FFFFFF"/>
                </a:solidFill>
                <a:latin typeface="Arial"/>
              </a:rPr>
              <a:t> العشرية</a:t>
            </a:r>
            <a:endParaRPr sz="24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المقصود بالترقيم وأهميته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الترقيم: رمز يميز كل مادة عن غيرها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يربط التقسيمات الفرعية بالرئيسية تحتها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يعطي خطة التصنيف والفهرس شكلاً ثابتاً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يحدد مكان حفظ كل مادة بدقة ووضوح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يسهّل ترتيب المواد المتشابهة معاً منطقياً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ينتج عن جمع المواد المتشابهة وفق خطة التصنيف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38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295B3D7-9AEE-F804-E41B-BFC4F6EAE50B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2813BB13-DE23-D7FB-8405-EECCECB3B373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EACB4223-506E-0D21-14F0-63E0C11FECE5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الترقيم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أشكال الترقيم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الترقيم بإستخدام الأعداد المسلسلة البسيطة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الترقيم بإستخدام الأعداد المسلسلة المركبة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الترقيم بإستخدام الحروف الهجائية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الترقيم طبقاً لخطة تصنيف ديوي العشرية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39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C344B27-2EF9-E1DB-93AD-CF344B992232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BF7571FF-6A9C-8921-28B5-FB4B2328161D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D5409E72-EC85-CEA4-6F1C-CF206609F276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cs typeface="Cairo Black" panose="00000A00000000000000" pitchFamily="2" charset="-78"/>
                </a:rPr>
                <a:t>أشكال الترقيم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الترقيم بالأعداد المسلسلة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أبسط طرق الترقيم على الإطلاق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إعطاء الملفات أو المواد أرقاماً مسلسلة بترتيبها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يُستخدم حالياً في بعض الإدارات الحكومية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عيبه: يصرف النظر عن عملية التصنيف تماماً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يصلح فقط لحصر أماكن حفظ المواد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40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D7D4E96-4D05-7EE4-5AAF-60E59F2FCF58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E90E12C5-B986-AD53-E532-8673A3E6AAA9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DD6D7534-A441-5FCE-CF21-67D1E81DAF88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الترقيم بالأعداد </a:t>
              </a:r>
              <a:r>
                <a:rPr lang="ar-EG" sz="4200" b="1" dirty="0" err="1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المسلسة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الترقيم</a:t>
            </a:r>
            <a:r>
              <a:rPr dirty="0"/>
              <a:t> </a:t>
            </a:r>
            <a:r>
              <a:rPr dirty="0" err="1"/>
              <a:t>بالأعداد</a:t>
            </a:r>
            <a:r>
              <a:rPr dirty="0"/>
              <a:t> </a:t>
            </a:r>
            <a:r>
              <a:rPr dirty="0" err="1"/>
              <a:t>المسلسلة</a:t>
            </a:r>
            <a:r>
              <a:rPr dirty="0"/>
              <a:t> </a:t>
            </a:r>
            <a:r>
              <a:rPr dirty="0" err="1"/>
              <a:t>المركبة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إعطاء كل قسم رئيسي بخطة التصنيف رقماً مسلسلاً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كل قسم فرعي يرتبط برقم قسمه الرئيسي الأعلى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مثال: 1 الاقتصاد والمال، 1/1 السياسة الاقتصادية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مثال فرعي: 1/1/1 الاشتراكية تحت السياسة الاقتصادية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يتيح إضافة أو حذف الموضوعات بمرونة عالية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كل رقم فرعي جديد له دلالة واضحة ومحددة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41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0912359-1381-1443-E26F-D63000ACF192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6AA949C1-2337-D8C2-A5BC-60F5B6D3665A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E272EBFE-06B2-6E3E-FC2B-6EDD543E1390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الترقيم بالأعداد المسلسلة المركبة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الترقيم بإستخدام الحروف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ترقيم التقسيمات الرئيسية والفرعية بالحروف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الحروف لها نفس القيمة العددية الترتيبية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مثال: أ الاقتصاد والمال، أ/أ السياسة الاقتصادية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الحروف تُستخدم أحياناً كرموز مختصرة للإدارات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عيب: عدد الحروف الهجائية محدود بـ 28 حرفاً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عيب: تشابه بعض الحروف يسبب التباساً عند الكتابة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42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E2D9799-EFC0-26EE-FFD4-18C66EC1A8F6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5E6ACD3A-E4CB-A495-9970-057BA2626F2F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C91DC0E6-3CBE-1406-5133-C588312113F9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الترقيم باستخدام الحروف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الترقيم</a:t>
            </a:r>
            <a:r>
              <a:rPr dirty="0"/>
              <a:t> </a:t>
            </a:r>
            <a:r>
              <a:rPr dirty="0" err="1"/>
              <a:t>طبقاً</a:t>
            </a:r>
            <a:r>
              <a:rPr dirty="0"/>
              <a:t> </a:t>
            </a:r>
            <a:r>
              <a:rPr dirty="0" err="1"/>
              <a:t>لخطة</a:t>
            </a:r>
            <a:r>
              <a:rPr dirty="0"/>
              <a:t> </a:t>
            </a:r>
            <a:r>
              <a:rPr dirty="0" err="1"/>
              <a:t>تصنيف</a:t>
            </a:r>
            <a:r>
              <a:rPr dirty="0"/>
              <a:t> </a:t>
            </a:r>
            <a:r>
              <a:rPr dirty="0" err="1"/>
              <a:t>ديوي</a:t>
            </a:r>
            <a:r>
              <a:rPr dirty="0"/>
              <a:t> </a:t>
            </a:r>
            <a:r>
              <a:rPr dirty="0" err="1"/>
              <a:t>العشرية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من أشهر خطط التصنيف وأكثرها انتشاراً عالمياً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ابتكرها ملفل ديوي بالولايات المتحدة الأمريكية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ترتّب المعرفة الإنسانية في عشرة أقسام رئيسية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كل قسم رئيسي يضم عشرة أقسام فرعية بدوره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تتسم الخطة بالمرونة والقابلية للتوسع المستمر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الحد الأدنى لرقم التصنيف بها ثلاثة أعداد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43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903767-0FB2-0EAC-B5B0-46A43761432A}"/>
              </a:ext>
            </a:extLst>
          </p:cNvPr>
          <p:cNvGrpSpPr/>
          <p:nvPr/>
        </p:nvGrpSpPr>
        <p:grpSpPr>
          <a:xfrm>
            <a:off x="457200" y="379476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287248C8-6014-EAC8-663C-3A5957745E7A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17F48CFF-3D59-58BB-EC36-0DE0F4F36083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خطة </a:t>
              </a:r>
              <a:r>
                <a:rPr lang="ar-EG" sz="4200" b="1" dirty="0" err="1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ديوى</a:t>
              </a: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 العشري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الأقسام</a:t>
            </a:r>
            <a:r>
              <a:rPr dirty="0"/>
              <a:t> </a:t>
            </a:r>
            <a:r>
              <a:rPr dirty="0" err="1"/>
              <a:t>العشرة</a:t>
            </a:r>
            <a:r>
              <a:rPr dirty="0"/>
              <a:t> </a:t>
            </a:r>
            <a:r>
              <a:rPr dirty="0" err="1"/>
              <a:t>الرئيسية</a:t>
            </a:r>
            <a:r>
              <a:rPr dirty="0"/>
              <a:t> </a:t>
            </a:r>
            <a:r>
              <a:rPr dirty="0" err="1"/>
              <a:t>لخطة</a:t>
            </a:r>
            <a:r>
              <a:rPr dirty="0"/>
              <a:t> </a:t>
            </a:r>
            <a:r>
              <a:rPr dirty="0" err="1"/>
              <a:t>ديوي</a:t>
            </a:r>
            <a:r>
              <a:rPr dirty="0"/>
              <a:t> </a:t>
            </a:r>
            <a:r>
              <a:rPr dirty="0" err="1"/>
              <a:t>العشرية</a:t>
            </a:r>
            <a:endParaRPr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17320"/>
          <a:ext cx="1036289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62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261">
                <a:tc>
                  <a:txBody>
                    <a:bodyPr/>
                    <a:lstStyle/>
                    <a:p>
                      <a:pPr algn="ctr" rtl="1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الترقيم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القسم الرئيسي</a:t>
                      </a:r>
                    </a:p>
                  </a:txBody>
                  <a:tcPr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000 - 099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العموميات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100 - 199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الفلسفة وعلم النفس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200 - 299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الدين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300 - 399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العلوم الاجتماعية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400 - 499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اللغة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500 - 599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العلوم الطبيعية والرياضيات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600 - 699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التكنولوجيا (العلوم التطبيقية)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700 - 799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الفنون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2261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800 - 899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الأدب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270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900 - 999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sz="1300" b="0">
                          <a:solidFill>
                            <a:srgbClr val="212121"/>
                          </a:solidFill>
                          <a:latin typeface="Arial"/>
                        </a:rPr>
                        <a:t>الجغرافيا والتاريخ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44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BAC632-27F8-8A59-1A7D-4C16EBF8D3C1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7" name="Shape 3">
              <a:extLst>
                <a:ext uri="{FF2B5EF4-FFF2-40B4-BE49-F238E27FC236}">
                  <a16:creationId xmlns:a16="http://schemas.microsoft.com/office/drawing/2014/main" id="{4548FBCB-BFBB-4B5E-EE3E-8755577AB7E2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C214E979-29F3-6A94-9B1E-70A914F78C5E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خطة </a:t>
              </a:r>
              <a:r>
                <a:rPr lang="ar-EG" sz="4200" b="1" dirty="0" err="1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ديوى</a:t>
              </a: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 </a:t>
              </a:r>
              <a:r>
                <a:rPr lang="ar-EG" sz="4200" b="1" dirty="0" err="1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العشرى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مزايا</a:t>
            </a:r>
            <a:r>
              <a:rPr dirty="0"/>
              <a:t> </a:t>
            </a:r>
            <a:r>
              <a:rPr dirty="0" err="1"/>
              <a:t>وعيوب</a:t>
            </a:r>
            <a:r>
              <a:rPr dirty="0"/>
              <a:t> </a:t>
            </a:r>
            <a:r>
              <a:rPr dirty="0" err="1"/>
              <a:t>الترقيم</a:t>
            </a:r>
            <a:r>
              <a:rPr dirty="0"/>
              <a:t> </a:t>
            </a:r>
            <a:r>
              <a:rPr dirty="0" err="1"/>
              <a:t>العشري</a:t>
            </a:r>
            <a:r>
              <a:rPr dirty="0"/>
              <a:t> </a:t>
            </a:r>
            <a:r>
              <a:rPr dirty="0" err="1"/>
              <a:t>لديوي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الميزة: رقم قصير نسبياً مقارنة بالترقيم المركب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مثال: الرقم 325 يقابله 5/2/3 بالترقيم المركب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العيب: التقسيم محدود بعشرة فروع لكل مرحلة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زيادة التقسيم عن عشرة وحدات يسبب ارتباكاً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قد يضطر المصنف لتعديل الخطة لموضوع جديد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45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0819DD9-AAED-0598-FD30-1E26DE14F1BB}"/>
              </a:ext>
            </a:extLst>
          </p:cNvPr>
          <p:cNvGrpSpPr/>
          <p:nvPr/>
        </p:nvGrpSpPr>
        <p:grpSpPr>
          <a:xfrm>
            <a:off x="442381" y="2004423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CC1F4EAA-F53D-688D-27A7-E3CBAFFBF910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F5BB1BE5-8423-C596-D8B0-C9F11D88830A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مزايا وعيوب الترقيم </a:t>
              </a:r>
              <a:r>
                <a:rPr lang="ar-EG" sz="4200" b="1" dirty="0" err="1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العشرى</a:t>
              </a: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 </a:t>
              </a:r>
              <a:r>
                <a:rPr lang="ar-EG" sz="4200" b="1" dirty="0" err="1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لديوى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12: </a:t>
            </a:r>
            <a:r>
              <a:rPr dirty="0" err="1"/>
              <a:t>المقصود</a:t>
            </a:r>
            <a:r>
              <a:rPr dirty="0"/>
              <a:t> </a:t>
            </a:r>
            <a:r>
              <a:rPr dirty="0" err="1"/>
              <a:t>بالترقيم</a:t>
            </a:r>
            <a:r>
              <a:rPr dirty="0"/>
              <a:t> </a:t>
            </a:r>
            <a:r>
              <a:rPr dirty="0" err="1"/>
              <a:t>وأهميته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عصف ذهني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استنتاج أهمية الترقيم من واقع خبرة المتدربين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طرح سؤال: كيف تحددون مكان ملف بسرعة؟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ربط الإجابات بمفهوم الترقيم وأهميته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تدوين أهم فوائد الترقيم على السبورة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تلخيص المدرب لأهمية الترقيم في العمل اليومي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13: </a:t>
            </a:r>
            <a:r>
              <a:rPr dirty="0" err="1"/>
              <a:t>بناء</a:t>
            </a:r>
            <a:r>
              <a:rPr dirty="0"/>
              <a:t> </a:t>
            </a:r>
            <a:r>
              <a:rPr dirty="0" err="1"/>
              <a:t>نظام</a:t>
            </a:r>
            <a:r>
              <a:rPr dirty="0"/>
              <a:t> </a:t>
            </a:r>
            <a:r>
              <a:rPr dirty="0" err="1"/>
              <a:t>ترقيم</a:t>
            </a:r>
            <a:r>
              <a:rPr dirty="0"/>
              <a:t> </a:t>
            </a:r>
            <a:r>
              <a:rPr dirty="0" err="1"/>
              <a:t>مركب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تمرين تطبيقي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تدريب المتدربين على بناء نظام ترقيم مسلسل مركب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توزيع قائمة بأقسام وأنشطة إدارة افتراضية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الطلب من كل فريق بناء ترقيم مركب لها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ربط كل قسم فرعي برقم قسمه الرئيسي بدقة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عرض النماذج ومناقشة صحة الترقيم الموضوع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نشاط تدريبي رقم 14: الترقيم بالحروف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تمرين فردي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تطبيق أسلوب الترقيم بالحروف على حالة عملية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توزيع قائمة أقسام تخص إدارة الموارد البشرية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ترقيم كل قسم وقسمه الفرعي بالحروف الهجائية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تحديد أي عيوب واجهت المتدرب أثناء الترقيم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مناقشة النتائج ومقارنتها بنموذج المدرب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15: </a:t>
            </a:r>
            <a:r>
              <a:rPr dirty="0" err="1"/>
              <a:t>تطبيق</a:t>
            </a:r>
            <a:r>
              <a:rPr dirty="0"/>
              <a:t> </a:t>
            </a:r>
            <a:r>
              <a:rPr dirty="0" err="1"/>
              <a:t>خطة</a:t>
            </a:r>
            <a:r>
              <a:rPr dirty="0"/>
              <a:t> </a:t>
            </a:r>
            <a:r>
              <a:rPr dirty="0" err="1"/>
              <a:t>تصنيف</a:t>
            </a:r>
            <a:r>
              <a:rPr dirty="0"/>
              <a:t> </a:t>
            </a:r>
            <a:r>
              <a:rPr dirty="0" err="1"/>
              <a:t>ديوي</a:t>
            </a:r>
            <a:r>
              <a:rPr dirty="0"/>
              <a:t> </a:t>
            </a:r>
            <a:r>
              <a:rPr dirty="0" err="1"/>
              <a:t>العشرية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محاكاة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تدريب المتدربين على تحديد رقم ديوي المناسب لموضوعات مختلفة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توزيع بطاقات جدول الأقسام العشرة الرئيسية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توزيع بطاقات بموضوعات متنوعة على المتدربين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مطابقة كل موضوع بالقسم الرئيسي المناسب له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مناقشة النتائج وتوضيح أي إجابات غير دقيقة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92024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rtl="1">
              <a:lnSpc>
                <a:spcPct val="125000"/>
              </a:lnSpc>
              <a:defRPr sz="2800" b="1" u="none">
                <a:solidFill>
                  <a:srgbClr val="C7D6F5"/>
                </a:solidFill>
                <a:latin typeface="Arial"/>
                <a:cs typeface="+mj-cs"/>
              </a:defRPr>
            </a:lvl1pPr>
          </a:lstStyle>
          <a:p>
            <a:r>
              <a:rPr lang="ar-EG" dirty="0"/>
              <a:t>المحور4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 rtl="1">
              <a:lnSpc>
                <a:spcPct val="125000"/>
              </a:lnSpc>
              <a:defRPr sz="4000" b="1" u="none">
                <a:solidFill>
                  <a:srgbClr val="FFFFFF"/>
                </a:solidFill>
                <a:latin typeface="Arial"/>
              </a:defRPr>
            </a:lvl1pPr>
          </a:lstStyle>
          <a:p>
            <a:r>
              <a:rPr lang="ar-EG" dirty="0"/>
              <a:t>الفهرسة وإعداد الفهارس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898648" y="3977639"/>
            <a:ext cx="6400800" cy="1920240"/>
          </a:xfrm>
          <a:prstGeom prst="roundRect">
            <a:avLst>
              <a:gd name="adj" fmla="val 6000"/>
            </a:avLst>
          </a:prstGeom>
          <a:solidFill>
            <a:srgbClr val="0A2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0" y="4160520"/>
            <a:ext cx="5797296" cy="1504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FFFFFF"/>
                </a:solidFill>
                <a:latin typeface="Arial"/>
              </a:rPr>
              <a:t>تعريف الفهرسة والفهرس ووظيفته</a:t>
            </a:r>
          </a:p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FFFFFF"/>
                </a:solidFill>
                <a:latin typeface="Arial"/>
              </a:rPr>
              <a:t>أنواع الفهارس وأشكالها الأربعة</a:t>
            </a:r>
          </a:p>
          <a:p>
            <a:pPr algn="r" rtl="1">
              <a:lnSpc>
                <a:spcPct val="130000"/>
              </a:lnSpc>
            </a:pPr>
            <a:r>
              <a:rPr lang="ar-EG" sz="2400" dirty="0">
                <a:solidFill>
                  <a:srgbClr val="FFFFFF"/>
                </a:solidFill>
                <a:latin typeface="Arial"/>
              </a:rPr>
              <a:t>عناصر الفهرس </a:t>
            </a:r>
            <a:r>
              <a:rPr lang="ar-EG" sz="2400" dirty="0" err="1">
                <a:solidFill>
                  <a:srgbClr val="FFFFFF"/>
                </a:solidFill>
                <a:latin typeface="Arial"/>
              </a:rPr>
              <a:t>المثالى</a:t>
            </a:r>
            <a:endParaRPr sz="240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تعريف</a:t>
            </a:r>
            <a:r>
              <a:rPr dirty="0"/>
              <a:t> </a:t>
            </a:r>
            <a:r>
              <a:rPr dirty="0" err="1"/>
              <a:t>الفهرسة</a:t>
            </a:r>
            <a:r>
              <a:rPr dirty="0"/>
              <a:t> </a:t>
            </a:r>
            <a:r>
              <a:rPr dirty="0" err="1"/>
              <a:t>والفهرس</a:t>
            </a:r>
            <a:r>
              <a:rPr dirty="0"/>
              <a:t> </a:t>
            </a:r>
            <a:r>
              <a:rPr dirty="0" err="1"/>
              <a:t>ووظيفة</a:t>
            </a:r>
            <a:r>
              <a:rPr dirty="0"/>
              <a:t> </a:t>
            </a:r>
            <a:r>
              <a:rPr dirty="0" err="1"/>
              <a:t>الفهرس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الفهرسة: عملية وصف مواد المعلومات وتمييزها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تعني استخراج البيانات الخاصة بكل مادة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الفهرس: ناتج عملية الفهرسة ذاتها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قائمة تحصر مواد المعلومات مرتبة بنظام معين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بدون الفهرس تصبح المحفوظات مخزناً معطلاً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وظيفته: الإجابة عن أسئلة المستفيدين المتكررة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51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1428DD-463D-8C3C-1DF0-E133F8CDBA7D}"/>
              </a:ext>
            </a:extLst>
          </p:cNvPr>
          <p:cNvGrpSpPr/>
          <p:nvPr/>
        </p:nvGrpSpPr>
        <p:grpSpPr>
          <a:xfrm>
            <a:off x="243840" y="3615509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EC71520C-B62A-136B-CBA0-E8528312C18A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856BFB5E-2E84-F307-68F9-6890286F9DCA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الفهرس والفهرسة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أنواع الفهارس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فهرس بالعنوان: مرتب هجائياً حسب عنوان المادة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يفيد من يعرف عنوان الملف دون موضوعه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الفهرس بالموضوع: مرتب حسب موضوعات المواد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يفيد من يعرف الموضوع دون العنوان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فهرس بجهة الإصدار: مرتب حسب الجهة المُصدرة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يفيد من يعرف جهة الإصدار دون العنوان أو الموضوع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52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263960-D265-B7AC-34DC-B46BB2CEAF20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DDB59286-052C-050A-3522-CCD992853843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9CB62A69-6030-B6D7-7D50-847281627260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أنواع الفهارس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أشكال الفهارس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الفهرس في شكل كتاب أو ما يسمى فهرس السجل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الفهرس البطاقي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الفهرس المحزوم (فهرس المسجلات الورقية)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فهرس الاتصال المباشر أو الفهرس الإلكتروني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53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0111E5E-485D-0110-0E50-272328ECBD30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19A84121-7731-E0D0-6471-CD8F171D2E1F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51D34505-BB1A-D0E1-62A6-234B0C92861D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أشكال الفهارس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الفهرس في شكل كتاب (السجل)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00" y="141732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465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1" u="sng">
                <a:solidFill>
                  <a:srgbClr val="002060"/>
                </a:solidFill>
                <a:latin typeface="Arial"/>
              </a:rPr>
              <a:t>المزايا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سهولة استخدامه من قبل القارئ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صغر حجمه فلا يشغل حيزاً كبيراً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سهولة حمله ونقله من مكان لآخر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سهولة إعداد نسخ منه عند الحاجة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1" u="sng">
                <a:solidFill>
                  <a:srgbClr val="002060"/>
                </a:solidFill>
                <a:latin typeface="Arial"/>
              </a:rPr>
              <a:t>العيوب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صعوبة التعديل والحذف والإضافة فيه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إعداد نسخ محدثة عملية مكلفة ومرهقة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يتلف بسرعة نتيجة كثرة الاستخدام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لا يناسب المحفوظات كبيرة الحجم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54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D87D348-74A2-2C2B-F866-FD3CEF302A98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ADCEDE02-17CA-0A3B-EF66-F7092888A556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75B5FD0F-0733-9D22-67C0-F85F705EF260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أنواع الفهارس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الفهرس البطاقي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00" y="141732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465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1" u="sng">
                <a:solidFill>
                  <a:srgbClr val="002060"/>
                </a:solidFill>
                <a:latin typeface="Arial"/>
              </a:rPr>
              <a:t>المزايا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مرونة فائقة في عمليتي الحذف والإضافة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سهولة إعداد نسخ منه وتعديل بياناته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لا يتلف بسرعة لأن التلف يمس البطاقة فقط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يستخدم بطاقات مقواة موحدة المقاس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1" u="sng">
                <a:solidFill>
                  <a:srgbClr val="002060"/>
                </a:solidFill>
                <a:latin typeface="Arial"/>
              </a:rPr>
              <a:t>العيوب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يشغل حيزاً كبيراً داخل إدارة المحفوظات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يصعب استخدامه من أكثر من مستفيد بالتوازي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لا يمكن استشارته من أي مكان سوى موقعه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قد يتعرض للنقص والارتباك عند سوء الاستخدام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55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B700442-D757-9ABA-18E5-51E1B270D571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BED919F2-7512-BC57-8E18-BC6B5C9D669E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E1FF4D91-5305-AD52-27E3-4AFE83FDB3B9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أنواع الفهارس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الفهرس</a:t>
            </a:r>
            <a:r>
              <a:rPr dirty="0"/>
              <a:t> </a:t>
            </a:r>
            <a:r>
              <a:rPr dirty="0" err="1"/>
              <a:t>المحزوم</a:t>
            </a:r>
            <a:r>
              <a:rPr dirty="0"/>
              <a:t> </a:t>
            </a:r>
            <a:r>
              <a:rPr dirty="0" err="1"/>
              <a:t>وفهرس</a:t>
            </a:r>
            <a:r>
              <a:rPr dirty="0"/>
              <a:t> </a:t>
            </a:r>
            <a:r>
              <a:rPr dirty="0" err="1"/>
              <a:t>الاتصال</a:t>
            </a:r>
            <a:r>
              <a:rPr dirty="0"/>
              <a:t> </a:t>
            </a:r>
            <a:r>
              <a:rPr dirty="0" err="1"/>
              <a:t>المباشر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172200" y="141732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465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1" u="sng">
                <a:solidFill>
                  <a:srgbClr val="002060"/>
                </a:solidFill>
                <a:latin typeface="Arial"/>
              </a:rPr>
              <a:t>فهرس الاتصال المباشر (الإلكتروني)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يعتمد على قاعدة بيانات محوسبة بالحاسب الآلي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سرعة فائقة في العرض والحصول على البيانات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سهولة تحديث البيانات بالإضافة والحذف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يحتاج تدريب المستخدمين وصيانة دورية للأجهزة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1" u="sng">
                <a:solidFill>
                  <a:srgbClr val="002060"/>
                </a:solidFill>
                <a:latin typeface="Arial"/>
              </a:rPr>
              <a:t>الفهرس المحزوم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شكل وسط بين فهرس الكتاب والفهرس البطاقي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بطاقات ورقية سميكة توضع مجلدة كالكراسة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مرونة جيدة في الحذف والإضافة والتحديث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يحتاج تجهيزات خشبية خاصة لحفظ المجلدات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56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54975D8-1A30-6F56-28E1-8720BD981C32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12" name="Shape 3">
              <a:extLst>
                <a:ext uri="{FF2B5EF4-FFF2-40B4-BE49-F238E27FC236}">
                  <a16:creationId xmlns:a16="http://schemas.microsoft.com/office/drawing/2014/main" id="{9A081A3B-6A62-1172-3AC4-123A543E902E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13" name="Text 4">
              <a:extLst>
                <a:ext uri="{FF2B5EF4-FFF2-40B4-BE49-F238E27FC236}">
                  <a16:creationId xmlns:a16="http://schemas.microsoft.com/office/drawing/2014/main" id="{AFC696D3-3BEC-7838-6AC0-E29CEC34B993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أنواع الفهارس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عناصر الفهرس المثالي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8463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25880" y="1645920"/>
            <a:ext cx="95399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المرونة التي تسمح بالإضافة والحذف بسهولة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السهولة والسرعة في الاستخدام والاستشارة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الاقتصاد سواء في الإعداد أو في الصيانة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سهولة إنتاج عدة نسخ منه عند الحاجة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سهولة تحريكه واستشارته داخل المكان وخارجه</a:t>
            </a:r>
          </a:p>
          <a:p>
            <a:pPr algn="r" rtl="1">
              <a:lnSpc>
                <a:spcPct val="135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صغر الحيز الذي يشغله الفهرس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57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4AA6B58-4A81-6818-B7BA-D032F39701CF}"/>
              </a:ext>
            </a:extLst>
          </p:cNvPr>
          <p:cNvGrpSpPr/>
          <p:nvPr/>
        </p:nvGrpSpPr>
        <p:grpSpPr>
          <a:xfrm>
            <a:off x="548640" y="640080"/>
            <a:ext cx="6156655" cy="640080"/>
            <a:chOff x="548640" y="640080"/>
            <a:chExt cx="6156655" cy="640080"/>
          </a:xfrm>
        </p:grpSpPr>
        <p:sp>
          <p:nvSpPr>
            <p:cNvPr id="8" name="Shape 3">
              <a:extLst>
                <a:ext uri="{FF2B5EF4-FFF2-40B4-BE49-F238E27FC236}">
                  <a16:creationId xmlns:a16="http://schemas.microsoft.com/office/drawing/2014/main" id="{852FF4BC-E3B7-1833-7F1E-6782BD448F0F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oundRect">
              <a:avLst>
                <a:gd name="adj" fmla="val 50000"/>
              </a:avLst>
            </a:prstGeom>
            <a:solidFill>
              <a:srgbClr val="154C79"/>
            </a:solidFill>
            <a:ln/>
          </p:spPr>
        </p:sp>
        <p:sp>
          <p:nvSpPr>
            <p:cNvPr id="9" name="Text 4">
              <a:extLst>
                <a:ext uri="{FF2B5EF4-FFF2-40B4-BE49-F238E27FC236}">
                  <a16:creationId xmlns:a16="http://schemas.microsoft.com/office/drawing/2014/main" id="{915B4938-AA94-2CBA-2800-00485A27F464}"/>
                </a:ext>
              </a:extLst>
            </p:cNvPr>
            <p:cNvSpPr/>
            <p:nvPr/>
          </p:nvSpPr>
          <p:spPr>
            <a:xfrm>
              <a:off x="548640" y="640080"/>
              <a:ext cx="6156655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 rtl="1">
                <a:buNone/>
              </a:pPr>
              <a:r>
                <a:rPr lang="ar-EG" sz="4200" b="1" dirty="0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الفهرس </a:t>
              </a:r>
              <a:r>
                <a:rPr lang="ar-EG" sz="4200" b="1" dirty="0" err="1">
                  <a:solidFill>
                    <a:srgbClr val="FFFFFF"/>
                  </a:solidFill>
                  <a:latin typeface="Cairo Black" panose="00000A00000000000000" pitchFamily="2" charset="-78"/>
                  <a:ea typeface="Arial" pitchFamily="34" charset="-122"/>
                  <a:cs typeface="Cairo Black" panose="00000A00000000000000" pitchFamily="2" charset="-78"/>
                </a:rPr>
                <a:t>المثالى</a:t>
              </a:r>
              <a:endParaRPr lang="en-US" sz="4200" dirty="0">
                <a:latin typeface="Cairo Black" panose="00000A00000000000000" pitchFamily="2" charset="-78"/>
                <a:cs typeface="Cairo Black" panose="00000A00000000000000" pitchFamily="2" charset="-78"/>
              </a:endParaRPr>
            </a:p>
          </p:txBody>
        </p:sp>
      </p:grp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16: </a:t>
            </a:r>
            <a:r>
              <a:rPr dirty="0" err="1"/>
              <a:t>بناء</a:t>
            </a:r>
            <a:r>
              <a:rPr dirty="0"/>
              <a:t> </a:t>
            </a:r>
            <a:r>
              <a:rPr dirty="0" err="1"/>
              <a:t>بطاقة</a:t>
            </a:r>
            <a:r>
              <a:rPr dirty="0"/>
              <a:t> </a:t>
            </a:r>
            <a:r>
              <a:rPr dirty="0" err="1"/>
              <a:t>فهرسة</a:t>
            </a:r>
            <a:r>
              <a:rPr dirty="0"/>
              <a:t> </a:t>
            </a:r>
            <a:r>
              <a:rPr dirty="0" err="1"/>
              <a:t>كاملة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ورشة عمل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تدريب المتدرب على إعداد بطاقة فهرسة مكتملة البيانات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توزيع نموذج وثيقة كاملة البيانات على كل فريق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إعداد بطاقة فهرسة بالمؤلف وبالعنوان وبالموضوع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التأكد من اكتمال رقم التصنيف والبيانات الوصفية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عرض النماذج ومقارنتها بالنموذج المرجعي الصحيح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نشاط</a:t>
            </a:r>
            <a:r>
              <a:rPr dirty="0"/>
              <a:t> </a:t>
            </a:r>
            <a:r>
              <a:rPr dirty="0" err="1"/>
              <a:t>تدريبي</a:t>
            </a:r>
            <a:r>
              <a:rPr dirty="0"/>
              <a:t> </a:t>
            </a:r>
            <a:r>
              <a:rPr dirty="0" err="1"/>
              <a:t>رقم</a:t>
            </a:r>
            <a:r>
              <a:rPr dirty="0"/>
              <a:t> 17: </a:t>
            </a:r>
            <a:r>
              <a:rPr dirty="0" err="1"/>
              <a:t>تقييم</a:t>
            </a:r>
            <a:r>
              <a:rPr dirty="0"/>
              <a:t> </a:t>
            </a:r>
            <a:r>
              <a:rPr dirty="0" err="1"/>
              <a:t>عناصر</a:t>
            </a:r>
            <a:r>
              <a:rPr dirty="0"/>
              <a:t> </a:t>
            </a:r>
            <a:r>
              <a:rPr dirty="0" err="1"/>
              <a:t>الفهرس</a:t>
            </a:r>
            <a:r>
              <a:rPr dirty="0"/>
              <a:t> </a:t>
            </a:r>
            <a:r>
              <a:rPr dirty="0" err="1"/>
              <a:t>المثالي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FC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600" b="1" u="none">
                <a:solidFill>
                  <a:srgbClr val="C00000"/>
                </a:solidFill>
                <a:latin typeface="Arial"/>
              </a:rPr>
              <a:t>الوقت: 10 دقائق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88552" y="1170432"/>
            <a:ext cx="2743200" cy="50292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988552" y="120700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1" u="none">
                <a:solidFill>
                  <a:srgbClr val="002060"/>
                </a:solidFill>
                <a:latin typeface="Arial"/>
              </a:rPr>
              <a:t>النوع: مناقشة جماعية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874519"/>
            <a:ext cx="10362895" cy="960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34440" y="1965960"/>
            <a:ext cx="972281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600" b="1" u="sng">
                <a:solidFill>
                  <a:srgbClr val="212121"/>
                </a:solidFill>
                <a:latin typeface="Arial"/>
              </a:rPr>
              <a:t>الهدف من النشاط: ترسيخ فهم عناصر الفهرس المثالي وتطبيقها عملياً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017520"/>
            <a:ext cx="10362895" cy="320040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34440" y="3154680"/>
            <a:ext cx="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3154680"/>
            <a:ext cx="97228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700" b="1" u="sng">
                <a:solidFill>
                  <a:srgbClr val="002060"/>
                </a:solidFill>
                <a:latin typeface="Arial"/>
              </a:rPr>
              <a:t>تعليمات وإجراءات التنفيذ: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566160"/>
            <a:ext cx="972281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عرض أشكال الفهارس الأربعة على المتدربين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تقييم كل شكل وفق عناصر الفهرس المثالي الستة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تحديد الشكل الأنسب لطبيعة عمل كل متدرب</a:t>
            </a:r>
          </a:p>
          <a:p>
            <a:pPr algn="r" rtl="1">
              <a:lnSpc>
                <a:spcPct val="135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مناقشة الاختيارات وتبريراتها بشكل جماعي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rPr dirty="0" err="1"/>
              <a:t>التقييم</a:t>
            </a:r>
            <a:r>
              <a:rPr dirty="0"/>
              <a:t> </a:t>
            </a:r>
            <a:r>
              <a:rPr dirty="0" err="1"/>
              <a:t>النهائي</a:t>
            </a:r>
            <a:r>
              <a:rPr dirty="0"/>
              <a:t> </a:t>
            </a:r>
            <a:r>
              <a:rPr dirty="0" err="1"/>
              <a:t>والتأمل</a:t>
            </a:r>
            <a:r>
              <a:rPr dirty="0"/>
              <a:t> </a:t>
            </a:r>
            <a:r>
              <a:rPr dirty="0" err="1"/>
              <a:t>الذاتي</a:t>
            </a:r>
            <a:r>
              <a:rPr dirty="0"/>
              <a:t> (</a:t>
            </a:r>
            <a:r>
              <a:rPr dirty="0" err="1"/>
              <a:t>نشاط</a:t>
            </a:r>
            <a:r>
              <a:rPr dirty="0"/>
              <a:t> 19)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172200" y="141732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465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1" u="sng">
                <a:solidFill>
                  <a:srgbClr val="002060"/>
                </a:solidFill>
                <a:latin typeface="Arial"/>
              </a:rPr>
              <a:t>الاختبار النهائي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465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اختبار موضوعي يغطي محاور البرنامج الأربعة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الدرجة الكلية تُحدد وفق النظام المعتمد بالشركة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الوقت المخصص للاختبار: 20 دقيقة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يُوزّع فور انتهاء الجلسات التدريبية مباشرة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16459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800" b="1" u="sng">
                <a:solidFill>
                  <a:srgbClr val="002060"/>
                </a:solidFill>
                <a:latin typeface="Arial"/>
              </a:rPr>
              <a:t>التأمل الذاتي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ما أهم ما استفدت منه خلال هذا البرنامج؟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أي محور من المحاور أحتاج مراجعته أكثر؟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كيف سأطبق ما تعلمته في مهام عملي اليومي؟</a:t>
            </a:r>
          </a:p>
          <a:p>
            <a:pPr algn="r" rtl="1">
              <a:lnSpc>
                <a:spcPct val="130000"/>
              </a:lnSpc>
            </a:pPr>
            <a:r>
              <a:rPr sz="1600" b="0" u="none">
                <a:solidFill>
                  <a:srgbClr val="212121"/>
                </a:solidFill>
                <a:latin typeface="Arial"/>
              </a:rPr>
              <a:t>•  ما اقتراحاتي لتطوير البرنامج مستقبلاً؟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2004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r" rtl="1">
              <a:lnSpc>
                <a:spcPct val="125000"/>
              </a:lnSpc>
              <a:defRPr sz="3000" b="1" u="none">
                <a:solidFill>
                  <a:srgbClr val="002060"/>
                </a:solidFill>
                <a:latin typeface="Arial"/>
                <a:cs typeface="+mj-cs"/>
              </a:defRPr>
            </a:lvl1pPr>
          </a:lstStyle>
          <a:p>
            <a:r>
              <a:t>الختام والتقييم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6949440" cy="42062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63093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40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شكراً لحسن تفاعلكم وحضوركم المثمر معنا</a:t>
            </a:r>
          </a:p>
          <a:p>
            <a:pPr algn="r" rtl="1">
              <a:lnSpc>
                <a:spcPct val="140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نتمنى لكم تحقيق أقصى استفادة من البرنامج</a:t>
            </a:r>
          </a:p>
          <a:p>
            <a:pPr algn="r" rtl="1">
              <a:lnSpc>
                <a:spcPct val="140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المجال مفتوح الآن لأسئلتكم واستفساراتكم</a:t>
            </a:r>
          </a:p>
          <a:p>
            <a:pPr algn="r" rtl="1">
              <a:lnSpc>
                <a:spcPct val="140000"/>
              </a:lnSpc>
            </a:pPr>
            <a:r>
              <a:rPr sz="2000" b="0" u="none">
                <a:solidFill>
                  <a:srgbClr val="212121"/>
                </a:solidFill>
                <a:latin typeface="Arial"/>
              </a:rPr>
              <a:t>•  نرحب بملاحظاتكم لتطوير البرنامج مستقبلاً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63040"/>
            <a:ext cx="3108960" cy="4206240"/>
          </a:xfrm>
          <a:prstGeom prst="roundRect">
            <a:avLst>
              <a:gd name="adj" fmla="val 6000"/>
            </a:avLst>
          </a:prstGeom>
          <a:solidFill>
            <a:srgbClr val="EB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321040" y="1691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400" b="1" u="none">
                <a:solidFill>
                  <a:srgbClr val="002060"/>
                </a:solidFill>
                <a:latin typeface="Arial"/>
              </a:rPr>
              <a:t>للاقتراحات والشكاوى:</a:t>
            </a:r>
          </a:p>
          <a:p>
            <a:pPr algn="ctr" rtl="1">
              <a:lnSpc>
                <a:spcPct val="120000"/>
              </a:lnSpc>
            </a:pPr>
            <a:r>
              <a:rPr sz="1400" b="1" u="none">
                <a:solidFill>
                  <a:srgbClr val="002060"/>
                </a:solidFill>
                <a:latin typeface="Arial"/>
              </a:rPr>
              <a:t>امسح الكود لتقييم البرنامج</a:t>
            </a:r>
          </a:p>
        </p:txBody>
      </p:sp>
      <p:sp>
        <p:nvSpPr>
          <p:cNvPr id="7" name="Rectangle 6"/>
          <p:cNvSpPr/>
          <p:nvPr/>
        </p:nvSpPr>
        <p:spPr>
          <a:xfrm>
            <a:off x="8732520" y="2651760"/>
            <a:ext cx="1920240" cy="19202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20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002060"/>
                </a:solidFill>
              </a:rPr>
              <a:t>[ QR Code ]
تقييم البرنامج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منظومة حفظ وتنظيم الوثائق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73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00" b="0" u="none">
                <a:solidFill>
                  <a:srgbClr val="9A9A9A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Cairo Black"/>
        <a:ea typeface=""/>
        <a:cs typeface="Cairo Black"/>
      </a:majorFont>
      <a:minorFont>
        <a:latin typeface="Tajawal Medium"/>
        <a:ea typeface=""/>
        <a:cs typeface="Tajawal Medium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605</TotalTime>
  <Words>3973</Words>
  <Application>Microsoft Office PowerPoint</Application>
  <PresentationFormat>Widescreen</PresentationFormat>
  <Paragraphs>764</Paragraphs>
  <Slides>71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7" baseType="lpstr">
      <vt:lpstr>-apple-system</vt:lpstr>
      <vt:lpstr>Arial</vt:lpstr>
      <vt:lpstr>Cairo Black</vt:lpstr>
      <vt:lpstr>Cairo Black (Headings)</vt:lpstr>
      <vt:lpstr>Tajawal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Amer Hendy</cp:lastModifiedBy>
  <cp:revision>6</cp:revision>
  <dcterms:created xsi:type="dcterms:W3CDTF">2013-01-27T09:14:16Z</dcterms:created>
  <dcterms:modified xsi:type="dcterms:W3CDTF">2026-09-25T21:12:17Z</dcterms:modified>
  <cp:category/>
</cp:coreProperties>
</file>